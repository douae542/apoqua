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3.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4.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 id="2147483687" r:id="rId6"/>
    <p:sldMasterId id="2147483713" r:id="rId7"/>
  </p:sldMasterIdLst>
  <p:notesMasterIdLst>
    <p:notesMasterId r:id="rId29"/>
  </p:notesMasterIdLst>
  <p:sldIdLst>
    <p:sldId id="1045" r:id="rId8"/>
    <p:sldId id="257" r:id="rId9"/>
    <p:sldId id="258" r:id="rId10"/>
    <p:sldId id="259" r:id="rId11"/>
    <p:sldId id="260" r:id="rId12"/>
    <p:sldId id="261" r:id="rId13"/>
    <p:sldId id="262" r:id="rId14"/>
    <p:sldId id="264" r:id="rId15"/>
    <p:sldId id="263" r:id="rId16"/>
    <p:sldId id="265" r:id="rId17"/>
    <p:sldId id="256" r:id="rId18"/>
    <p:sldId id="266" r:id="rId19"/>
    <p:sldId id="268" r:id="rId20"/>
    <p:sldId id="267" r:id="rId21"/>
    <p:sldId id="269" r:id="rId22"/>
    <p:sldId id="270" r:id="rId23"/>
    <p:sldId id="271" r:id="rId24"/>
    <p:sldId id="272" r:id="rId25"/>
    <p:sldId id="274" r:id="rId26"/>
    <p:sldId id="273" r:id="rId27"/>
    <p:sldId id="276" r:id="rId2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presProps" Target="presProps.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76B7E7-C822-4ACD-8CBB-DC0C0722FA02}" type="datetimeFigureOut">
              <a:rPr lang="fr-FR" smtClean="0"/>
              <a:t>28/04/2026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2B53FB-BBE0-4CD8-AED3-71AFF8B39ADB}" type="slidenum">
              <a:rPr lang="fr-FR" smtClean="0"/>
              <a:t>‹#›</a:t>
            </a:fld>
            <a:endParaRPr lang="fr-FR"/>
          </a:p>
        </p:txBody>
      </p:sp>
    </p:spTree>
    <p:extLst>
      <p:ext uri="{BB962C8B-B14F-4D97-AF65-F5344CB8AC3E}">
        <p14:creationId xmlns:p14="http://schemas.microsoft.com/office/powerpoint/2010/main" val="2473854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xml"/><Relationship Id="rId4" Type="http://schemas.openxmlformats.org/officeDocument/2006/relationships/image" Target="../media/image2.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xml"/><Relationship Id="rId4" Type="http://schemas.openxmlformats.org/officeDocument/2006/relationships/image" Target="../media/image2.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xml"/><Relationship Id="rId4" Type="http://schemas.openxmlformats.org/officeDocument/2006/relationships/image" Target="../media/image2.emf"/></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4.png"/><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10.png"/><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8.png"/></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hyperlink" Target="http://www.youtube.com/capgeminimedia" TargetMode="External"/><Relationship Id="rId3" Type="http://schemas.openxmlformats.org/officeDocument/2006/relationships/tags" Target="../tags/tag7.xml"/><Relationship Id="rId7" Type="http://schemas.openxmlformats.org/officeDocument/2006/relationships/hyperlink" Target="http://www.linkedin.com/company/capgemini" TargetMode="External"/><Relationship Id="rId12" Type="http://schemas.openxmlformats.org/officeDocument/2006/relationships/image" Target="../media/image7.png"/><Relationship Id="rId17" Type="http://schemas.openxmlformats.org/officeDocument/2006/relationships/image" Target="../media/image4.png"/><Relationship Id="rId2" Type="http://schemas.openxmlformats.org/officeDocument/2006/relationships/tags" Target="../tags/tag6.xml"/><Relationship Id="rId16" Type="http://schemas.openxmlformats.org/officeDocument/2006/relationships/image" Target="../media/image9.png"/><Relationship Id="rId1" Type="http://schemas.openxmlformats.org/officeDocument/2006/relationships/tags" Target="../tags/tag5.xml"/><Relationship Id="rId6" Type="http://schemas.openxmlformats.org/officeDocument/2006/relationships/image" Target="../media/image11.png"/><Relationship Id="rId11" Type="http://schemas.openxmlformats.org/officeDocument/2006/relationships/hyperlink" Target="http://www.twitter.com/capgemini" TargetMode="External"/><Relationship Id="rId5" Type="http://schemas.openxmlformats.org/officeDocument/2006/relationships/slideMaster" Target="../slideMasters/slideMaster2.xml"/><Relationship Id="rId15" Type="http://schemas.openxmlformats.org/officeDocument/2006/relationships/hyperlink" Target="http://www.facebook.com/capgemini" TargetMode="External"/><Relationship Id="rId10" Type="http://schemas.openxmlformats.org/officeDocument/2006/relationships/image" Target="../media/image6.png"/><Relationship Id="rId4" Type="http://schemas.openxmlformats.org/officeDocument/2006/relationships/tags" Target="../tags/tag8.xml"/><Relationship Id="rId9" Type="http://schemas.openxmlformats.org/officeDocument/2006/relationships/hyperlink" Target="http://www.slideshare.net/capgemini" TargetMode="External"/><Relationship Id="rId14" Type="http://schemas.openxmlformats.org/officeDocument/2006/relationships/image" Target="../media/image8.png"/></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0.xml"/><Relationship Id="rId4" Type="http://schemas.openxmlformats.org/officeDocument/2006/relationships/image" Target="../media/image2.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1.xml"/><Relationship Id="rId4" Type="http://schemas.openxmlformats.org/officeDocument/2006/relationships/image" Target="../media/image2.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2.xml"/><Relationship Id="rId4" Type="http://schemas.openxmlformats.org/officeDocument/2006/relationships/image" Target="../media/image2.emf"/></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4.png"/><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10.png"/><Relationship Id="rId2" Type="http://schemas.openxmlformats.org/officeDocument/2006/relationships/hyperlink" Target="http://www.linkedin.com/company/capgemini" TargetMode="External"/><Relationship Id="rId1" Type="http://schemas.openxmlformats.org/officeDocument/2006/relationships/slideMaster" Target="../slideMasters/slideMaster3.xml"/><Relationship Id="rId6" Type="http://schemas.openxmlformats.org/officeDocument/2006/relationships/hyperlink" Target="http://www.twitter.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8.png"/></Relationships>
</file>

<file path=ppt/slideLayouts/_rels/slideLayout59.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hyperlink" Target="http://www.youtube.com/capgeminimedia" TargetMode="External"/><Relationship Id="rId3" Type="http://schemas.openxmlformats.org/officeDocument/2006/relationships/tags" Target="../tags/tag15.xml"/><Relationship Id="rId7" Type="http://schemas.openxmlformats.org/officeDocument/2006/relationships/hyperlink" Target="http://www.linkedin.com/company/capgemini" TargetMode="External"/><Relationship Id="rId12" Type="http://schemas.openxmlformats.org/officeDocument/2006/relationships/image" Target="../media/image7.png"/><Relationship Id="rId17" Type="http://schemas.openxmlformats.org/officeDocument/2006/relationships/image" Target="../media/image4.png"/><Relationship Id="rId2" Type="http://schemas.openxmlformats.org/officeDocument/2006/relationships/tags" Target="../tags/tag14.xml"/><Relationship Id="rId16" Type="http://schemas.openxmlformats.org/officeDocument/2006/relationships/image" Target="../media/image9.png"/><Relationship Id="rId1" Type="http://schemas.openxmlformats.org/officeDocument/2006/relationships/tags" Target="../tags/tag13.xml"/><Relationship Id="rId6" Type="http://schemas.openxmlformats.org/officeDocument/2006/relationships/image" Target="../media/image11.png"/><Relationship Id="rId11" Type="http://schemas.openxmlformats.org/officeDocument/2006/relationships/hyperlink" Target="http://www.twitter.com/capgemini" TargetMode="External"/><Relationship Id="rId5" Type="http://schemas.openxmlformats.org/officeDocument/2006/relationships/slideMaster" Target="../slideMasters/slideMaster3.xml"/><Relationship Id="rId15" Type="http://schemas.openxmlformats.org/officeDocument/2006/relationships/hyperlink" Target="http://www.facebook.com/capgemini" TargetMode="External"/><Relationship Id="rId10" Type="http://schemas.openxmlformats.org/officeDocument/2006/relationships/image" Target="../media/image6.png"/><Relationship Id="rId4" Type="http://schemas.openxmlformats.org/officeDocument/2006/relationships/tags" Target="../tags/tag16.xml"/><Relationship Id="rId9" Type="http://schemas.openxmlformats.org/officeDocument/2006/relationships/hyperlink" Target="http://www.slideshare.net/capgemini" TargetMode="External"/><Relationship Id="rId14" Type="http://schemas.openxmlformats.org/officeDocument/2006/relationships/image" Target="../media/image8.png"/></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18.xml"/><Relationship Id="rId4" Type="http://schemas.openxmlformats.org/officeDocument/2006/relationships/image" Target="../media/image2.emf"/></Relationships>
</file>

<file path=ppt/slideLayouts/_rels/slideLayout7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19.xml"/><Relationship Id="rId4" Type="http://schemas.openxmlformats.org/officeDocument/2006/relationships/image" Target="../media/image2.emf"/></Relationships>
</file>

<file path=ppt/slideLayouts/_rels/slideLayout7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20.xml"/><Relationship Id="rId4" Type="http://schemas.openxmlformats.org/officeDocument/2006/relationships/image" Target="../media/image2.emf"/></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4.png"/><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10.png"/><Relationship Id="rId2" Type="http://schemas.openxmlformats.org/officeDocument/2006/relationships/hyperlink" Target="http://www.linkedin.com/company/capgemini" TargetMode="External"/><Relationship Id="rId1" Type="http://schemas.openxmlformats.org/officeDocument/2006/relationships/slideMaster" Target="../slideMasters/slideMaster4.xml"/><Relationship Id="rId6" Type="http://schemas.openxmlformats.org/officeDocument/2006/relationships/hyperlink" Target="http://www.twitter.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8.png"/></Relationships>
</file>

<file path=ppt/slideLayouts/_rels/slideLayout8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hyperlink" Target="http://www.youtube.com/capgeminimedia" TargetMode="External"/><Relationship Id="rId3" Type="http://schemas.openxmlformats.org/officeDocument/2006/relationships/tags" Target="../tags/tag23.xml"/><Relationship Id="rId7" Type="http://schemas.openxmlformats.org/officeDocument/2006/relationships/hyperlink" Target="http://www.linkedin.com/company/capgemini" TargetMode="External"/><Relationship Id="rId12" Type="http://schemas.openxmlformats.org/officeDocument/2006/relationships/image" Target="../media/image7.png"/><Relationship Id="rId17" Type="http://schemas.openxmlformats.org/officeDocument/2006/relationships/image" Target="../media/image4.png"/><Relationship Id="rId2" Type="http://schemas.openxmlformats.org/officeDocument/2006/relationships/tags" Target="../tags/tag22.xml"/><Relationship Id="rId16" Type="http://schemas.openxmlformats.org/officeDocument/2006/relationships/image" Target="../media/image9.png"/><Relationship Id="rId1" Type="http://schemas.openxmlformats.org/officeDocument/2006/relationships/tags" Target="../tags/tag21.xml"/><Relationship Id="rId6" Type="http://schemas.openxmlformats.org/officeDocument/2006/relationships/image" Target="../media/image11.png"/><Relationship Id="rId11" Type="http://schemas.openxmlformats.org/officeDocument/2006/relationships/hyperlink" Target="http://www.twitter.com/capgemini" TargetMode="External"/><Relationship Id="rId5" Type="http://schemas.openxmlformats.org/officeDocument/2006/relationships/slideMaster" Target="../slideMasters/slideMaster4.xml"/><Relationship Id="rId15" Type="http://schemas.openxmlformats.org/officeDocument/2006/relationships/hyperlink" Target="http://www.facebook.com/capgemini" TargetMode="External"/><Relationship Id="rId10" Type="http://schemas.openxmlformats.org/officeDocument/2006/relationships/image" Target="../media/image6.png"/><Relationship Id="rId4" Type="http://schemas.openxmlformats.org/officeDocument/2006/relationships/tags" Target="../tags/tag24.xml"/><Relationship Id="rId9" Type="http://schemas.openxmlformats.org/officeDocument/2006/relationships/hyperlink" Target="http://www.slideshare.net/capgemini" TargetMode="External"/><Relationship Id="rId14" Type="http://schemas.openxmlformats.org/officeDocument/2006/relationships/image" Target="../media/image8.png"/></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endParaRPr lang="fr-FR"/>
          </a:p>
        </p:txBody>
      </p:sp>
      <p:sp>
        <p:nvSpPr>
          <p:cNvPr id="5" name="Espace réservé du pied de page 4"/>
          <p:cNvSpPr>
            <a:spLocks noGrp="1"/>
          </p:cNvSpPr>
          <p:nvPr>
            <p:ph type="ftr" sz="quarter" idx="11"/>
          </p:nvPr>
        </p:nvSpPr>
        <p:spPr/>
        <p:txBody>
          <a:bodyPr/>
          <a:lstStyle/>
          <a:p>
            <a:r>
              <a:rPr lang="fr-FR"/>
              <a:t>hhh</a:t>
            </a:r>
          </a:p>
        </p:txBody>
      </p:sp>
      <p:sp>
        <p:nvSpPr>
          <p:cNvPr id="6" name="Espace réservé du numéro de diapositive 5"/>
          <p:cNvSpPr>
            <a:spLocks noGrp="1"/>
          </p:cNvSpPr>
          <p:nvPr>
            <p:ph type="sldNum" sz="quarter" idx="12"/>
          </p:nvPr>
        </p:nvSpPr>
        <p:spPr/>
        <p:txBody>
          <a:bodyPr/>
          <a:lstStyle/>
          <a:p>
            <a:fld id="{8804BB38-747B-4994-9B8D-B168AF305C05}" type="slidenum">
              <a:rPr lang="fr-FR" smtClean="0"/>
              <a:t>‹#›</a:t>
            </a:fld>
            <a:endParaRPr lang="fr-FR"/>
          </a:p>
        </p:txBody>
      </p:sp>
    </p:spTree>
    <p:extLst>
      <p:ext uri="{BB962C8B-B14F-4D97-AF65-F5344CB8AC3E}">
        <p14:creationId xmlns:p14="http://schemas.microsoft.com/office/powerpoint/2010/main" val="503241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endParaRPr lang="fr-FR"/>
          </a:p>
        </p:txBody>
      </p:sp>
      <p:sp>
        <p:nvSpPr>
          <p:cNvPr id="5" name="Espace réservé du pied de page 4"/>
          <p:cNvSpPr>
            <a:spLocks noGrp="1"/>
          </p:cNvSpPr>
          <p:nvPr>
            <p:ph type="ftr" sz="quarter" idx="11"/>
          </p:nvPr>
        </p:nvSpPr>
        <p:spPr/>
        <p:txBody>
          <a:bodyPr/>
          <a:lstStyle/>
          <a:p>
            <a:r>
              <a:rPr lang="fr-FR"/>
              <a:t>hhh</a:t>
            </a:r>
          </a:p>
        </p:txBody>
      </p:sp>
      <p:sp>
        <p:nvSpPr>
          <p:cNvPr id="6" name="Espace réservé du numéro de diapositive 5"/>
          <p:cNvSpPr>
            <a:spLocks noGrp="1"/>
          </p:cNvSpPr>
          <p:nvPr>
            <p:ph type="sldNum" sz="quarter" idx="12"/>
          </p:nvPr>
        </p:nvSpPr>
        <p:spPr/>
        <p:txBody>
          <a:bodyPr/>
          <a:lstStyle/>
          <a:p>
            <a:fld id="{8804BB38-747B-4994-9B8D-B168AF305C05}" type="slidenum">
              <a:rPr lang="fr-FR" smtClean="0"/>
              <a:t>‹#›</a:t>
            </a:fld>
            <a:endParaRPr lang="fr-FR"/>
          </a:p>
        </p:txBody>
      </p:sp>
    </p:spTree>
    <p:extLst>
      <p:ext uri="{BB962C8B-B14F-4D97-AF65-F5344CB8AC3E}">
        <p14:creationId xmlns:p14="http://schemas.microsoft.com/office/powerpoint/2010/main" val="3069122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endParaRPr lang="fr-FR"/>
          </a:p>
        </p:txBody>
      </p:sp>
      <p:sp>
        <p:nvSpPr>
          <p:cNvPr id="5" name="Espace réservé du pied de page 4"/>
          <p:cNvSpPr>
            <a:spLocks noGrp="1"/>
          </p:cNvSpPr>
          <p:nvPr>
            <p:ph type="ftr" sz="quarter" idx="11"/>
          </p:nvPr>
        </p:nvSpPr>
        <p:spPr/>
        <p:txBody>
          <a:bodyPr/>
          <a:lstStyle/>
          <a:p>
            <a:r>
              <a:rPr lang="fr-FR"/>
              <a:t>hhh</a:t>
            </a:r>
          </a:p>
        </p:txBody>
      </p:sp>
      <p:sp>
        <p:nvSpPr>
          <p:cNvPr id="6" name="Espace réservé du numéro de diapositive 5"/>
          <p:cNvSpPr>
            <a:spLocks noGrp="1"/>
          </p:cNvSpPr>
          <p:nvPr>
            <p:ph type="sldNum" sz="quarter" idx="12"/>
          </p:nvPr>
        </p:nvSpPr>
        <p:spPr/>
        <p:txBody>
          <a:bodyPr/>
          <a:lstStyle/>
          <a:p>
            <a:fld id="{8804BB38-747B-4994-9B8D-B168AF305C05}" type="slidenum">
              <a:rPr lang="fr-FR" smtClean="0"/>
              <a:t>‹#›</a:t>
            </a:fld>
            <a:endParaRPr lang="fr-FR"/>
          </a:p>
        </p:txBody>
      </p:sp>
    </p:spTree>
    <p:extLst>
      <p:ext uri="{BB962C8B-B14F-4D97-AF65-F5344CB8AC3E}">
        <p14:creationId xmlns:p14="http://schemas.microsoft.com/office/powerpoint/2010/main" val="1579011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endParaRPr lang="fr-FR"/>
          </a:p>
        </p:txBody>
      </p:sp>
      <p:sp>
        <p:nvSpPr>
          <p:cNvPr id="6" name="Espace réservé du pied de page 5"/>
          <p:cNvSpPr>
            <a:spLocks noGrp="1"/>
          </p:cNvSpPr>
          <p:nvPr>
            <p:ph type="ftr" sz="quarter" idx="11"/>
          </p:nvPr>
        </p:nvSpPr>
        <p:spPr/>
        <p:txBody>
          <a:bodyPr/>
          <a:lstStyle/>
          <a:p>
            <a:r>
              <a:rPr lang="fr-FR"/>
              <a:t>hhh</a:t>
            </a:r>
          </a:p>
        </p:txBody>
      </p:sp>
      <p:sp>
        <p:nvSpPr>
          <p:cNvPr id="7" name="Espace réservé du numéro de diapositive 6"/>
          <p:cNvSpPr>
            <a:spLocks noGrp="1"/>
          </p:cNvSpPr>
          <p:nvPr>
            <p:ph type="sldNum" sz="quarter" idx="12"/>
          </p:nvPr>
        </p:nvSpPr>
        <p:spPr/>
        <p:txBody>
          <a:bodyPr/>
          <a:lstStyle/>
          <a:p>
            <a:fld id="{8804BB38-747B-4994-9B8D-B168AF305C05}" type="slidenum">
              <a:rPr lang="fr-FR" smtClean="0"/>
              <a:t>‹#›</a:t>
            </a:fld>
            <a:endParaRPr lang="fr-FR"/>
          </a:p>
        </p:txBody>
      </p:sp>
    </p:spTree>
    <p:extLst>
      <p:ext uri="{BB962C8B-B14F-4D97-AF65-F5344CB8AC3E}">
        <p14:creationId xmlns:p14="http://schemas.microsoft.com/office/powerpoint/2010/main" val="3407170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endParaRPr lang="fr-FR"/>
          </a:p>
        </p:txBody>
      </p:sp>
      <p:sp>
        <p:nvSpPr>
          <p:cNvPr id="8" name="Espace réservé du pied de page 7"/>
          <p:cNvSpPr>
            <a:spLocks noGrp="1"/>
          </p:cNvSpPr>
          <p:nvPr>
            <p:ph type="ftr" sz="quarter" idx="11"/>
          </p:nvPr>
        </p:nvSpPr>
        <p:spPr/>
        <p:txBody>
          <a:bodyPr/>
          <a:lstStyle/>
          <a:p>
            <a:r>
              <a:rPr lang="fr-FR"/>
              <a:t>hhh</a:t>
            </a:r>
          </a:p>
        </p:txBody>
      </p:sp>
      <p:sp>
        <p:nvSpPr>
          <p:cNvPr id="9" name="Espace réservé du numéro de diapositive 8"/>
          <p:cNvSpPr>
            <a:spLocks noGrp="1"/>
          </p:cNvSpPr>
          <p:nvPr>
            <p:ph type="sldNum" sz="quarter" idx="12"/>
          </p:nvPr>
        </p:nvSpPr>
        <p:spPr/>
        <p:txBody>
          <a:bodyPr/>
          <a:lstStyle/>
          <a:p>
            <a:fld id="{8804BB38-747B-4994-9B8D-B168AF305C05}" type="slidenum">
              <a:rPr lang="fr-FR" smtClean="0"/>
              <a:t>‹#›</a:t>
            </a:fld>
            <a:endParaRPr lang="fr-FR"/>
          </a:p>
        </p:txBody>
      </p:sp>
    </p:spTree>
    <p:extLst>
      <p:ext uri="{BB962C8B-B14F-4D97-AF65-F5344CB8AC3E}">
        <p14:creationId xmlns:p14="http://schemas.microsoft.com/office/powerpoint/2010/main" val="175936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endParaRPr lang="fr-FR"/>
          </a:p>
        </p:txBody>
      </p:sp>
      <p:sp>
        <p:nvSpPr>
          <p:cNvPr id="4" name="Espace réservé du pied de page 3"/>
          <p:cNvSpPr>
            <a:spLocks noGrp="1"/>
          </p:cNvSpPr>
          <p:nvPr>
            <p:ph type="ftr" sz="quarter" idx="11"/>
          </p:nvPr>
        </p:nvSpPr>
        <p:spPr/>
        <p:txBody>
          <a:bodyPr/>
          <a:lstStyle/>
          <a:p>
            <a:r>
              <a:rPr lang="fr-FR"/>
              <a:t>hhh</a:t>
            </a:r>
          </a:p>
        </p:txBody>
      </p:sp>
      <p:sp>
        <p:nvSpPr>
          <p:cNvPr id="5" name="Espace réservé du numéro de diapositive 4"/>
          <p:cNvSpPr>
            <a:spLocks noGrp="1"/>
          </p:cNvSpPr>
          <p:nvPr>
            <p:ph type="sldNum" sz="quarter" idx="12"/>
          </p:nvPr>
        </p:nvSpPr>
        <p:spPr/>
        <p:txBody>
          <a:bodyPr/>
          <a:lstStyle/>
          <a:p>
            <a:fld id="{8804BB38-747B-4994-9B8D-B168AF305C05}" type="slidenum">
              <a:rPr lang="fr-FR" smtClean="0"/>
              <a:t>‹#›</a:t>
            </a:fld>
            <a:endParaRPr lang="fr-FR"/>
          </a:p>
        </p:txBody>
      </p:sp>
    </p:spTree>
    <p:extLst>
      <p:ext uri="{BB962C8B-B14F-4D97-AF65-F5344CB8AC3E}">
        <p14:creationId xmlns:p14="http://schemas.microsoft.com/office/powerpoint/2010/main" val="1424345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endParaRPr lang="fr-FR"/>
          </a:p>
        </p:txBody>
      </p:sp>
      <p:sp>
        <p:nvSpPr>
          <p:cNvPr id="3" name="Espace réservé du pied de page 2"/>
          <p:cNvSpPr>
            <a:spLocks noGrp="1"/>
          </p:cNvSpPr>
          <p:nvPr>
            <p:ph type="ftr" sz="quarter" idx="11"/>
          </p:nvPr>
        </p:nvSpPr>
        <p:spPr/>
        <p:txBody>
          <a:bodyPr/>
          <a:lstStyle/>
          <a:p>
            <a:r>
              <a:rPr lang="fr-FR"/>
              <a:t>hhh</a:t>
            </a:r>
          </a:p>
        </p:txBody>
      </p:sp>
      <p:sp>
        <p:nvSpPr>
          <p:cNvPr id="4" name="Espace réservé du numéro de diapositive 3"/>
          <p:cNvSpPr>
            <a:spLocks noGrp="1"/>
          </p:cNvSpPr>
          <p:nvPr>
            <p:ph type="sldNum" sz="quarter" idx="12"/>
          </p:nvPr>
        </p:nvSpPr>
        <p:spPr/>
        <p:txBody>
          <a:bodyPr/>
          <a:lstStyle/>
          <a:p>
            <a:fld id="{8804BB38-747B-4994-9B8D-B168AF305C05}" type="slidenum">
              <a:rPr lang="fr-FR" smtClean="0"/>
              <a:t>‹#›</a:t>
            </a:fld>
            <a:endParaRPr lang="fr-FR"/>
          </a:p>
        </p:txBody>
      </p:sp>
    </p:spTree>
    <p:extLst>
      <p:ext uri="{BB962C8B-B14F-4D97-AF65-F5344CB8AC3E}">
        <p14:creationId xmlns:p14="http://schemas.microsoft.com/office/powerpoint/2010/main" val="588329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endParaRPr lang="fr-FR"/>
          </a:p>
        </p:txBody>
      </p:sp>
      <p:sp>
        <p:nvSpPr>
          <p:cNvPr id="6" name="Espace réservé du pied de page 5"/>
          <p:cNvSpPr>
            <a:spLocks noGrp="1"/>
          </p:cNvSpPr>
          <p:nvPr>
            <p:ph type="ftr" sz="quarter" idx="11"/>
          </p:nvPr>
        </p:nvSpPr>
        <p:spPr/>
        <p:txBody>
          <a:bodyPr/>
          <a:lstStyle/>
          <a:p>
            <a:r>
              <a:rPr lang="fr-FR"/>
              <a:t>hhh</a:t>
            </a:r>
          </a:p>
        </p:txBody>
      </p:sp>
      <p:sp>
        <p:nvSpPr>
          <p:cNvPr id="7" name="Espace réservé du numéro de diapositive 6"/>
          <p:cNvSpPr>
            <a:spLocks noGrp="1"/>
          </p:cNvSpPr>
          <p:nvPr>
            <p:ph type="sldNum" sz="quarter" idx="12"/>
          </p:nvPr>
        </p:nvSpPr>
        <p:spPr/>
        <p:txBody>
          <a:bodyPr/>
          <a:lstStyle/>
          <a:p>
            <a:fld id="{8804BB38-747B-4994-9B8D-B168AF305C05}" type="slidenum">
              <a:rPr lang="fr-FR" smtClean="0"/>
              <a:t>‹#›</a:t>
            </a:fld>
            <a:endParaRPr lang="fr-FR"/>
          </a:p>
        </p:txBody>
      </p:sp>
    </p:spTree>
    <p:extLst>
      <p:ext uri="{BB962C8B-B14F-4D97-AF65-F5344CB8AC3E}">
        <p14:creationId xmlns:p14="http://schemas.microsoft.com/office/powerpoint/2010/main" val="1372346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endParaRPr lang="fr-FR"/>
          </a:p>
        </p:txBody>
      </p:sp>
      <p:sp>
        <p:nvSpPr>
          <p:cNvPr id="6" name="Espace réservé du pied de page 5"/>
          <p:cNvSpPr>
            <a:spLocks noGrp="1"/>
          </p:cNvSpPr>
          <p:nvPr>
            <p:ph type="ftr" sz="quarter" idx="11"/>
          </p:nvPr>
        </p:nvSpPr>
        <p:spPr/>
        <p:txBody>
          <a:bodyPr/>
          <a:lstStyle/>
          <a:p>
            <a:r>
              <a:rPr lang="fr-FR"/>
              <a:t>hhh</a:t>
            </a:r>
          </a:p>
        </p:txBody>
      </p:sp>
      <p:sp>
        <p:nvSpPr>
          <p:cNvPr id="7" name="Espace réservé du numéro de diapositive 6"/>
          <p:cNvSpPr>
            <a:spLocks noGrp="1"/>
          </p:cNvSpPr>
          <p:nvPr>
            <p:ph type="sldNum" sz="quarter" idx="12"/>
          </p:nvPr>
        </p:nvSpPr>
        <p:spPr/>
        <p:txBody>
          <a:bodyPr/>
          <a:lstStyle/>
          <a:p>
            <a:fld id="{8804BB38-747B-4994-9B8D-B168AF305C05}" type="slidenum">
              <a:rPr lang="fr-FR" smtClean="0"/>
              <a:t>‹#›</a:t>
            </a:fld>
            <a:endParaRPr lang="fr-FR"/>
          </a:p>
        </p:txBody>
      </p:sp>
    </p:spTree>
    <p:extLst>
      <p:ext uri="{BB962C8B-B14F-4D97-AF65-F5344CB8AC3E}">
        <p14:creationId xmlns:p14="http://schemas.microsoft.com/office/powerpoint/2010/main" val="645512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endParaRPr lang="fr-FR"/>
          </a:p>
        </p:txBody>
      </p:sp>
      <p:sp>
        <p:nvSpPr>
          <p:cNvPr id="5" name="Espace réservé du pied de page 4"/>
          <p:cNvSpPr>
            <a:spLocks noGrp="1"/>
          </p:cNvSpPr>
          <p:nvPr>
            <p:ph type="ftr" sz="quarter" idx="11"/>
          </p:nvPr>
        </p:nvSpPr>
        <p:spPr/>
        <p:txBody>
          <a:bodyPr/>
          <a:lstStyle/>
          <a:p>
            <a:r>
              <a:rPr lang="fr-FR"/>
              <a:t>hhh</a:t>
            </a:r>
          </a:p>
        </p:txBody>
      </p:sp>
      <p:sp>
        <p:nvSpPr>
          <p:cNvPr id="6" name="Espace réservé du numéro de diapositive 5"/>
          <p:cNvSpPr>
            <a:spLocks noGrp="1"/>
          </p:cNvSpPr>
          <p:nvPr>
            <p:ph type="sldNum" sz="quarter" idx="12"/>
          </p:nvPr>
        </p:nvSpPr>
        <p:spPr/>
        <p:txBody>
          <a:bodyPr/>
          <a:lstStyle/>
          <a:p>
            <a:fld id="{8804BB38-747B-4994-9B8D-B168AF305C05}" type="slidenum">
              <a:rPr lang="fr-FR" smtClean="0"/>
              <a:t>‹#›</a:t>
            </a:fld>
            <a:endParaRPr lang="fr-FR"/>
          </a:p>
        </p:txBody>
      </p:sp>
    </p:spTree>
    <p:extLst>
      <p:ext uri="{BB962C8B-B14F-4D97-AF65-F5344CB8AC3E}">
        <p14:creationId xmlns:p14="http://schemas.microsoft.com/office/powerpoint/2010/main" val="486362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endParaRPr lang="fr-FR"/>
          </a:p>
        </p:txBody>
      </p:sp>
      <p:sp>
        <p:nvSpPr>
          <p:cNvPr id="5" name="Espace réservé du pied de page 4"/>
          <p:cNvSpPr>
            <a:spLocks noGrp="1"/>
          </p:cNvSpPr>
          <p:nvPr>
            <p:ph type="ftr" sz="quarter" idx="11"/>
          </p:nvPr>
        </p:nvSpPr>
        <p:spPr/>
        <p:txBody>
          <a:bodyPr/>
          <a:lstStyle/>
          <a:p>
            <a:r>
              <a:rPr lang="fr-FR"/>
              <a:t>hhh</a:t>
            </a:r>
          </a:p>
        </p:txBody>
      </p:sp>
      <p:sp>
        <p:nvSpPr>
          <p:cNvPr id="6" name="Espace réservé du numéro de diapositive 5"/>
          <p:cNvSpPr>
            <a:spLocks noGrp="1"/>
          </p:cNvSpPr>
          <p:nvPr>
            <p:ph type="sldNum" sz="quarter" idx="12"/>
          </p:nvPr>
        </p:nvSpPr>
        <p:spPr/>
        <p:txBody>
          <a:bodyPr/>
          <a:lstStyle/>
          <a:p>
            <a:fld id="{8804BB38-747B-4994-9B8D-B168AF305C05}" type="slidenum">
              <a:rPr lang="fr-FR" smtClean="0"/>
              <a:t>‹#›</a:t>
            </a:fld>
            <a:endParaRPr lang="fr-FR"/>
          </a:p>
        </p:txBody>
      </p:sp>
    </p:spTree>
    <p:extLst>
      <p:ext uri="{BB962C8B-B14F-4D97-AF65-F5344CB8AC3E}">
        <p14:creationId xmlns:p14="http://schemas.microsoft.com/office/powerpoint/2010/main" val="42940111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3 Full Picture">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360123696"/>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11" name="Image 10">
            <a:extLst>
              <a:ext uri="{FF2B5EF4-FFF2-40B4-BE49-F238E27FC236}">
                <a16:creationId xmlns:a16="http://schemas.microsoft.com/office/drawing/2014/main" id="{A8AE6BC1-D482-4FEE-B93D-34AEB21E678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72000" y="187155"/>
            <a:ext cx="5220000" cy="1285708"/>
          </a:xfrm>
          <a:prstGeom prst="rect">
            <a:avLst/>
          </a:prstGeom>
        </p:spPr>
      </p:pic>
    </p:spTree>
    <p:extLst>
      <p:ext uri="{BB962C8B-B14F-4D97-AF65-F5344CB8AC3E}">
        <p14:creationId xmlns:p14="http://schemas.microsoft.com/office/powerpoint/2010/main" val="3179832739"/>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9" name="Image 8">
            <a:extLst>
              <a:ext uri="{FF2B5EF4-FFF2-40B4-BE49-F238E27FC236}">
                <a16:creationId xmlns:a16="http://schemas.microsoft.com/office/drawing/2014/main" id="{501B836C-608B-4CFC-BA8A-FAE25C58580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996" y="94849"/>
            <a:ext cx="5040000" cy="1241373"/>
          </a:xfrm>
          <a:prstGeom prst="rect">
            <a:avLst/>
          </a:prstGeom>
        </p:spPr>
      </p:pic>
    </p:spTree>
    <p:extLst>
      <p:ext uri="{BB962C8B-B14F-4D97-AF65-F5344CB8AC3E}">
        <p14:creationId xmlns:p14="http://schemas.microsoft.com/office/powerpoint/2010/main" val="233111215"/>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3 Full Picture">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Image 4">
            <a:extLst>
              <a:ext uri="{FF2B5EF4-FFF2-40B4-BE49-F238E27FC236}">
                <a16:creationId xmlns:a16="http://schemas.microsoft.com/office/drawing/2014/main" id="{B20902B5-3596-438E-9BA1-2E01D91CB4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72000" y="187155"/>
            <a:ext cx="5220000" cy="1285708"/>
          </a:xfrm>
          <a:prstGeom prst="rect">
            <a:avLst/>
          </a:prstGeom>
        </p:spPr>
      </p:pic>
    </p:spTree>
    <p:extLst>
      <p:ext uri="{BB962C8B-B14F-4D97-AF65-F5344CB8AC3E}">
        <p14:creationId xmlns:p14="http://schemas.microsoft.com/office/powerpoint/2010/main" val="1868999190"/>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7570195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1987363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342452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288697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236020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885049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1536180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3814896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light Gre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20539060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Break dark">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894751884"/>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itle and full screen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26980532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Content RH image 2">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5C94FEA8-066A-4CC1-BFCC-10ED1764A21E}"/>
              </a:ext>
            </a:extLst>
          </p:cNvPr>
          <p:cNvSpPr>
            <a:spLocks noGrp="1"/>
          </p:cNvSpPr>
          <p:nvPr>
            <p:ph type="pic" sz="quarter" idx="10"/>
          </p:nvPr>
        </p:nvSpPr>
        <p:spPr>
          <a:xfrm>
            <a:off x="7223124" y="0"/>
            <a:ext cx="4968876" cy="6858000"/>
          </a:xfrm>
          <a:custGeom>
            <a:avLst/>
            <a:gdLst>
              <a:gd name="connsiteX0" fmla="*/ 4563423 w 4968876"/>
              <a:gd name="connsiteY0" fmla="*/ 205058 h 6858000"/>
              <a:gd name="connsiteX1" fmla="*/ 4339039 w 4968876"/>
              <a:gd name="connsiteY1" fmla="*/ 436971 h 6858000"/>
              <a:gd name="connsiteX2" fmla="*/ 4416767 w 4968876"/>
              <a:gd name="connsiteY2" fmla="*/ 551459 h 6858000"/>
              <a:gd name="connsiteX3" fmla="*/ 4495961 w 4968876"/>
              <a:gd name="connsiteY3" fmla="*/ 552927 h 6858000"/>
              <a:gd name="connsiteX4" fmla="*/ 4528042 w 4968876"/>
              <a:gd name="connsiteY4" fmla="*/ 536965 h 6858000"/>
              <a:gd name="connsiteX5" fmla="*/ 4554424 w 4968876"/>
              <a:gd name="connsiteY5" fmla="*/ 513474 h 6858000"/>
              <a:gd name="connsiteX6" fmla="*/ 4547380 w 4968876"/>
              <a:gd name="connsiteY6" fmla="*/ 536398 h 6858000"/>
              <a:gd name="connsiteX7" fmla="*/ 4482579 w 4968876"/>
              <a:gd name="connsiteY7" fmla="*/ 579359 h 6858000"/>
              <a:gd name="connsiteX8" fmla="*/ 4536878 w 4968876"/>
              <a:gd name="connsiteY8" fmla="*/ 594046 h 6858000"/>
              <a:gd name="connsiteX9" fmla="*/ 4666020 w 4968876"/>
              <a:gd name="connsiteY9" fmla="*/ 551453 h 6858000"/>
              <a:gd name="connsiteX10" fmla="*/ 4601449 w 4968876"/>
              <a:gd name="connsiteY10" fmla="*/ 494172 h 6858000"/>
              <a:gd name="connsiteX11" fmla="*/ 4666020 w 4968876"/>
              <a:gd name="connsiteY11" fmla="*/ 525016 h 6858000"/>
              <a:gd name="connsiteX12" fmla="*/ 4751252 w 4968876"/>
              <a:gd name="connsiteY12" fmla="*/ 467391 h 6858000"/>
              <a:gd name="connsiteX13" fmla="*/ 4758467 w 4968876"/>
              <a:gd name="connsiteY13" fmla="*/ 431058 h 6858000"/>
              <a:gd name="connsiteX14" fmla="*/ 4758475 w 4968876"/>
              <a:gd name="connsiteY14" fmla="*/ 431100 h 6858000"/>
              <a:gd name="connsiteX15" fmla="*/ 4758475 w 4968876"/>
              <a:gd name="connsiteY15" fmla="*/ 431017 h 6858000"/>
              <a:gd name="connsiteX16" fmla="*/ 4758475 w 4968876"/>
              <a:gd name="connsiteY16" fmla="*/ 428164 h 6858000"/>
              <a:gd name="connsiteX17" fmla="*/ 4686614 w 4968876"/>
              <a:gd name="connsiteY17" fmla="*/ 279916 h 6858000"/>
              <a:gd name="connsiteX18" fmla="*/ 4573689 w 4968876"/>
              <a:gd name="connsiteY18" fmla="*/ 209461 h 6858000"/>
              <a:gd name="connsiteX19" fmla="*/ 4563423 w 4968876"/>
              <a:gd name="connsiteY19" fmla="*/ 205058 h 6858000"/>
              <a:gd name="connsiteX20" fmla="*/ 0 w 4968876"/>
              <a:gd name="connsiteY20" fmla="*/ 0 h 6858000"/>
              <a:gd name="connsiteX21" fmla="*/ 4968876 w 4968876"/>
              <a:gd name="connsiteY21" fmla="*/ 0 h 6858000"/>
              <a:gd name="connsiteX22" fmla="*/ 4968876 w 4968876"/>
              <a:gd name="connsiteY22" fmla="*/ 6858000 h 6858000"/>
              <a:gd name="connsiteX23" fmla="*/ 0 w 496887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68876" h="6858000">
                <a:moveTo>
                  <a:pt x="4563423" y="205058"/>
                </a:moveTo>
                <a:cubicBezTo>
                  <a:pt x="4513560" y="265238"/>
                  <a:pt x="4339039" y="310740"/>
                  <a:pt x="4339039" y="436971"/>
                </a:cubicBezTo>
                <a:cubicBezTo>
                  <a:pt x="4339039" y="486876"/>
                  <a:pt x="4369837" y="533846"/>
                  <a:pt x="4416767" y="551459"/>
                </a:cubicBezTo>
                <a:cubicBezTo>
                  <a:pt x="4443165" y="561734"/>
                  <a:pt x="4469563" y="561734"/>
                  <a:pt x="4495961" y="552927"/>
                </a:cubicBezTo>
                <a:cubicBezTo>
                  <a:pt x="4507694" y="549258"/>
                  <a:pt x="4518326" y="543753"/>
                  <a:pt x="4528042" y="536965"/>
                </a:cubicBezTo>
                <a:lnTo>
                  <a:pt x="4554424" y="513474"/>
                </a:lnTo>
                <a:lnTo>
                  <a:pt x="4547380" y="536398"/>
                </a:lnTo>
                <a:cubicBezTo>
                  <a:pt x="4535685" y="558154"/>
                  <a:pt x="4511196" y="574953"/>
                  <a:pt x="4482579" y="579359"/>
                </a:cubicBezTo>
                <a:cubicBezTo>
                  <a:pt x="4491384" y="588171"/>
                  <a:pt x="4511930" y="594046"/>
                  <a:pt x="4536878" y="594046"/>
                </a:cubicBezTo>
                <a:cubicBezTo>
                  <a:pt x="4582371" y="594046"/>
                  <a:pt x="4638137" y="580827"/>
                  <a:pt x="4666020" y="551453"/>
                </a:cubicBezTo>
                <a:cubicBezTo>
                  <a:pt x="4627865" y="552921"/>
                  <a:pt x="4602917" y="527953"/>
                  <a:pt x="4601449" y="494172"/>
                </a:cubicBezTo>
                <a:cubicBezTo>
                  <a:pt x="4619059" y="516203"/>
                  <a:pt x="4641072" y="525016"/>
                  <a:pt x="4666020" y="525016"/>
                </a:cubicBezTo>
                <a:cubicBezTo>
                  <a:pt x="4704543" y="525016"/>
                  <a:pt x="4737287" y="501057"/>
                  <a:pt x="4751252" y="467391"/>
                </a:cubicBezTo>
                <a:lnTo>
                  <a:pt x="4758467" y="431058"/>
                </a:lnTo>
                <a:lnTo>
                  <a:pt x="4758475" y="431100"/>
                </a:lnTo>
                <a:lnTo>
                  <a:pt x="4758475" y="431017"/>
                </a:lnTo>
                <a:lnTo>
                  <a:pt x="4758475" y="428164"/>
                </a:lnTo>
                <a:cubicBezTo>
                  <a:pt x="4758475" y="369452"/>
                  <a:pt x="4729144" y="319547"/>
                  <a:pt x="4686614" y="279916"/>
                </a:cubicBezTo>
                <a:cubicBezTo>
                  <a:pt x="4654349" y="249092"/>
                  <a:pt x="4614752" y="227075"/>
                  <a:pt x="4573689" y="209461"/>
                </a:cubicBezTo>
                <a:cubicBezTo>
                  <a:pt x="4570755" y="207994"/>
                  <a:pt x="4567822" y="206526"/>
                  <a:pt x="4563423" y="205058"/>
                </a:cubicBezTo>
                <a:close/>
                <a:moveTo>
                  <a:pt x="0" y="0"/>
                </a:moveTo>
                <a:lnTo>
                  <a:pt x="4968876" y="0"/>
                </a:lnTo>
                <a:lnTo>
                  <a:pt x="496887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a:p>
        </p:txBody>
      </p:sp>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4" y="1161430"/>
            <a:ext cx="6627290" cy="1115442"/>
          </a:xfrm>
        </p:spPr>
        <p:txBody>
          <a:bodyPr vert="horz" lIns="0" tIns="0" rIns="0" bIns="0" rtlCol="0" anchor="b">
            <a:noAutofit/>
          </a:bodyPr>
          <a:lstStyle>
            <a:lvl1pPr>
              <a:defRPr lang="en-GB" sz="3600">
                <a:solidFill>
                  <a:schemeClr val="tx1"/>
                </a:solidFill>
              </a:defRPr>
            </a:lvl1pPr>
          </a:lstStyle>
          <a:p>
            <a:pPr lvl="0"/>
            <a:r>
              <a:rPr lang="en-US"/>
              <a:t>Click to edit Master title style</a:t>
            </a:r>
            <a:endParaRPr lang="en-GB"/>
          </a:p>
        </p:txBody>
      </p:sp>
      <p:sp>
        <p:nvSpPr>
          <p:cNvPr id="5" name="Text Placeholder 4">
            <a:extLst>
              <a:ext uri="{FF2B5EF4-FFF2-40B4-BE49-F238E27FC236}">
                <a16:creationId xmlns:a16="http://schemas.microsoft.com/office/drawing/2014/main" id="{D410FA47-1FF8-451B-8532-F1B477524FA0}"/>
              </a:ext>
            </a:extLst>
          </p:cNvPr>
          <p:cNvSpPr>
            <a:spLocks noGrp="1"/>
          </p:cNvSpPr>
          <p:nvPr>
            <p:ph type="body" sz="quarter" idx="11"/>
          </p:nvPr>
        </p:nvSpPr>
        <p:spPr>
          <a:xfrm>
            <a:off x="404813" y="2492374"/>
            <a:ext cx="6627290" cy="273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105456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Large title &amp; large RH image 1">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5586E72C-F96D-4BE1-996B-39A71EA977D3}"/>
              </a:ext>
            </a:extLst>
          </p:cNvPr>
          <p:cNvSpPr>
            <a:spLocks noGrp="1"/>
          </p:cNvSpPr>
          <p:nvPr>
            <p:ph type="pic" sz="quarter" idx="10"/>
          </p:nvPr>
        </p:nvSpPr>
        <p:spPr>
          <a:xfrm>
            <a:off x="5128004" y="0"/>
            <a:ext cx="7063996" cy="6858000"/>
          </a:xfrm>
          <a:custGeom>
            <a:avLst/>
            <a:gdLst>
              <a:gd name="connsiteX0" fmla="*/ 6658543 w 7063996"/>
              <a:gd name="connsiteY0" fmla="*/ 205058 h 6858000"/>
              <a:gd name="connsiteX1" fmla="*/ 6434159 w 7063996"/>
              <a:gd name="connsiteY1" fmla="*/ 436971 h 6858000"/>
              <a:gd name="connsiteX2" fmla="*/ 6511887 w 7063996"/>
              <a:gd name="connsiteY2" fmla="*/ 551459 h 6858000"/>
              <a:gd name="connsiteX3" fmla="*/ 6591081 w 7063996"/>
              <a:gd name="connsiteY3" fmla="*/ 552927 h 6858000"/>
              <a:gd name="connsiteX4" fmla="*/ 6623162 w 7063996"/>
              <a:gd name="connsiteY4" fmla="*/ 536965 h 6858000"/>
              <a:gd name="connsiteX5" fmla="*/ 6649544 w 7063996"/>
              <a:gd name="connsiteY5" fmla="*/ 513474 h 6858000"/>
              <a:gd name="connsiteX6" fmla="*/ 6642500 w 7063996"/>
              <a:gd name="connsiteY6" fmla="*/ 536398 h 6858000"/>
              <a:gd name="connsiteX7" fmla="*/ 6577699 w 7063996"/>
              <a:gd name="connsiteY7" fmla="*/ 579359 h 6858000"/>
              <a:gd name="connsiteX8" fmla="*/ 6631998 w 7063996"/>
              <a:gd name="connsiteY8" fmla="*/ 594046 h 6858000"/>
              <a:gd name="connsiteX9" fmla="*/ 6761140 w 7063996"/>
              <a:gd name="connsiteY9" fmla="*/ 551453 h 6858000"/>
              <a:gd name="connsiteX10" fmla="*/ 6696569 w 7063996"/>
              <a:gd name="connsiteY10" fmla="*/ 494172 h 6858000"/>
              <a:gd name="connsiteX11" fmla="*/ 6761140 w 7063996"/>
              <a:gd name="connsiteY11" fmla="*/ 525016 h 6858000"/>
              <a:gd name="connsiteX12" fmla="*/ 6846372 w 7063996"/>
              <a:gd name="connsiteY12" fmla="*/ 467391 h 6858000"/>
              <a:gd name="connsiteX13" fmla="*/ 6853587 w 7063996"/>
              <a:gd name="connsiteY13" fmla="*/ 431058 h 6858000"/>
              <a:gd name="connsiteX14" fmla="*/ 6853595 w 7063996"/>
              <a:gd name="connsiteY14" fmla="*/ 431100 h 6858000"/>
              <a:gd name="connsiteX15" fmla="*/ 6853595 w 7063996"/>
              <a:gd name="connsiteY15" fmla="*/ 431017 h 6858000"/>
              <a:gd name="connsiteX16" fmla="*/ 6853595 w 7063996"/>
              <a:gd name="connsiteY16" fmla="*/ 428164 h 6858000"/>
              <a:gd name="connsiteX17" fmla="*/ 6781734 w 7063996"/>
              <a:gd name="connsiteY17" fmla="*/ 279916 h 6858000"/>
              <a:gd name="connsiteX18" fmla="*/ 6668809 w 7063996"/>
              <a:gd name="connsiteY18" fmla="*/ 209461 h 6858000"/>
              <a:gd name="connsiteX19" fmla="*/ 6658543 w 7063996"/>
              <a:gd name="connsiteY19" fmla="*/ 205058 h 6858000"/>
              <a:gd name="connsiteX20" fmla="*/ 0 w 7063996"/>
              <a:gd name="connsiteY20" fmla="*/ 0 h 6858000"/>
              <a:gd name="connsiteX21" fmla="*/ 7063996 w 7063996"/>
              <a:gd name="connsiteY21" fmla="*/ 0 h 6858000"/>
              <a:gd name="connsiteX22" fmla="*/ 7063996 w 7063996"/>
              <a:gd name="connsiteY22" fmla="*/ 6858000 h 6858000"/>
              <a:gd name="connsiteX23" fmla="*/ 0 w 706399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63996" h="6858000">
                <a:moveTo>
                  <a:pt x="6658543" y="205058"/>
                </a:moveTo>
                <a:cubicBezTo>
                  <a:pt x="6608680" y="265238"/>
                  <a:pt x="6434159" y="310740"/>
                  <a:pt x="6434159" y="436971"/>
                </a:cubicBezTo>
                <a:cubicBezTo>
                  <a:pt x="6434159" y="486876"/>
                  <a:pt x="6464957" y="533846"/>
                  <a:pt x="6511887" y="551459"/>
                </a:cubicBezTo>
                <a:cubicBezTo>
                  <a:pt x="6538285" y="561734"/>
                  <a:pt x="6564683" y="561734"/>
                  <a:pt x="6591081" y="552927"/>
                </a:cubicBezTo>
                <a:cubicBezTo>
                  <a:pt x="6602814" y="549258"/>
                  <a:pt x="6613446" y="543753"/>
                  <a:pt x="6623162" y="536965"/>
                </a:cubicBezTo>
                <a:lnTo>
                  <a:pt x="6649544" y="513474"/>
                </a:lnTo>
                <a:lnTo>
                  <a:pt x="6642500" y="536398"/>
                </a:lnTo>
                <a:cubicBezTo>
                  <a:pt x="6630805" y="558154"/>
                  <a:pt x="6606316" y="574953"/>
                  <a:pt x="6577699" y="579359"/>
                </a:cubicBezTo>
                <a:cubicBezTo>
                  <a:pt x="6586504" y="588171"/>
                  <a:pt x="6607050" y="594046"/>
                  <a:pt x="6631998" y="594046"/>
                </a:cubicBezTo>
                <a:cubicBezTo>
                  <a:pt x="6677491" y="594046"/>
                  <a:pt x="6733257" y="580827"/>
                  <a:pt x="6761140" y="551453"/>
                </a:cubicBezTo>
                <a:cubicBezTo>
                  <a:pt x="6722985" y="552921"/>
                  <a:pt x="6698037" y="527953"/>
                  <a:pt x="6696569" y="494172"/>
                </a:cubicBezTo>
                <a:cubicBezTo>
                  <a:pt x="6714179" y="516203"/>
                  <a:pt x="6736192" y="525016"/>
                  <a:pt x="6761140" y="525016"/>
                </a:cubicBezTo>
                <a:cubicBezTo>
                  <a:pt x="6799663" y="525016"/>
                  <a:pt x="6832407" y="501057"/>
                  <a:pt x="6846372" y="467391"/>
                </a:cubicBezTo>
                <a:lnTo>
                  <a:pt x="6853587" y="431058"/>
                </a:lnTo>
                <a:lnTo>
                  <a:pt x="6853595" y="431100"/>
                </a:lnTo>
                <a:lnTo>
                  <a:pt x="6853595" y="431017"/>
                </a:lnTo>
                <a:lnTo>
                  <a:pt x="6853595" y="428164"/>
                </a:lnTo>
                <a:cubicBezTo>
                  <a:pt x="6853595" y="369452"/>
                  <a:pt x="6824264" y="319547"/>
                  <a:pt x="6781734" y="279916"/>
                </a:cubicBezTo>
                <a:cubicBezTo>
                  <a:pt x="6749469" y="249092"/>
                  <a:pt x="6709872" y="227075"/>
                  <a:pt x="6668809" y="209461"/>
                </a:cubicBezTo>
                <a:cubicBezTo>
                  <a:pt x="6665875" y="207994"/>
                  <a:pt x="6662942" y="206526"/>
                  <a:pt x="6658543" y="205058"/>
                </a:cubicBezTo>
                <a:close/>
                <a:moveTo>
                  <a:pt x="0" y="0"/>
                </a:moveTo>
                <a:lnTo>
                  <a:pt x="7063996" y="0"/>
                </a:lnTo>
                <a:lnTo>
                  <a:pt x="706399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a:p>
        </p:txBody>
      </p:sp>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3" y="692696"/>
            <a:ext cx="4562476" cy="2421466"/>
          </a:xfrm>
        </p:spPr>
        <p:txBody>
          <a:bodyPr vert="horz" lIns="72000" tIns="0" rIns="0" bIns="0" rtlCol="0" anchor="b">
            <a:noAutofit/>
          </a:bodyPr>
          <a:lstStyle>
            <a:lvl1pPr>
              <a:lnSpc>
                <a:spcPct val="80000"/>
              </a:lnSpc>
              <a:defRPr lang="en-GB" sz="5400">
                <a:solidFill>
                  <a:schemeClr val="bg1"/>
                </a:solidFill>
              </a:defRPr>
            </a:lvl1pPr>
          </a:lstStyle>
          <a:p>
            <a:pPr lvl="0"/>
            <a:r>
              <a:rPr lang="en-US"/>
              <a:t>Click to edit Master title style</a:t>
            </a:r>
            <a:endParaRPr lang="en-GB"/>
          </a:p>
        </p:txBody>
      </p:sp>
      <p:sp>
        <p:nvSpPr>
          <p:cNvPr id="10" name="Espace réservé du texte 9">
            <a:extLst>
              <a:ext uri="{FF2B5EF4-FFF2-40B4-BE49-F238E27FC236}">
                <a16:creationId xmlns:a16="http://schemas.microsoft.com/office/drawing/2014/main" id="{FC6DF15B-7249-491B-BFB7-9A33784178CD}"/>
              </a:ext>
            </a:extLst>
          </p:cNvPr>
          <p:cNvSpPr>
            <a:spLocks noGrp="1"/>
          </p:cNvSpPr>
          <p:nvPr>
            <p:ph type="body" sz="quarter" idx="12"/>
          </p:nvPr>
        </p:nvSpPr>
        <p:spPr>
          <a:xfrm>
            <a:off x="404813" y="3573040"/>
            <a:ext cx="4395787" cy="2808288"/>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122584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urpl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33467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ull picture white Pik">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841402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Dark grey">
    <p:spTree>
      <p:nvGrpSpPr>
        <p:cNvPr id="1" name=""/>
        <p:cNvGrpSpPr/>
        <p:nvPr/>
      </p:nvGrpSpPr>
      <p:grpSpPr>
        <a:xfrm>
          <a:off x="0" y="0"/>
          <a:ext cx="0" cy="0"/>
          <a:chOff x="0" y="0"/>
          <a:chExt cx="0" cy="0"/>
        </a:xfrm>
      </p:grpSpPr>
    </p:spTree>
    <p:extLst>
      <p:ext uri="{BB962C8B-B14F-4D97-AF65-F5344CB8AC3E}">
        <p14:creationId xmlns:p14="http://schemas.microsoft.com/office/powerpoint/2010/main" val="6584203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ull picture blue Pi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30962811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inal Slide 1">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189663" y="2940700"/>
            <a:ext cx="5018905"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a:solidFill>
                  <a:schemeClr val="lt1"/>
                </a:solidFill>
                <a:effectLst/>
                <a:latin typeface="+mn-lt"/>
                <a:ea typeface="+mn-ea"/>
                <a:cs typeface="+mn-cs"/>
              </a:rPr>
              <a:t>Capgemini Engineering combines, under one brand, a unique set of strengths from across the Capgemini Group: the world leading engineering and R&amp;D services of Altran – acquired by Capgemini in 2020 - and Capgemini’s digital manufacturing expertise. With broad industry knowledge and cutting-edge technologies in digital and software, Capgemini Engineering supports the convergence of the physical and digital worlds. Combined with the capabilities of the rest of the Group, it helps clients to accelerate their journey towards Intelligent Industry. Capgemini Engineering has more than 52,000 engineer and scientist team members in over 30 countries across sectors including aeronautics, automotive, railways, communications, energy, life sciences, semiconductors, software &amp; internet, space &amp; defence, and consumer products.</a:t>
            </a:r>
            <a:endParaRPr lang="en-US" sz="900" kern="1200">
              <a:solidFill>
                <a:schemeClr val="lt1"/>
              </a:solidFill>
              <a:effectLst/>
              <a:latin typeface="+mn-lt"/>
              <a:ea typeface="+mn-ea"/>
              <a:cs typeface="+mn-cs"/>
            </a:endParaRPr>
          </a:p>
          <a:p>
            <a:pPr algn="just"/>
            <a:r>
              <a:rPr lang="en-GB" sz="900" i="1" kern="1200">
                <a:solidFill>
                  <a:schemeClr val="lt1"/>
                </a:solidFill>
                <a:effectLst/>
                <a:latin typeface="+mn-lt"/>
                <a:ea typeface="+mn-ea"/>
                <a:cs typeface="+mn-cs"/>
              </a:rPr>
              <a:t> </a:t>
            </a:r>
            <a:endParaRPr lang="en-US" sz="900" kern="1200">
              <a:solidFill>
                <a:schemeClr val="lt1"/>
              </a:solidFill>
              <a:effectLst/>
              <a:latin typeface="+mn-lt"/>
              <a:ea typeface="+mn-ea"/>
              <a:cs typeface="+mn-cs"/>
            </a:endParaRPr>
          </a:p>
          <a:p>
            <a:pPr algn="just"/>
            <a:r>
              <a:rPr lang="en-GB" sz="900" kern="1200">
                <a:solidFill>
                  <a:schemeClr val="lt1"/>
                </a:solidFill>
                <a:effectLst/>
                <a:latin typeface="+mn-lt"/>
                <a:ea typeface="+mn-ea"/>
                <a:cs typeface="+mn-cs"/>
              </a:rPr>
              <a:t>Capgemini Engineering is an integral part of the Capgemini Group, a global leader in partnering with companies to transform and manage their business by harnessing the power of technology. The Group is guided every day by its purpose of unleashing human energy through technology for an inclusive and sustainable future. It is a responsible and diverse organization of 270,000 team members in nearly 50 countries. With its strong 50-year heritage and deep industry expertise, Capgemini is trusted by its clients to address the entire breadth of their business needs, from strategy and design to operations, </a:t>
            </a:r>
            <a:r>
              <a:rPr lang="en-GB" sz="900" kern="1200" err="1">
                <a:solidFill>
                  <a:schemeClr val="lt1"/>
                </a:solidFill>
                <a:effectLst/>
                <a:latin typeface="+mn-lt"/>
                <a:ea typeface="+mn-ea"/>
                <a:cs typeface="+mn-cs"/>
              </a:rPr>
              <a:t>fueled</a:t>
            </a:r>
            <a:r>
              <a:rPr lang="en-GB" sz="900" kern="1200">
                <a:solidFill>
                  <a:schemeClr val="lt1"/>
                </a:solidFill>
                <a:effectLst/>
                <a:latin typeface="+mn-lt"/>
                <a:ea typeface="+mn-ea"/>
                <a:cs typeface="+mn-cs"/>
              </a:rPr>
              <a:t> by the fast evolving and innovative world of cloud, data, AI, connectivity, software, digital engineering and platforms. The Group reported in 2020 global revenues of €16 billion.</a:t>
            </a:r>
            <a:endParaRPr lang="en-US" sz="900" kern="1200">
              <a:solidFill>
                <a:schemeClr val="lt1"/>
              </a:solidFill>
              <a:effectLst/>
              <a:latin typeface="+mn-lt"/>
              <a:ea typeface="+mn-ea"/>
              <a:cs typeface="+mn-cs"/>
            </a:endParaRPr>
          </a:p>
        </p:txBody>
      </p:sp>
      <p:sp>
        <p:nvSpPr>
          <p:cNvPr id="15" name="Rectangle 14"/>
          <p:cNvSpPr/>
          <p:nvPr/>
        </p:nvSpPr>
        <p:spPr>
          <a:xfrm>
            <a:off x="6189662" y="2561436"/>
            <a:ext cx="3434729" cy="2286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 Engineering</a:t>
            </a:r>
          </a:p>
        </p:txBody>
      </p:sp>
      <p:sp>
        <p:nvSpPr>
          <p:cNvPr id="16" name="Rectangle 15"/>
          <p:cNvSpPr/>
          <p:nvPr/>
        </p:nvSpPr>
        <p:spPr>
          <a:xfrm>
            <a:off x="6189663" y="5789250"/>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www.capgemini.com/capgemini-engineering</a:t>
            </a:r>
          </a:p>
        </p:txBody>
      </p:sp>
      <p:pic>
        <p:nvPicPr>
          <p:cNvPr id="22" name="Image 21">
            <a:extLst>
              <a:ext uri="{FF2B5EF4-FFF2-40B4-BE49-F238E27FC236}">
                <a16:creationId xmlns:a16="http://schemas.microsoft.com/office/drawing/2014/main" id="{E9CD4BEE-AC1B-4828-9AD6-0878E178A2BD}"/>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616265"/>
            <a:ext cx="5040000" cy="1241373"/>
          </a:xfrm>
          <a:prstGeom prst="rect">
            <a:avLst/>
          </a:prstGeom>
        </p:spPr>
      </p:pic>
    </p:spTree>
    <p:extLst>
      <p:ext uri="{BB962C8B-B14F-4D97-AF65-F5344CB8AC3E}">
        <p14:creationId xmlns:p14="http://schemas.microsoft.com/office/powerpoint/2010/main" val="1882293916"/>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2_Final Slide 2">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21226509">
            <a:off x="1143292" y="1478132"/>
            <a:ext cx="9702386" cy="5695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60" name="Rectangle 59"/>
          <p:cNvSpPr/>
          <p:nvPr>
            <p:custDataLst>
              <p:tags r:id="rId1"/>
            </p:custDataLst>
          </p:nvPr>
        </p:nvSpPr>
        <p:spPr>
          <a:xfrm>
            <a:off x="6324599" y="1079805"/>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079805"/>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43730"/>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43730"/>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6468B09D-6011-4B56-9735-A05D4E49D101}"/>
              </a:ext>
            </a:extLst>
          </p:cNvPr>
          <p:cNvSpPr/>
          <p:nvPr userDrawn="1"/>
        </p:nvSpPr>
        <p:spPr>
          <a:xfrm>
            <a:off x="404813" y="1447577"/>
            <a:ext cx="5018905"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a:solidFill>
                  <a:schemeClr val="lt1"/>
                </a:solidFill>
                <a:effectLst/>
                <a:latin typeface="+mn-lt"/>
                <a:ea typeface="+mn-ea"/>
                <a:cs typeface="+mn-cs"/>
              </a:rPr>
              <a:t>Capgemini Engineering combines, under one brand, a unique set of strengths from across the Capgemini Group: the world leading engineering and R&amp;D services of Altran – acquired by Capgemini in 2020 - and Capgemini’s digital manufacturing expertise. With broad industry knowledge and cutting-edge technologies in digital and software, Capgemini Engineering supports the convergence of the physical and digital worlds. Combined with the capabilities of the rest of the Group, it helps clients to accelerate their journey towards Intelligent Industry. Capgemini Engineering has more than 52,000 engineer and scientist team members in over 30 countries across sectors including aeronautics, automotive, railways, communications, energy, life sciences, semiconductors, software &amp; internet, space &amp; defence, and consumer products.</a:t>
            </a:r>
            <a:endParaRPr lang="en-US" sz="900" kern="1200">
              <a:solidFill>
                <a:schemeClr val="lt1"/>
              </a:solidFill>
              <a:effectLst/>
              <a:latin typeface="+mn-lt"/>
              <a:ea typeface="+mn-ea"/>
              <a:cs typeface="+mn-cs"/>
            </a:endParaRPr>
          </a:p>
          <a:p>
            <a:pPr algn="just"/>
            <a:r>
              <a:rPr lang="en-GB" sz="900" i="1" kern="1200">
                <a:solidFill>
                  <a:schemeClr val="lt1"/>
                </a:solidFill>
                <a:effectLst/>
                <a:latin typeface="+mn-lt"/>
                <a:ea typeface="+mn-ea"/>
                <a:cs typeface="+mn-cs"/>
              </a:rPr>
              <a:t> </a:t>
            </a:r>
            <a:endParaRPr lang="en-US" sz="900" kern="1200">
              <a:solidFill>
                <a:schemeClr val="lt1"/>
              </a:solidFill>
              <a:effectLst/>
              <a:latin typeface="+mn-lt"/>
              <a:ea typeface="+mn-ea"/>
              <a:cs typeface="+mn-cs"/>
            </a:endParaRPr>
          </a:p>
          <a:p>
            <a:pPr algn="just"/>
            <a:r>
              <a:rPr lang="en-GB" sz="900" kern="1200">
                <a:solidFill>
                  <a:schemeClr val="lt1"/>
                </a:solidFill>
                <a:effectLst/>
                <a:latin typeface="+mn-lt"/>
                <a:ea typeface="+mn-ea"/>
                <a:cs typeface="+mn-cs"/>
              </a:rPr>
              <a:t>Capgemini Engineering is an integral part of the Capgemini Group, a global leader in partnering with companies to transform and manage their business by harnessing the power of technology. The Group is guided every day by its purpose of unleashing human energy through technology for an inclusive and sustainable future. It is a responsible and diverse organization of 270,000 team members in nearly 50 countries. With its strong 50-year heritage and deep industry expertise, Capgemini is trusted by its clients to address the entire breadth of their business needs, from strategy and design to operations, </a:t>
            </a:r>
            <a:r>
              <a:rPr lang="en-GB" sz="900" kern="1200" err="1">
                <a:solidFill>
                  <a:schemeClr val="lt1"/>
                </a:solidFill>
                <a:effectLst/>
                <a:latin typeface="+mn-lt"/>
                <a:ea typeface="+mn-ea"/>
                <a:cs typeface="+mn-cs"/>
              </a:rPr>
              <a:t>fueled</a:t>
            </a:r>
            <a:r>
              <a:rPr lang="en-GB" sz="900" kern="1200">
                <a:solidFill>
                  <a:schemeClr val="lt1"/>
                </a:solidFill>
                <a:effectLst/>
                <a:latin typeface="+mn-lt"/>
                <a:ea typeface="+mn-ea"/>
                <a:cs typeface="+mn-cs"/>
              </a:rPr>
              <a:t> by the fast evolving and innovative world of cloud, data, AI, connectivity, software, digital engineering and platforms. The Group reported in 2020 global revenues of €16 billion.</a:t>
            </a:r>
            <a:endParaRPr lang="en-US" sz="900" kern="1200">
              <a:solidFill>
                <a:schemeClr val="lt1"/>
              </a:solidFill>
              <a:effectLst/>
              <a:latin typeface="+mn-lt"/>
              <a:ea typeface="+mn-ea"/>
              <a:cs typeface="+mn-cs"/>
            </a:endParaRPr>
          </a:p>
        </p:txBody>
      </p:sp>
      <p:sp>
        <p:nvSpPr>
          <p:cNvPr id="27" name="Rectangle 26">
            <a:extLst>
              <a:ext uri="{FF2B5EF4-FFF2-40B4-BE49-F238E27FC236}">
                <a16:creationId xmlns:a16="http://schemas.microsoft.com/office/drawing/2014/main" id="{9AD00A87-77BA-46AB-A551-7BD88CF47F24}"/>
              </a:ext>
            </a:extLst>
          </p:cNvPr>
          <p:cNvSpPr/>
          <p:nvPr userDrawn="1"/>
        </p:nvSpPr>
        <p:spPr>
          <a:xfrm>
            <a:off x="404812" y="1068313"/>
            <a:ext cx="3314919" cy="2286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 Engineering</a:t>
            </a:r>
          </a:p>
        </p:txBody>
      </p:sp>
      <p:sp>
        <p:nvSpPr>
          <p:cNvPr id="28" name="Rectangle 27">
            <a:extLst>
              <a:ext uri="{FF2B5EF4-FFF2-40B4-BE49-F238E27FC236}">
                <a16:creationId xmlns:a16="http://schemas.microsoft.com/office/drawing/2014/main" id="{FD222ADB-2B00-4AE2-8AB6-BC8CDF1AC7E1}"/>
              </a:ext>
            </a:extLst>
          </p:cNvPr>
          <p:cNvSpPr/>
          <p:nvPr userDrawn="1"/>
        </p:nvSpPr>
        <p:spPr>
          <a:xfrm>
            <a:off x="404813" y="4296127"/>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www.capgemini.com/capgemini-engineering</a:t>
            </a:r>
          </a:p>
        </p:txBody>
      </p:sp>
      <p:pic>
        <p:nvPicPr>
          <p:cNvPr id="29" name="Image 28">
            <a:extLst>
              <a:ext uri="{FF2B5EF4-FFF2-40B4-BE49-F238E27FC236}">
                <a16:creationId xmlns:a16="http://schemas.microsoft.com/office/drawing/2014/main" id="{6A821CDD-5961-4FA5-87E4-74C804B1D08B}"/>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6744013" y="5369182"/>
            <a:ext cx="5040000" cy="1241373"/>
          </a:xfrm>
          <a:prstGeom prst="rect">
            <a:avLst/>
          </a:prstGeom>
        </p:spPr>
      </p:pic>
    </p:spTree>
    <p:extLst>
      <p:ext uri="{BB962C8B-B14F-4D97-AF65-F5344CB8AC3E}">
        <p14:creationId xmlns:p14="http://schemas.microsoft.com/office/powerpoint/2010/main" val="230873021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Final Slide 1">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7AF4EB1-5AB5-4D69-B603-BD5E0E5EB29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16265"/>
            <a:ext cx="5040000" cy="1241373"/>
          </a:xfrm>
          <a:prstGeom prst="rect">
            <a:avLst/>
          </a:prstGeom>
        </p:spPr>
      </p:pic>
    </p:spTree>
    <p:extLst>
      <p:ext uri="{BB962C8B-B14F-4D97-AF65-F5344CB8AC3E}">
        <p14:creationId xmlns:p14="http://schemas.microsoft.com/office/powerpoint/2010/main" val="3623348970"/>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Large title">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6003700"/>
            <a:ext cx="11277600" cy="822325"/>
          </a:xfrm>
        </p:spPr>
        <p:txBody>
          <a:bodyPr lIns="36000" tIns="14400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p:nvPr>
        </p:nvSpPr>
        <p:spPr>
          <a:xfrm>
            <a:off x="457200" y="1644650"/>
            <a:ext cx="11277600" cy="3567113"/>
          </a:xfrm>
        </p:spPr>
        <p:txBody>
          <a:bodyPr anchor="ctr" anchorCtr="0">
            <a:normAutofit/>
          </a:bodyPr>
          <a:lstStyle>
            <a:lvl1pPr marL="0" indent="0" algn="l">
              <a:lnSpc>
                <a:spcPct val="70000"/>
              </a:lnSpc>
              <a:buFontTx/>
              <a:buNone/>
              <a:defRPr sz="80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6" name="Image 5">
            <a:extLst>
              <a:ext uri="{FF2B5EF4-FFF2-40B4-BE49-F238E27FC236}">
                <a16:creationId xmlns:a16="http://schemas.microsoft.com/office/drawing/2014/main" id="{5D00B2F4-B880-4403-995C-72F76AB9E9B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996" y="94849"/>
            <a:ext cx="5040000" cy="1241373"/>
          </a:xfrm>
          <a:prstGeom prst="rect">
            <a:avLst/>
          </a:prstGeom>
        </p:spPr>
      </p:pic>
    </p:spTree>
    <p:extLst>
      <p:ext uri="{BB962C8B-B14F-4D97-AF65-F5344CB8AC3E}">
        <p14:creationId xmlns:p14="http://schemas.microsoft.com/office/powerpoint/2010/main" val="584092268"/>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11" name="Image 10">
            <a:extLst>
              <a:ext uri="{FF2B5EF4-FFF2-40B4-BE49-F238E27FC236}">
                <a16:creationId xmlns:a16="http://schemas.microsoft.com/office/drawing/2014/main" id="{A8AE6BC1-D482-4FEE-B93D-34AEB21E678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72000" y="187155"/>
            <a:ext cx="5220000" cy="1285708"/>
          </a:xfrm>
          <a:prstGeom prst="rect">
            <a:avLst/>
          </a:prstGeom>
        </p:spPr>
      </p:pic>
    </p:spTree>
    <p:extLst>
      <p:ext uri="{BB962C8B-B14F-4D97-AF65-F5344CB8AC3E}">
        <p14:creationId xmlns:p14="http://schemas.microsoft.com/office/powerpoint/2010/main" val="2450726571"/>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9" name="Image 8">
            <a:extLst>
              <a:ext uri="{FF2B5EF4-FFF2-40B4-BE49-F238E27FC236}">
                <a16:creationId xmlns:a16="http://schemas.microsoft.com/office/drawing/2014/main" id="{501B836C-608B-4CFC-BA8A-FAE25C58580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996" y="94849"/>
            <a:ext cx="5040000" cy="1241373"/>
          </a:xfrm>
          <a:prstGeom prst="rect">
            <a:avLst/>
          </a:prstGeom>
        </p:spPr>
      </p:pic>
    </p:spTree>
    <p:extLst>
      <p:ext uri="{BB962C8B-B14F-4D97-AF65-F5344CB8AC3E}">
        <p14:creationId xmlns:p14="http://schemas.microsoft.com/office/powerpoint/2010/main" val="3971589492"/>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3 Full Picture">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Image 4">
            <a:extLst>
              <a:ext uri="{FF2B5EF4-FFF2-40B4-BE49-F238E27FC236}">
                <a16:creationId xmlns:a16="http://schemas.microsoft.com/office/drawing/2014/main" id="{B20902B5-3596-438E-9BA1-2E01D91CB4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72000" y="187155"/>
            <a:ext cx="5220000" cy="1285708"/>
          </a:xfrm>
          <a:prstGeom prst="rect">
            <a:avLst/>
          </a:prstGeom>
        </p:spPr>
      </p:pic>
    </p:spTree>
    <p:extLst>
      <p:ext uri="{BB962C8B-B14F-4D97-AF65-F5344CB8AC3E}">
        <p14:creationId xmlns:p14="http://schemas.microsoft.com/office/powerpoint/2010/main" val="1292624650"/>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6938189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91252198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75702229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898636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6764070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001136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67578804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36083981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and content light Gre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12625539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ection Break dark">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644672356"/>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itle and full screen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389546081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Content RH image 2">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5C94FEA8-066A-4CC1-BFCC-10ED1764A21E}"/>
              </a:ext>
            </a:extLst>
          </p:cNvPr>
          <p:cNvSpPr>
            <a:spLocks noGrp="1"/>
          </p:cNvSpPr>
          <p:nvPr>
            <p:ph type="pic" sz="quarter" idx="10"/>
          </p:nvPr>
        </p:nvSpPr>
        <p:spPr>
          <a:xfrm>
            <a:off x="7223124" y="0"/>
            <a:ext cx="4968876" cy="6858000"/>
          </a:xfrm>
          <a:custGeom>
            <a:avLst/>
            <a:gdLst>
              <a:gd name="connsiteX0" fmla="*/ 4563423 w 4968876"/>
              <a:gd name="connsiteY0" fmla="*/ 205058 h 6858000"/>
              <a:gd name="connsiteX1" fmla="*/ 4339039 w 4968876"/>
              <a:gd name="connsiteY1" fmla="*/ 436971 h 6858000"/>
              <a:gd name="connsiteX2" fmla="*/ 4416767 w 4968876"/>
              <a:gd name="connsiteY2" fmla="*/ 551459 h 6858000"/>
              <a:gd name="connsiteX3" fmla="*/ 4495961 w 4968876"/>
              <a:gd name="connsiteY3" fmla="*/ 552927 h 6858000"/>
              <a:gd name="connsiteX4" fmla="*/ 4528042 w 4968876"/>
              <a:gd name="connsiteY4" fmla="*/ 536965 h 6858000"/>
              <a:gd name="connsiteX5" fmla="*/ 4554424 w 4968876"/>
              <a:gd name="connsiteY5" fmla="*/ 513474 h 6858000"/>
              <a:gd name="connsiteX6" fmla="*/ 4547380 w 4968876"/>
              <a:gd name="connsiteY6" fmla="*/ 536398 h 6858000"/>
              <a:gd name="connsiteX7" fmla="*/ 4482579 w 4968876"/>
              <a:gd name="connsiteY7" fmla="*/ 579359 h 6858000"/>
              <a:gd name="connsiteX8" fmla="*/ 4536878 w 4968876"/>
              <a:gd name="connsiteY8" fmla="*/ 594046 h 6858000"/>
              <a:gd name="connsiteX9" fmla="*/ 4666020 w 4968876"/>
              <a:gd name="connsiteY9" fmla="*/ 551453 h 6858000"/>
              <a:gd name="connsiteX10" fmla="*/ 4601449 w 4968876"/>
              <a:gd name="connsiteY10" fmla="*/ 494172 h 6858000"/>
              <a:gd name="connsiteX11" fmla="*/ 4666020 w 4968876"/>
              <a:gd name="connsiteY11" fmla="*/ 525016 h 6858000"/>
              <a:gd name="connsiteX12" fmla="*/ 4751252 w 4968876"/>
              <a:gd name="connsiteY12" fmla="*/ 467391 h 6858000"/>
              <a:gd name="connsiteX13" fmla="*/ 4758467 w 4968876"/>
              <a:gd name="connsiteY13" fmla="*/ 431058 h 6858000"/>
              <a:gd name="connsiteX14" fmla="*/ 4758475 w 4968876"/>
              <a:gd name="connsiteY14" fmla="*/ 431100 h 6858000"/>
              <a:gd name="connsiteX15" fmla="*/ 4758475 w 4968876"/>
              <a:gd name="connsiteY15" fmla="*/ 431017 h 6858000"/>
              <a:gd name="connsiteX16" fmla="*/ 4758475 w 4968876"/>
              <a:gd name="connsiteY16" fmla="*/ 428164 h 6858000"/>
              <a:gd name="connsiteX17" fmla="*/ 4686614 w 4968876"/>
              <a:gd name="connsiteY17" fmla="*/ 279916 h 6858000"/>
              <a:gd name="connsiteX18" fmla="*/ 4573689 w 4968876"/>
              <a:gd name="connsiteY18" fmla="*/ 209461 h 6858000"/>
              <a:gd name="connsiteX19" fmla="*/ 4563423 w 4968876"/>
              <a:gd name="connsiteY19" fmla="*/ 205058 h 6858000"/>
              <a:gd name="connsiteX20" fmla="*/ 0 w 4968876"/>
              <a:gd name="connsiteY20" fmla="*/ 0 h 6858000"/>
              <a:gd name="connsiteX21" fmla="*/ 4968876 w 4968876"/>
              <a:gd name="connsiteY21" fmla="*/ 0 h 6858000"/>
              <a:gd name="connsiteX22" fmla="*/ 4968876 w 4968876"/>
              <a:gd name="connsiteY22" fmla="*/ 6858000 h 6858000"/>
              <a:gd name="connsiteX23" fmla="*/ 0 w 496887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68876" h="6858000">
                <a:moveTo>
                  <a:pt x="4563423" y="205058"/>
                </a:moveTo>
                <a:cubicBezTo>
                  <a:pt x="4513560" y="265238"/>
                  <a:pt x="4339039" y="310740"/>
                  <a:pt x="4339039" y="436971"/>
                </a:cubicBezTo>
                <a:cubicBezTo>
                  <a:pt x="4339039" y="486876"/>
                  <a:pt x="4369837" y="533846"/>
                  <a:pt x="4416767" y="551459"/>
                </a:cubicBezTo>
                <a:cubicBezTo>
                  <a:pt x="4443165" y="561734"/>
                  <a:pt x="4469563" y="561734"/>
                  <a:pt x="4495961" y="552927"/>
                </a:cubicBezTo>
                <a:cubicBezTo>
                  <a:pt x="4507694" y="549258"/>
                  <a:pt x="4518326" y="543753"/>
                  <a:pt x="4528042" y="536965"/>
                </a:cubicBezTo>
                <a:lnTo>
                  <a:pt x="4554424" y="513474"/>
                </a:lnTo>
                <a:lnTo>
                  <a:pt x="4547380" y="536398"/>
                </a:lnTo>
                <a:cubicBezTo>
                  <a:pt x="4535685" y="558154"/>
                  <a:pt x="4511196" y="574953"/>
                  <a:pt x="4482579" y="579359"/>
                </a:cubicBezTo>
                <a:cubicBezTo>
                  <a:pt x="4491384" y="588171"/>
                  <a:pt x="4511930" y="594046"/>
                  <a:pt x="4536878" y="594046"/>
                </a:cubicBezTo>
                <a:cubicBezTo>
                  <a:pt x="4582371" y="594046"/>
                  <a:pt x="4638137" y="580827"/>
                  <a:pt x="4666020" y="551453"/>
                </a:cubicBezTo>
                <a:cubicBezTo>
                  <a:pt x="4627865" y="552921"/>
                  <a:pt x="4602917" y="527953"/>
                  <a:pt x="4601449" y="494172"/>
                </a:cubicBezTo>
                <a:cubicBezTo>
                  <a:pt x="4619059" y="516203"/>
                  <a:pt x="4641072" y="525016"/>
                  <a:pt x="4666020" y="525016"/>
                </a:cubicBezTo>
                <a:cubicBezTo>
                  <a:pt x="4704543" y="525016"/>
                  <a:pt x="4737287" y="501057"/>
                  <a:pt x="4751252" y="467391"/>
                </a:cubicBezTo>
                <a:lnTo>
                  <a:pt x="4758467" y="431058"/>
                </a:lnTo>
                <a:lnTo>
                  <a:pt x="4758475" y="431100"/>
                </a:lnTo>
                <a:lnTo>
                  <a:pt x="4758475" y="431017"/>
                </a:lnTo>
                <a:lnTo>
                  <a:pt x="4758475" y="428164"/>
                </a:lnTo>
                <a:cubicBezTo>
                  <a:pt x="4758475" y="369452"/>
                  <a:pt x="4729144" y="319547"/>
                  <a:pt x="4686614" y="279916"/>
                </a:cubicBezTo>
                <a:cubicBezTo>
                  <a:pt x="4654349" y="249092"/>
                  <a:pt x="4614752" y="227075"/>
                  <a:pt x="4573689" y="209461"/>
                </a:cubicBezTo>
                <a:cubicBezTo>
                  <a:pt x="4570755" y="207994"/>
                  <a:pt x="4567822" y="206526"/>
                  <a:pt x="4563423" y="205058"/>
                </a:cubicBezTo>
                <a:close/>
                <a:moveTo>
                  <a:pt x="0" y="0"/>
                </a:moveTo>
                <a:lnTo>
                  <a:pt x="4968876" y="0"/>
                </a:lnTo>
                <a:lnTo>
                  <a:pt x="496887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a:p>
        </p:txBody>
      </p:sp>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4" y="1161430"/>
            <a:ext cx="6627290" cy="1115442"/>
          </a:xfrm>
        </p:spPr>
        <p:txBody>
          <a:bodyPr vert="horz" lIns="0" tIns="0" rIns="0" bIns="0" rtlCol="0" anchor="b">
            <a:noAutofit/>
          </a:bodyPr>
          <a:lstStyle>
            <a:lvl1pPr>
              <a:defRPr lang="en-GB" sz="3600">
                <a:solidFill>
                  <a:schemeClr val="tx1"/>
                </a:solidFill>
              </a:defRPr>
            </a:lvl1pPr>
          </a:lstStyle>
          <a:p>
            <a:pPr lvl="0"/>
            <a:r>
              <a:rPr lang="en-US"/>
              <a:t>Click to edit Master title style</a:t>
            </a:r>
            <a:endParaRPr lang="en-GB"/>
          </a:p>
        </p:txBody>
      </p:sp>
      <p:sp>
        <p:nvSpPr>
          <p:cNvPr id="5" name="Text Placeholder 4">
            <a:extLst>
              <a:ext uri="{FF2B5EF4-FFF2-40B4-BE49-F238E27FC236}">
                <a16:creationId xmlns:a16="http://schemas.microsoft.com/office/drawing/2014/main" id="{D410FA47-1FF8-451B-8532-F1B477524FA0}"/>
              </a:ext>
            </a:extLst>
          </p:cNvPr>
          <p:cNvSpPr>
            <a:spLocks noGrp="1"/>
          </p:cNvSpPr>
          <p:nvPr>
            <p:ph type="body" sz="quarter" idx="11"/>
          </p:nvPr>
        </p:nvSpPr>
        <p:spPr>
          <a:xfrm>
            <a:off x="404813" y="2492374"/>
            <a:ext cx="6627290" cy="273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446734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Large title &amp; large RH image 1">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5586E72C-F96D-4BE1-996B-39A71EA977D3}"/>
              </a:ext>
            </a:extLst>
          </p:cNvPr>
          <p:cNvSpPr>
            <a:spLocks noGrp="1"/>
          </p:cNvSpPr>
          <p:nvPr>
            <p:ph type="pic" sz="quarter" idx="10"/>
          </p:nvPr>
        </p:nvSpPr>
        <p:spPr>
          <a:xfrm>
            <a:off x="5128004" y="0"/>
            <a:ext cx="7063996" cy="6858000"/>
          </a:xfrm>
          <a:custGeom>
            <a:avLst/>
            <a:gdLst>
              <a:gd name="connsiteX0" fmla="*/ 6658543 w 7063996"/>
              <a:gd name="connsiteY0" fmla="*/ 205058 h 6858000"/>
              <a:gd name="connsiteX1" fmla="*/ 6434159 w 7063996"/>
              <a:gd name="connsiteY1" fmla="*/ 436971 h 6858000"/>
              <a:gd name="connsiteX2" fmla="*/ 6511887 w 7063996"/>
              <a:gd name="connsiteY2" fmla="*/ 551459 h 6858000"/>
              <a:gd name="connsiteX3" fmla="*/ 6591081 w 7063996"/>
              <a:gd name="connsiteY3" fmla="*/ 552927 h 6858000"/>
              <a:gd name="connsiteX4" fmla="*/ 6623162 w 7063996"/>
              <a:gd name="connsiteY4" fmla="*/ 536965 h 6858000"/>
              <a:gd name="connsiteX5" fmla="*/ 6649544 w 7063996"/>
              <a:gd name="connsiteY5" fmla="*/ 513474 h 6858000"/>
              <a:gd name="connsiteX6" fmla="*/ 6642500 w 7063996"/>
              <a:gd name="connsiteY6" fmla="*/ 536398 h 6858000"/>
              <a:gd name="connsiteX7" fmla="*/ 6577699 w 7063996"/>
              <a:gd name="connsiteY7" fmla="*/ 579359 h 6858000"/>
              <a:gd name="connsiteX8" fmla="*/ 6631998 w 7063996"/>
              <a:gd name="connsiteY8" fmla="*/ 594046 h 6858000"/>
              <a:gd name="connsiteX9" fmla="*/ 6761140 w 7063996"/>
              <a:gd name="connsiteY9" fmla="*/ 551453 h 6858000"/>
              <a:gd name="connsiteX10" fmla="*/ 6696569 w 7063996"/>
              <a:gd name="connsiteY10" fmla="*/ 494172 h 6858000"/>
              <a:gd name="connsiteX11" fmla="*/ 6761140 w 7063996"/>
              <a:gd name="connsiteY11" fmla="*/ 525016 h 6858000"/>
              <a:gd name="connsiteX12" fmla="*/ 6846372 w 7063996"/>
              <a:gd name="connsiteY12" fmla="*/ 467391 h 6858000"/>
              <a:gd name="connsiteX13" fmla="*/ 6853587 w 7063996"/>
              <a:gd name="connsiteY13" fmla="*/ 431058 h 6858000"/>
              <a:gd name="connsiteX14" fmla="*/ 6853595 w 7063996"/>
              <a:gd name="connsiteY14" fmla="*/ 431100 h 6858000"/>
              <a:gd name="connsiteX15" fmla="*/ 6853595 w 7063996"/>
              <a:gd name="connsiteY15" fmla="*/ 431017 h 6858000"/>
              <a:gd name="connsiteX16" fmla="*/ 6853595 w 7063996"/>
              <a:gd name="connsiteY16" fmla="*/ 428164 h 6858000"/>
              <a:gd name="connsiteX17" fmla="*/ 6781734 w 7063996"/>
              <a:gd name="connsiteY17" fmla="*/ 279916 h 6858000"/>
              <a:gd name="connsiteX18" fmla="*/ 6668809 w 7063996"/>
              <a:gd name="connsiteY18" fmla="*/ 209461 h 6858000"/>
              <a:gd name="connsiteX19" fmla="*/ 6658543 w 7063996"/>
              <a:gd name="connsiteY19" fmla="*/ 205058 h 6858000"/>
              <a:gd name="connsiteX20" fmla="*/ 0 w 7063996"/>
              <a:gd name="connsiteY20" fmla="*/ 0 h 6858000"/>
              <a:gd name="connsiteX21" fmla="*/ 7063996 w 7063996"/>
              <a:gd name="connsiteY21" fmla="*/ 0 h 6858000"/>
              <a:gd name="connsiteX22" fmla="*/ 7063996 w 7063996"/>
              <a:gd name="connsiteY22" fmla="*/ 6858000 h 6858000"/>
              <a:gd name="connsiteX23" fmla="*/ 0 w 706399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63996" h="6858000">
                <a:moveTo>
                  <a:pt x="6658543" y="205058"/>
                </a:moveTo>
                <a:cubicBezTo>
                  <a:pt x="6608680" y="265238"/>
                  <a:pt x="6434159" y="310740"/>
                  <a:pt x="6434159" y="436971"/>
                </a:cubicBezTo>
                <a:cubicBezTo>
                  <a:pt x="6434159" y="486876"/>
                  <a:pt x="6464957" y="533846"/>
                  <a:pt x="6511887" y="551459"/>
                </a:cubicBezTo>
                <a:cubicBezTo>
                  <a:pt x="6538285" y="561734"/>
                  <a:pt x="6564683" y="561734"/>
                  <a:pt x="6591081" y="552927"/>
                </a:cubicBezTo>
                <a:cubicBezTo>
                  <a:pt x="6602814" y="549258"/>
                  <a:pt x="6613446" y="543753"/>
                  <a:pt x="6623162" y="536965"/>
                </a:cubicBezTo>
                <a:lnTo>
                  <a:pt x="6649544" y="513474"/>
                </a:lnTo>
                <a:lnTo>
                  <a:pt x="6642500" y="536398"/>
                </a:lnTo>
                <a:cubicBezTo>
                  <a:pt x="6630805" y="558154"/>
                  <a:pt x="6606316" y="574953"/>
                  <a:pt x="6577699" y="579359"/>
                </a:cubicBezTo>
                <a:cubicBezTo>
                  <a:pt x="6586504" y="588171"/>
                  <a:pt x="6607050" y="594046"/>
                  <a:pt x="6631998" y="594046"/>
                </a:cubicBezTo>
                <a:cubicBezTo>
                  <a:pt x="6677491" y="594046"/>
                  <a:pt x="6733257" y="580827"/>
                  <a:pt x="6761140" y="551453"/>
                </a:cubicBezTo>
                <a:cubicBezTo>
                  <a:pt x="6722985" y="552921"/>
                  <a:pt x="6698037" y="527953"/>
                  <a:pt x="6696569" y="494172"/>
                </a:cubicBezTo>
                <a:cubicBezTo>
                  <a:pt x="6714179" y="516203"/>
                  <a:pt x="6736192" y="525016"/>
                  <a:pt x="6761140" y="525016"/>
                </a:cubicBezTo>
                <a:cubicBezTo>
                  <a:pt x="6799663" y="525016"/>
                  <a:pt x="6832407" y="501057"/>
                  <a:pt x="6846372" y="467391"/>
                </a:cubicBezTo>
                <a:lnTo>
                  <a:pt x="6853587" y="431058"/>
                </a:lnTo>
                <a:lnTo>
                  <a:pt x="6853595" y="431100"/>
                </a:lnTo>
                <a:lnTo>
                  <a:pt x="6853595" y="431017"/>
                </a:lnTo>
                <a:lnTo>
                  <a:pt x="6853595" y="428164"/>
                </a:lnTo>
                <a:cubicBezTo>
                  <a:pt x="6853595" y="369452"/>
                  <a:pt x="6824264" y="319547"/>
                  <a:pt x="6781734" y="279916"/>
                </a:cubicBezTo>
                <a:cubicBezTo>
                  <a:pt x="6749469" y="249092"/>
                  <a:pt x="6709872" y="227075"/>
                  <a:pt x="6668809" y="209461"/>
                </a:cubicBezTo>
                <a:cubicBezTo>
                  <a:pt x="6665875" y="207994"/>
                  <a:pt x="6662942" y="206526"/>
                  <a:pt x="6658543" y="205058"/>
                </a:cubicBezTo>
                <a:close/>
                <a:moveTo>
                  <a:pt x="0" y="0"/>
                </a:moveTo>
                <a:lnTo>
                  <a:pt x="7063996" y="0"/>
                </a:lnTo>
                <a:lnTo>
                  <a:pt x="706399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a:p>
        </p:txBody>
      </p:sp>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3" y="692696"/>
            <a:ext cx="4562476" cy="2421466"/>
          </a:xfrm>
        </p:spPr>
        <p:txBody>
          <a:bodyPr vert="horz" lIns="72000" tIns="0" rIns="0" bIns="0" rtlCol="0" anchor="b">
            <a:noAutofit/>
          </a:bodyPr>
          <a:lstStyle>
            <a:lvl1pPr>
              <a:lnSpc>
                <a:spcPct val="80000"/>
              </a:lnSpc>
              <a:defRPr lang="en-GB" sz="5400">
                <a:solidFill>
                  <a:schemeClr val="bg1"/>
                </a:solidFill>
              </a:defRPr>
            </a:lvl1pPr>
          </a:lstStyle>
          <a:p>
            <a:pPr lvl="0"/>
            <a:r>
              <a:rPr lang="en-US"/>
              <a:t>Click to edit Master title style</a:t>
            </a:r>
            <a:endParaRPr lang="en-GB"/>
          </a:p>
        </p:txBody>
      </p:sp>
      <p:sp>
        <p:nvSpPr>
          <p:cNvPr id="10" name="Espace réservé du texte 9">
            <a:extLst>
              <a:ext uri="{FF2B5EF4-FFF2-40B4-BE49-F238E27FC236}">
                <a16:creationId xmlns:a16="http://schemas.microsoft.com/office/drawing/2014/main" id="{FC6DF15B-7249-491B-BFB7-9A33784178CD}"/>
              </a:ext>
            </a:extLst>
          </p:cNvPr>
          <p:cNvSpPr>
            <a:spLocks noGrp="1"/>
          </p:cNvSpPr>
          <p:nvPr>
            <p:ph type="body" sz="quarter" idx="12"/>
          </p:nvPr>
        </p:nvSpPr>
        <p:spPr>
          <a:xfrm>
            <a:off x="404813" y="3573040"/>
            <a:ext cx="4395787" cy="2808288"/>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18173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cSld name="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175490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urpl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212653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Full picture white Pik">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92293178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Dark grey">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192561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ull picture blue Pi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100140972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Final Slide 1">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189663" y="2940700"/>
            <a:ext cx="5018905"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a:solidFill>
                  <a:schemeClr val="lt1"/>
                </a:solidFill>
                <a:effectLst/>
                <a:latin typeface="+mn-lt"/>
                <a:ea typeface="+mn-ea"/>
                <a:cs typeface="+mn-cs"/>
              </a:rPr>
              <a:t>Capgemini Engineering combines, under one brand, a unique set of strengths from across the Capgemini Group: the world leading engineering and R&amp;D services of Altran – acquired by Capgemini in 2020 - and Capgemini’s digital manufacturing expertise. With broad industry knowledge and cutting-edge technologies in digital and software, Capgemini Engineering supports the convergence of the physical and digital worlds. Combined with the capabilities of the rest of the Group, it helps clients to accelerate their journey towards Intelligent Industry. Capgemini Engineering has more than 52,000 engineer and scientist team members in over 30 countries across sectors including aeronautics, automotive, railways, communications, energy, life sciences, semiconductors, software &amp; internet, space &amp; defence, and consumer products.</a:t>
            </a:r>
            <a:endParaRPr lang="en-US" sz="900" kern="1200">
              <a:solidFill>
                <a:schemeClr val="lt1"/>
              </a:solidFill>
              <a:effectLst/>
              <a:latin typeface="+mn-lt"/>
              <a:ea typeface="+mn-ea"/>
              <a:cs typeface="+mn-cs"/>
            </a:endParaRPr>
          </a:p>
          <a:p>
            <a:pPr algn="just"/>
            <a:r>
              <a:rPr lang="en-GB" sz="900" i="1" kern="1200">
                <a:solidFill>
                  <a:schemeClr val="lt1"/>
                </a:solidFill>
                <a:effectLst/>
                <a:latin typeface="+mn-lt"/>
                <a:ea typeface="+mn-ea"/>
                <a:cs typeface="+mn-cs"/>
              </a:rPr>
              <a:t> </a:t>
            </a:r>
            <a:endParaRPr lang="en-US" sz="900" kern="1200">
              <a:solidFill>
                <a:schemeClr val="lt1"/>
              </a:solidFill>
              <a:effectLst/>
              <a:latin typeface="+mn-lt"/>
              <a:ea typeface="+mn-ea"/>
              <a:cs typeface="+mn-cs"/>
            </a:endParaRPr>
          </a:p>
          <a:p>
            <a:pPr algn="just"/>
            <a:r>
              <a:rPr lang="en-GB" sz="900" kern="1200">
                <a:solidFill>
                  <a:schemeClr val="lt1"/>
                </a:solidFill>
                <a:effectLst/>
                <a:latin typeface="+mn-lt"/>
                <a:ea typeface="+mn-ea"/>
                <a:cs typeface="+mn-cs"/>
              </a:rPr>
              <a:t>Capgemini Engineering is an integral part of the Capgemini Group, a global leader in partnering with companies to transform and manage their business by harnessing the power of technology. The Group is guided every day by its purpose of unleashing human energy through technology for an inclusive and sustainable future. It is a responsible and diverse organization of 270,000 team members in nearly 50 countries. With its strong 50-year heritage and deep industry expertise, Capgemini is trusted by its clients to address the entire breadth of their business needs, from strategy and design to operations, </a:t>
            </a:r>
            <a:r>
              <a:rPr lang="en-GB" sz="900" kern="1200" err="1">
                <a:solidFill>
                  <a:schemeClr val="lt1"/>
                </a:solidFill>
                <a:effectLst/>
                <a:latin typeface="+mn-lt"/>
                <a:ea typeface="+mn-ea"/>
                <a:cs typeface="+mn-cs"/>
              </a:rPr>
              <a:t>fueled</a:t>
            </a:r>
            <a:r>
              <a:rPr lang="en-GB" sz="900" kern="1200">
                <a:solidFill>
                  <a:schemeClr val="lt1"/>
                </a:solidFill>
                <a:effectLst/>
                <a:latin typeface="+mn-lt"/>
                <a:ea typeface="+mn-ea"/>
                <a:cs typeface="+mn-cs"/>
              </a:rPr>
              <a:t> by the fast evolving and innovative world of cloud, data, AI, connectivity, software, digital engineering and platforms. The Group reported in 2020 global revenues of €16 billion.</a:t>
            </a:r>
            <a:endParaRPr lang="en-US" sz="900" kern="1200">
              <a:solidFill>
                <a:schemeClr val="lt1"/>
              </a:solidFill>
              <a:effectLst/>
              <a:latin typeface="+mn-lt"/>
              <a:ea typeface="+mn-ea"/>
              <a:cs typeface="+mn-cs"/>
            </a:endParaRPr>
          </a:p>
        </p:txBody>
      </p:sp>
      <p:sp>
        <p:nvSpPr>
          <p:cNvPr id="15" name="Rectangle 14"/>
          <p:cNvSpPr/>
          <p:nvPr/>
        </p:nvSpPr>
        <p:spPr>
          <a:xfrm>
            <a:off x="6189662" y="2561436"/>
            <a:ext cx="3434729" cy="2286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 Engineering</a:t>
            </a:r>
          </a:p>
        </p:txBody>
      </p:sp>
      <p:sp>
        <p:nvSpPr>
          <p:cNvPr id="16" name="Rectangle 15"/>
          <p:cNvSpPr/>
          <p:nvPr/>
        </p:nvSpPr>
        <p:spPr>
          <a:xfrm>
            <a:off x="6189663" y="5789250"/>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www.capgemini.com/capgemini-engineering</a:t>
            </a:r>
          </a:p>
        </p:txBody>
      </p:sp>
      <p:pic>
        <p:nvPicPr>
          <p:cNvPr id="22" name="Image 21">
            <a:extLst>
              <a:ext uri="{FF2B5EF4-FFF2-40B4-BE49-F238E27FC236}">
                <a16:creationId xmlns:a16="http://schemas.microsoft.com/office/drawing/2014/main" id="{E9CD4BEE-AC1B-4828-9AD6-0878E178A2BD}"/>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616265"/>
            <a:ext cx="5040000" cy="1241373"/>
          </a:xfrm>
          <a:prstGeom prst="rect">
            <a:avLst/>
          </a:prstGeom>
        </p:spPr>
      </p:pic>
    </p:spTree>
    <p:extLst>
      <p:ext uri="{BB962C8B-B14F-4D97-AF65-F5344CB8AC3E}">
        <p14:creationId xmlns:p14="http://schemas.microsoft.com/office/powerpoint/2010/main" val="2473641435"/>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2_Final Slide 2">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21226509">
            <a:off x="1143292" y="1478132"/>
            <a:ext cx="9702386" cy="5695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60" name="Rectangle 59"/>
          <p:cNvSpPr/>
          <p:nvPr>
            <p:custDataLst>
              <p:tags r:id="rId1"/>
            </p:custDataLst>
          </p:nvPr>
        </p:nvSpPr>
        <p:spPr>
          <a:xfrm>
            <a:off x="6324599" y="1079805"/>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079805"/>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43730"/>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43730"/>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6468B09D-6011-4B56-9735-A05D4E49D101}"/>
              </a:ext>
            </a:extLst>
          </p:cNvPr>
          <p:cNvSpPr/>
          <p:nvPr userDrawn="1"/>
        </p:nvSpPr>
        <p:spPr>
          <a:xfrm>
            <a:off x="404813" y="1447577"/>
            <a:ext cx="5018905"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a:solidFill>
                  <a:schemeClr val="lt1"/>
                </a:solidFill>
                <a:effectLst/>
                <a:latin typeface="+mn-lt"/>
                <a:ea typeface="+mn-ea"/>
                <a:cs typeface="+mn-cs"/>
              </a:rPr>
              <a:t>Capgemini Engineering combines, under one brand, a unique set of strengths from across the Capgemini Group: the world leading engineering and R&amp;D services of Altran – acquired by Capgemini in 2020 - and Capgemini’s digital manufacturing expertise. With broad industry knowledge and cutting-edge technologies in digital and software, Capgemini Engineering supports the convergence of the physical and digital worlds. Combined with the capabilities of the rest of the Group, it helps clients to accelerate their journey towards Intelligent Industry. Capgemini Engineering has more than 52,000 engineer and scientist team members in over 30 countries across sectors including aeronautics, automotive, railways, communications, energy, life sciences, semiconductors, software &amp; internet, space &amp; defence, and consumer products.</a:t>
            </a:r>
            <a:endParaRPr lang="en-US" sz="900" kern="1200">
              <a:solidFill>
                <a:schemeClr val="lt1"/>
              </a:solidFill>
              <a:effectLst/>
              <a:latin typeface="+mn-lt"/>
              <a:ea typeface="+mn-ea"/>
              <a:cs typeface="+mn-cs"/>
            </a:endParaRPr>
          </a:p>
          <a:p>
            <a:pPr algn="just"/>
            <a:r>
              <a:rPr lang="en-GB" sz="900" i="1" kern="1200">
                <a:solidFill>
                  <a:schemeClr val="lt1"/>
                </a:solidFill>
                <a:effectLst/>
                <a:latin typeface="+mn-lt"/>
                <a:ea typeface="+mn-ea"/>
                <a:cs typeface="+mn-cs"/>
              </a:rPr>
              <a:t> </a:t>
            </a:r>
            <a:endParaRPr lang="en-US" sz="900" kern="1200">
              <a:solidFill>
                <a:schemeClr val="lt1"/>
              </a:solidFill>
              <a:effectLst/>
              <a:latin typeface="+mn-lt"/>
              <a:ea typeface="+mn-ea"/>
              <a:cs typeface="+mn-cs"/>
            </a:endParaRPr>
          </a:p>
          <a:p>
            <a:pPr algn="just"/>
            <a:r>
              <a:rPr lang="en-GB" sz="900" kern="1200">
                <a:solidFill>
                  <a:schemeClr val="lt1"/>
                </a:solidFill>
                <a:effectLst/>
                <a:latin typeface="+mn-lt"/>
                <a:ea typeface="+mn-ea"/>
                <a:cs typeface="+mn-cs"/>
              </a:rPr>
              <a:t>Capgemini Engineering is an integral part of the Capgemini Group, a global leader in partnering with companies to transform and manage their business by harnessing the power of technology. The Group is guided every day by its purpose of unleashing human energy through technology for an inclusive and sustainable future. It is a responsible and diverse organization of 270,000 team members in nearly 50 countries. With its strong 50-year heritage and deep industry expertise, Capgemini is trusted by its clients to address the entire breadth of their business needs, from strategy and design to operations, </a:t>
            </a:r>
            <a:r>
              <a:rPr lang="en-GB" sz="900" kern="1200" err="1">
                <a:solidFill>
                  <a:schemeClr val="lt1"/>
                </a:solidFill>
                <a:effectLst/>
                <a:latin typeface="+mn-lt"/>
                <a:ea typeface="+mn-ea"/>
                <a:cs typeface="+mn-cs"/>
              </a:rPr>
              <a:t>fueled</a:t>
            </a:r>
            <a:r>
              <a:rPr lang="en-GB" sz="900" kern="1200">
                <a:solidFill>
                  <a:schemeClr val="lt1"/>
                </a:solidFill>
                <a:effectLst/>
                <a:latin typeface="+mn-lt"/>
                <a:ea typeface="+mn-ea"/>
                <a:cs typeface="+mn-cs"/>
              </a:rPr>
              <a:t> by the fast evolving and innovative world of cloud, data, AI, connectivity, software, digital engineering and platforms. The Group reported in 2020 global revenues of €16 billion.</a:t>
            </a:r>
            <a:endParaRPr lang="en-US" sz="900" kern="1200">
              <a:solidFill>
                <a:schemeClr val="lt1"/>
              </a:solidFill>
              <a:effectLst/>
              <a:latin typeface="+mn-lt"/>
              <a:ea typeface="+mn-ea"/>
              <a:cs typeface="+mn-cs"/>
            </a:endParaRPr>
          </a:p>
        </p:txBody>
      </p:sp>
      <p:sp>
        <p:nvSpPr>
          <p:cNvPr id="27" name="Rectangle 26">
            <a:extLst>
              <a:ext uri="{FF2B5EF4-FFF2-40B4-BE49-F238E27FC236}">
                <a16:creationId xmlns:a16="http://schemas.microsoft.com/office/drawing/2014/main" id="{9AD00A87-77BA-46AB-A551-7BD88CF47F24}"/>
              </a:ext>
            </a:extLst>
          </p:cNvPr>
          <p:cNvSpPr/>
          <p:nvPr userDrawn="1"/>
        </p:nvSpPr>
        <p:spPr>
          <a:xfrm>
            <a:off x="404812" y="1068313"/>
            <a:ext cx="3314919" cy="2286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 Engineering</a:t>
            </a:r>
          </a:p>
        </p:txBody>
      </p:sp>
      <p:sp>
        <p:nvSpPr>
          <p:cNvPr id="28" name="Rectangle 27">
            <a:extLst>
              <a:ext uri="{FF2B5EF4-FFF2-40B4-BE49-F238E27FC236}">
                <a16:creationId xmlns:a16="http://schemas.microsoft.com/office/drawing/2014/main" id="{FD222ADB-2B00-4AE2-8AB6-BC8CDF1AC7E1}"/>
              </a:ext>
            </a:extLst>
          </p:cNvPr>
          <p:cNvSpPr/>
          <p:nvPr userDrawn="1"/>
        </p:nvSpPr>
        <p:spPr>
          <a:xfrm>
            <a:off x="404813" y="4296127"/>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www.capgemini.com/capgemini-engineering</a:t>
            </a:r>
          </a:p>
        </p:txBody>
      </p:sp>
      <p:pic>
        <p:nvPicPr>
          <p:cNvPr id="29" name="Image 28">
            <a:extLst>
              <a:ext uri="{FF2B5EF4-FFF2-40B4-BE49-F238E27FC236}">
                <a16:creationId xmlns:a16="http://schemas.microsoft.com/office/drawing/2014/main" id="{6A821CDD-5961-4FA5-87E4-74C804B1D08B}"/>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6744013" y="5369182"/>
            <a:ext cx="5040000" cy="1241373"/>
          </a:xfrm>
          <a:prstGeom prst="rect">
            <a:avLst/>
          </a:prstGeom>
        </p:spPr>
      </p:pic>
    </p:spTree>
    <p:extLst>
      <p:ext uri="{BB962C8B-B14F-4D97-AF65-F5344CB8AC3E}">
        <p14:creationId xmlns:p14="http://schemas.microsoft.com/office/powerpoint/2010/main" val="113763083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Final Slide 1">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7AF4EB1-5AB5-4D69-B603-BD5E0E5EB29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16265"/>
            <a:ext cx="5040000" cy="1241373"/>
          </a:xfrm>
          <a:prstGeom prst="rect">
            <a:avLst/>
          </a:prstGeom>
        </p:spPr>
      </p:pic>
    </p:spTree>
    <p:extLst>
      <p:ext uri="{BB962C8B-B14F-4D97-AF65-F5344CB8AC3E}">
        <p14:creationId xmlns:p14="http://schemas.microsoft.com/office/powerpoint/2010/main" val="2098089678"/>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Large title">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6003700"/>
            <a:ext cx="11277600" cy="822325"/>
          </a:xfrm>
        </p:spPr>
        <p:txBody>
          <a:bodyPr lIns="36000" tIns="14400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p:nvPr>
        </p:nvSpPr>
        <p:spPr>
          <a:xfrm>
            <a:off x="457200" y="1644650"/>
            <a:ext cx="11277600" cy="3567113"/>
          </a:xfrm>
        </p:spPr>
        <p:txBody>
          <a:bodyPr anchor="ctr" anchorCtr="0">
            <a:normAutofit/>
          </a:bodyPr>
          <a:lstStyle>
            <a:lvl1pPr marL="0" indent="0" algn="l">
              <a:lnSpc>
                <a:spcPct val="70000"/>
              </a:lnSpc>
              <a:buFontTx/>
              <a:buNone/>
              <a:defRPr sz="80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6" name="Image 5">
            <a:extLst>
              <a:ext uri="{FF2B5EF4-FFF2-40B4-BE49-F238E27FC236}">
                <a16:creationId xmlns:a16="http://schemas.microsoft.com/office/drawing/2014/main" id="{5D00B2F4-B880-4403-995C-72F76AB9E9B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996" y="94849"/>
            <a:ext cx="5040000" cy="1241373"/>
          </a:xfrm>
          <a:prstGeom prst="rect">
            <a:avLst/>
          </a:prstGeom>
        </p:spPr>
      </p:pic>
    </p:spTree>
    <p:extLst>
      <p:ext uri="{BB962C8B-B14F-4D97-AF65-F5344CB8AC3E}">
        <p14:creationId xmlns:p14="http://schemas.microsoft.com/office/powerpoint/2010/main" val="3341173703"/>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11" name="Image 10">
            <a:extLst>
              <a:ext uri="{FF2B5EF4-FFF2-40B4-BE49-F238E27FC236}">
                <a16:creationId xmlns:a16="http://schemas.microsoft.com/office/drawing/2014/main" id="{A8AE6BC1-D482-4FEE-B93D-34AEB21E678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72000" y="187155"/>
            <a:ext cx="5220000" cy="1285708"/>
          </a:xfrm>
          <a:prstGeom prst="rect">
            <a:avLst/>
          </a:prstGeom>
        </p:spPr>
      </p:pic>
    </p:spTree>
    <p:extLst>
      <p:ext uri="{BB962C8B-B14F-4D97-AF65-F5344CB8AC3E}">
        <p14:creationId xmlns:p14="http://schemas.microsoft.com/office/powerpoint/2010/main" val="4239261452"/>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9" name="Image 8">
            <a:extLst>
              <a:ext uri="{FF2B5EF4-FFF2-40B4-BE49-F238E27FC236}">
                <a16:creationId xmlns:a16="http://schemas.microsoft.com/office/drawing/2014/main" id="{501B836C-608B-4CFC-BA8A-FAE25C58580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996" y="94849"/>
            <a:ext cx="5040000" cy="1241373"/>
          </a:xfrm>
          <a:prstGeom prst="rect">
            <a:avLst/>
          </a:prstGeom>
        </p:spPr>
      </p:pic>
    </p:spTree>
    <p:extLst>
      <p:ext uri="{BB962C8B-B14F-4D97-AF65-F5344CB8AC3E}">
        <p14:creationId xmlns:p14="http://schemas.microsoft.com/office/powerpoint/2010/main" val="3595660099"/>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lide 3 Full Picture">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Image 4">
            <a:extLst>
              <a:ext uri="{FF2B5EF4-FFF2-40B4-BE49-F238E27FC236}">
                <a16:creationId xmlns:a16="http://schemas.microsoft.com/office/drawing/2014/main" id="{B20902B5-3596-438E-9BA1-2E01D91CB4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72000" y="187155"/>
            <a:ext cx="5220000" cy="1285708"/>
          </a:xfrm>
          <a:prstGeom prst="rect">
            <a:avLst/>
          </a:prstGeom>
        </p:spPr>
      </p:pic>
    </p:spTree>
    <p:extLst>
      <p:ext uri="{BB962C8B-B14F-4D97-AF65-F5344CB8AC3E}">
        <p14:creationId xmlns:p14="http://schemas.microsoft.com/office/powerpoint/2010/main" val="2011594873"/>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24707159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18892678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88960790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90388307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66968337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2684309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92909283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01365067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and content light Gre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0188479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Section Break dark">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1846665673"/>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Title and full screen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8688115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cSld name="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506260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Purpl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249235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Full picture white Pik">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175158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Full picture blue Pi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385927608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Final Slide 1">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189663" y="2940700"/>
            <a:ext cx="5018905"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a:solidFill>
                  <a:schemeClr val="lt1"/>
                </a:solidFill>
                <a:effectLst/>
                <a:latin typeface="+mn-lt"/>
                <a:ea typeface="+mn-ea"/>
                <a:cs typeface="+mn-cs"/>
              </a:rPr>
              <a:t>Capgemini Engineering combines, under one brand, a unique set of strengths from across the Capgemini Group: the world leading engineering and R&amp;D services of Altran – acquired by Capgemini in 2020 - and Capgemini’s digital manufacturing expertise. With broad industry knowledge and cutting-edge technologies in digital and software, Capgemini Engineering supports the convergence of the physical and digital worlds. Combined with the capabilities of the rest of the Group, it helps clients to accelerate their journey towards Intelligent Industry. Capgemini Engineering has more than 52,000 engineer and scientist team members in over 30 countries across sectors including aeronautics, automotive, railways, communications, energy, life sciences, semiconductors, software &amp; internet, space &amp; defence, and consumer products.</a:t>
            </a:r>
            <a:endParaRPr lang="en-US" sz="900" kern="1200">
              <a:solidFill>
                <a:schemeClr val="lt1"/>
              </a:solidFill>
              <a:effectLst/>
              <a:latin typeface="+mn-lt"/>
              <a:ea typeface="+mn-ea"/>
              <a:cs typeface="+mn-cs"/>
            </a:endParaRPr>
          </a:p>
          <a:p>
            <a:pPr algn="just"/>
            <a:r>
              <a:rPr lang="en-GB" sz="900" i="1" kern="1200">
                <a:solidFill>
                  <a:schemeClr val="lt1"/>
                </a:solidFill>
                <a:effectLst/>
                <a:latin typeface="+mn-lt"/>
                <a:ea typeface="+mn-ea"/>
                <a:cs typeface="+mn-cs"/>
              </a:rPr>
              <a:t> </a:t>
            </a:r>
            <a:endParaRPr lang="en-US" sz="900" kern="1200">
              <a:solidFill>
                <a:schemeClr val="lt1"/>
              </a:solidFill>
              <a:effectLst/>
              <a:latin typeface="+mn-lt"/>
              <a:ea typeface="+mn-ea"/>
              <a:cs typeface="+mn-cs"/>
            </a:endParaRPr>
          </a:p>
          <a:p>
            <a:pPr algn="just"/>
            <a:r>
              <a:rPr lang="en-GB" sz="900" kern="1200">
                <a:solidFill>
                  <a:schemeClr val="lt1"/>
                </a:solidFill>
                <a:effectLst/>
                <a:latin typeface="+mn-lt"/>
                <a:ea typeface="+mn-ea"/>
                <a:cs typeface="+mn-cs"/>
              </a:rPr>
              <a:t>Capgemini Engineering is an integral part of the Capgemini Group, a global leader in partnering with companies to transform and manage their business by harnessing the power of technology. The Group is guided every day by its purpose of unleashing human energy through technology for an inclusive and sustainable future. It is a responsible and diverse organization of 270,000 team members in nearly 50 countries. With its strong 50-year heritage and deep industry expertise, Capgemini is trusted by its clients to address the entire breadth of their business needs, from strategy and design to operations, </a:t>
            </a:r>
            <a:r>
              <a:rPr lang="en-GB" sz="900" kern="1200" err="1">
                <a:solidFill>
                  <a:schemeClr val="lt1"/>
                </a:solidFill>
                <a:effectLst/>
                <a:latin typeface="+mn-lt"/>
                <a:ea typeface="+mn-ea"/>
                <a:cs typeface="+mn-cs"/>
              </a:rPr>
              <a:t>fueled</a:t>
            </a:r>
            <a:r>
              <a:rPr lang="en-GB" sz="900" kern="1200">
                <a:solidFill>
                  <a:schemeClr val="lt1"/>
                </a:solidFill>
                <a:effectLst/>
                <a:latin typeface="+mn-lt"/>
                <a:ea typeface="+mn-ea"/>
                <a:cs typeface="+mn-cs"/>
              </a:rPr>
              <a:t> by the fast evolving and innovative world of cloud, data, AI, connectivity, software, digital engineering and platforms. The Group reported in 2020 global revenues of €16 billion.</a:t>
            </a:r>
            <a:endParaRPr lang="en-US" sz="900" kern="1200">
              <a:solidFill>
                <a:schemeClr val="lt1"/>
              </a:solidFill>
              <a:effectLst/>
              <a:latin typeface="+mn-lt"/>
              <a:ea typeface="+mn-ea"/>
              <a:cs typeface="+mn-cs"/>
            </a:endParaRPr>
          </a:p>
        </p:txBody>
      </p:sp>
      <p:sp>
        <p:nvSpPr>
          <p:cNvPr id="15" name="Rectangle 14"/>
          <p:cNvSpPr/>
          <p:nvPr/>
        </p:nvSpPr>
        <p:spPr>
          <a:xfrm>
            <a:off x="6189662" y="2561436"/>
            <a:ext cx="3434729" cy="2286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 Engineering</a:t>
            </a:r>
          </a:p>
        </p:txBody>
      </p:sp>
      <p:sp>
        <p:nvSpPr>
          <p:cNvPr id="16" name="Rectangle 15"/>
          <p:cNvSpPr/>
          <p:nvPr/>
        </p:nvSpPr>
        <p:spPr>
          <a:xfrm>
            <a:off x="6189663" y="5789250"/>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www.capgemini.com/capgemini-engineering</a:t>
            </a:r>
          </a:p>
        </p:txBody>
      </p:sp>
      <p:pic>
        <p:nvPicPr>
          <p:cNvPr id="22" name="Image 21">
            <a:extLst>
              <a:ext uri="{FF2B5EF4-FFF2-40B4-BE49-F238E27FC236}">
                <a16:creationId xmlns:a16="http://schemas.microsoft.com/office/drawing/2014/main" id="{E9CD4BEE-AC1B-4828-9AD6-0878E178A2BD}"/>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616265"/>
            <a:ext cx="5040000" cy="1241373"/>
          </a:xfrm>
          <a:prstGeom prst="rect">
            <a:avLst/>
          </a:prstGeom>
        </p:spPr>
      </p:pic>
    </p:spTree>
    <p:extLst>
      <p:ext uri="{BB962C8B-B14F-4D97-AF65-F5344CB8AC3E}">
        <p14:creationId xmlns:p14="http://schemas.microsoft.com/office/powerpoint/2010/main" val="2556786840"/>
      </p:ext>
    </p:extLst>
  </p:cSld>
  <p:clrMapOvr>
    <a:masterClrMapping/>
  </p:clrMapOvr>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2_Final Slide 2">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21226509">
            <a:off x="1143292" y="1478132"/>
            <a:ext cx="9702386" cy="5695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60" name="Rectangle 59"/>
          <p:cNvSpPr/>
          <p:nvPr>
            <p:custDataLst>
              <p:tags r:id="rId1"/>
            </p:custDataLst>
          </p:nvPr>
        </p:nvSpPr>
        <p:spPr>
          <a:xfrm>
            <a:off x="6324599" y="1079805"/>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079805"/>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43730"/>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43730"/>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6468B09D-6011-4B56-9735-A05D4E49D101}"/>
              </a:ext>
            </a:extLst>
          </p:cNvPr>
          <p:cNvSpPr/>
          <p:nvPr userDrawn="1"/>
        </p:nvSpPr>
        <p:spPr>
          <a:xfrm>
            <a:off x="404813" y="1447577"/>
            <a:ext cx="5018905"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a:solidFill>
                  <a:schemeClr val="lt1"/>
                </a:solidFill>
                <a:effectLst/>
                <a:latin typeface="+mn-lt"/>
                <a:ea typeface="+mn-ea"/>
                <a:cs typeface="+mn-cs"/>
              </a:rPr>
              <a:t>Capgemini Engineering combines, under one brand, a unique set of strengths from across the Capgemini Group: the world leading engineering and R&amp;D services of Altran – acquired by Capgemini in 2020 - and Capgemini’s digital manufacturing expertise. With broad industry knowledge and cutting-edge technologies in digital and software, Capgemini Engineering supports the convergence of the physical and digital worlds. Combined with the capabilities of the rest of the Group, it helps clients to accelerate their journey towards Intelligent Industry. Capgemini Engineering has more than 52,000 engineer and scientist team members in over 30 countries across sectors including aeronautics, automotive, railways, communications, energy, life sciences, semiconductors, software &amp; internet, space &amp; defence, and consumer products.</a:t>
            </a:r>
            <a:endParaRPr lang="en-US" sz="900" kern="1200">
              <a:solidFill>
                <a:schemeClr val="lt1"/>
              </a:solidFill>
              <a:effectLst/>
              <a:latin typeface="+mn-lt"/>
              <a:ea typeface="+mn-ea"/>
              <a:cs typeface="+mn-cs"/>
            </a:endParaRPr>
          </a:p>
          <a:p>
            <a:pPr algn="just"/>
            <a:r>
              <a:rPr lang="en-GB" sz="900" i="1" kern="1200">
                <a:solidFill>
                  <a:schemeClr val="lt1"/>
                </a:solidFill>
                <a:effectLst/>
                <a:latin typeface="+mn-lt"/>
                <a:ea typeface="+mn-ea"/>
                <a:cs typeface="+mn-cs"/>
              </a:rPr>
              <a:t> </a:t>
            </a:r>
            <a:endParaRPr lang="en-US" sz="900" kern="1200">
              <a:solidFill>
                <a:schemeClr val="lt1"/>
              </a:solidFill>
              <a:effectLst/>
              <a:latin typeface="+mn-lt"/>
              <a:ea typeface="+mn-ea"/>
              <a:cs typeface="+mn-cs"/>
            </a:endParaRPr>
          </a:p>
          <a:p>
            <a:pPr algn="just"/>
            <a:r>
              <a:rPr lang="en-GB" sz="900" kern="1200">
                <a:solidFill>
                  <a:schemeClr val="lt1"/>
                </a:solidFill>
                <a:effectLst/>
                <a:latin typeface="+mn-lt"/>
                <a:ea typeface="+mn-ea"/>
                <a:cs typeface="+mn-cs"/>
              </a:rPr>
              <a:t>Capgemini Engineering is an integral part of the Capgemini Group, a global leader in partnering with companies to transform and manage their business by harnessing the power of technology. The Group is guided every day by its purpose of unleashing human energy through technology for an inclusive and sustainable future. It is a responsible and diverse organization of 270,000 team members in nearly 50 countries. With its strong 50-year heritage and deep industry expertise, Capgemini is trusted by its clients to address the entire breadth of their business needs, from strategy and design to operations, </a:t>
            </a:r>
            <a:r>
              <a:rPr lang="en-GB" sz="900" kern="1200" err="1">
                <a:solidFill>
                  <a:schemeClr val="lt1"/>
                </a:solidFill>
                <a:effectLst/>
                <a:latin typeface="+mn-lt"/>
                <a:ea typeface="+mn-ea"/>
                <a:cs typeface="+mn-cs"/>
              </a:rPr>
              <a:t>fueled</a:t>
            </a:r>
            <a:r>
              <a:rPr lang="en-GB" sz="900" kern="1200">
                <a:solidFill>
                  <a:schemeClr val="lt1"/>
                </a:solidFill>
                <a:effectLst/>
                <a:latin typeface="+mn-lt"/>
                <a:ea typeface="+mn-ea"/>
                <a:cs typeface="+mn-cs"/>
              </a:rPr>
              <a:t> by the fast evolving and innovative world of cloud, data, AI, connectivity, software, digital engineering and platforms. The Group reported in 2020 global revenues of €16 billion.</a:t>
            </a:r>
            <a:endParaRPr lang="en-US" sz="900" kern="1200">
              <a:solidFill>
                <a:schemeClr val="lt1"/>
              </a:solidFill>
              <a:effectLst/>
              <a:latin typeface="+mn-lt"/>
              <a:ea typeface="+mn-ea"/>
              <a:cs typeface="+mn-cs"/>
            </a:endParaRPr>
          </a:p>
        </p:txBody>
      </p:sp>
      <p:sp>
        <p:nvSpPr>
          <p:cNvPr id="27" name="Rectangle 26">
            <a:extLst>
              <a:ext uri="{FF2B5EF4-FFF2-40B4-BE49-F238E27FC236}">
                <a16:creationId xmlns:a16="http://schemas.microsoft.com/office/drawing/2014/main" id="{9AD00A87-77BA-46AB-A551-7BD88CF47F24}"/>
              </a:ext>
            </a:extLst>
          </p:cNvPr>
          <p:cNvSpPr/>
          <p:nvPr userDrawn="1"/>
        </p:nvSpPr>
        <p:spPr>
          <a:xfrm>
            <a:off x="404812" y="1068313"/>
            <a:ext cx="3314919" cy="2286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 Engineering</a:t>
            </a:r>
          </a:p>
        </p:txBody>
      </p:sp>
      <p:sp>
        <p:nvSpPr>
          <p:cNvPr id="28" name="Rectangle 27">
            <a:extLst>
              <a:ext uri="{FF2B5EF4-FFF2-40B4-BE49-F238E27FC236}">
                <a16:creationId xmlns:a16="http://schemas.microsoft.com/office/drawing/2014/main" id="{FD222ADB-2B00-4AE2-8AB6-BC8CDF1AC7E1}"/>
              </a:ext>
            </a:extLst>
          </p:cNvPr>
          <p:cNvSpPr/>
          <p:nvPr userDrawn="1"/>
        </p:nvSpPr>
        <p:spPr>
          <a:xfrm>
            <a:off x="404813" y="4296127"/>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www.capgemini.com/capgemini-engineering</a:t>
            </a:r>
          </a:p>
        </p:txBody>
      </p:sp>
      <p:pic>
        <p:nvPicPr>
          <p:cNvPr id="29" name="Image 28">
            <a:extLst>
              <a:ext uri="{FF2B5EF4-FFF2-40B4-BE49-F238E27FC236}">
                <a16:creationId xmlns:a16="http://schemas.microsoft.com/office/drawing/2014/main" id="{6A821CDD-5961-4FA5-87E4-74C804B1D08B}"/>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6744013" y="5369182"/>
            <a:ext cx="5040000" cy="1241373"/>
          </a:xfrm>
          <a:prstGeom prst="rect">
            <a:avLst/>
          </a:prstGeom>
        </p:spPr>
      </p:pic>
    </p:spTree>
    <p:extLst>
      <p:ext uri="{BB962C8B-B14F-4D97-AF65-F5344CB8AC3E}">
        <p14:creationId xmlns:p14="http://schemas.microsoft.com/office/powerpoint/2010/main" val="284230521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1_Final Slide 1">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7AF4EB1-5AB5-4D69-B603-BD5E0E5EB29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16265"/>
            <a:ext cx="5040000" cy="1241373"/>
          </a:xfrm>
          <a:prstGeom prst="rect">
            <a:avLst/>
          </a:prstGeom>
        </p:spPr>
      </p:pic>
    </p:spTree>
    <p:extLst>
      <p:ext uri="{BB962C8B-B14F-4D97-AF65-F5344CB8AC3E}">
        <p14:creationId xmlns:p14="http://schemas.microsoft.com/office/powerpoint/2010/main" val="196035681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tags" Target="../tags/tag1.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image" Target="../media/image2.emf"/><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oleObject" Target="../embeddings/oleObject1.bin"/><Relationship Id="rId10" Type="http://schemas.openxmlformats.org/officeDocument/2006/relationships/slideLayout" Target="../slideLayouts/slideLayout22.xml"/><Relationship Id="rId19" Type="http://schemas.openxmlformats.org/officeDocument/2006/relationships/slideLayout" Target="../slideLayouts/slideLayout31.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18" Type="http://schemas.openxmlformats.org/officeDocument/2006/relationships/slideLayout" Target="../slideLayouts/slideLayout54.xml"/><Relationship Id="rId26" Type="http://schemas.openxmlformats.org/officeDocument/2006/relationships/theme" Target="../theme/theme3.xml"/><Relationship Id="rId3" Type="http://schemas.openxmlformats.org/officeDocument/2006/relationships/slideLayout" Target="../slideLayouts/slideLayout39.xml"/><Relationship Id="rId21" Type="http://schemas.openxmlformats.org/officeDocument/2006/relationships/slideLayout" Target="../slideLayouts/slideLayout57.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5" Type="http://schemas.openxmlformats.org/officeDocument/2006/relationships/slideLayout" Target="../slideLayouts/slideLayout61.xml"/><Relationship Id="rId2" Type="http://schemas.openxmlformats.org/officeDocument/2006/relationships/slideLayout" Target="../slideLayouts/slideLayout38.xml"/><Relationship Id="rId16" Type="http://schemas.openxmlformats.org/officeDocument/2006/relationships/slideLayout" Target="../slideLayouts/slideLayout52.xml"/><Relationship Id="rId20" Type="http://schemas.openxmlformats.org/officeDocument/2006/relationships/slideLayout" Target="../slideLayouts/slideLayout56.xml"/><Relationship Id="rId29" Type="http://schemas.openxmlformats.org/officeDocument/2006/relationships/oleObject" Target="../embeddings/oleObject1.bin"/><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24" Type="http://schemas.openxmlformats.org/officeDocument/2006/relationships/slideLayout" Target="../slideLayouts/slideLayout60.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23" Type="http://schemas.openxmlformats.org/officeDocument/2006/relationships/slideLayout" Target="../slideLayouts/slideLayout59.xml"/><Relationship Id="rId28" Type="http://schemas.openxmlformats.org/officeDocument/2006/relationships/image" Target="../media/image1.png"/><Relationship Id="rId10" Type="http://schemas.openxmlformats.org/officeDocument/2006/relationships/slideLayout" Target="../slideLayouts/slideLayout46.xml"/><Relationship Id="rId19" Type="http://schemas.openxmlformats.org/officeDocument/2006/relationships/slideLayout" Target="../slideLayouts/slideLayout55.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 Id="rId22" Type="http://schemas.openxmlformats.org/officeDocument/2006/relationships/slideLayout" Target="../slideLayouts/slideLayout58.xml"/><Relationship Id="rId27" Type="http://schemas.openxmlformats.org/officeDocument/2006/relationships/tags" Target="../tags/tag9.xml"/><Relationship Id="rId30" Type="http://schemas.openxmlformats.org/officeDocument/2006/relationships/image" Target="../media/image2.emf"/></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slideLayout" Target="../slideLayouts/slideLayout74.xml"/><Relationship Id="rId18" Type="http://schemas.openxmlformats.org/officeDocument/2006/relationships/slideLayout" Target="../slideLayouts/slideLayout79.xml"/><Relationship Id="rId26" Type="http://schemas.openxmlformats.org/officeDocument/2006/relationships/image" Target="../media/image2.emf"/><Relationship Id="rId3" Type="http://schemas.openxmlformats.org/officeDocument/2006/relationships/slideLayout" Target="../slideLayouts/slideLayout64.xml"/><Relationship Id="rId21" Type="http://schemas.openxmlformats.org/officeDocument/2006/relationships/slideLayout" Target="../slideLayouts/slideLayout82.xml"/><Relationship Id="rId7" Type="http://schemas.openxmlformats.org/officeDocument/2006/relationships/slideLayout" Target="../slideLayouts/slideLayout68.xml"/><Relationship Id="rId12" Type="http://schemas.openxmlformats.org/officeDocument/2006/relationships/slideLayout" Target="../slideLayouts/slideLayout73.xml"/><Relationship Id="rId17" Type="http://schemas.openxmlformats.org/officeDocument/2006/relationships/slideLayout" Target="../slideLayouts/slideLayout78.xml"/><Relationship Id="rId25" Type="http://schemas.openxmlformats.org/officeDocument/2006/relationships/oleObject" Target="../embeddings/oleObject1.bin"/><Relationship Id="rId2" Type="http://schemas.openxmlformats.org/officeDocument/2006/relationships/slideLayout" Target="../slideLayouts/slideLayout63.xml"/><Relationship Id="rId16" Type="http://schemas.openxmlformats.org/officeDocument/2006/relationships/slideLayout" Target="../slideLayouts/slideLayout77.xml"/><Relationship Id="rId20" Type="http://schemas.openxmlformats.org/officeDocument/2006/relationships/slideLayout" Target="../slideLayouts/slideLayout81.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24" Type="http://schemas.openxmlformats.org/officeDocument/2006/relationships/image" Target="../media/image1.png"/><Relationship Id="rId5" Type="http://schemas.openxmlformats.org/officeDocument/2006/relationships/slideLayout" Target="../slideLayouts/slideLayout66.xml"/><Relationship Id="rId15" Type="http://schemas.openxmlformats.org/officeDocument/2006/relationships/slideLayout" Target="../slideLayouts/slideLayout76.xml"/><Relationship Id="rId23" Type="http://schemas.openxmlformats.org/officeDocument/2006/relationships/tags" Target="../tags/tag17.xml"/><Relationship Id="rId10" Type="http://schemas.openxmlformats.org/officeDocument/2006/relationships/slideLayout" Target="../slideLayouts/slideLayout71.xml"/><Relationship Id="rId19" Type="http://schemas.openxmlformats.org/officeDocument/2006/relationships/slideLayout" Target="../slideLayouts/slideLayout80.xml"/><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slideLayout" Target="../slideLayouts/slideLayout75.xml"/><Relationship Id="rId2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hhh</a:t>
            </a: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04BB38-747B-4994-9B8D-B168AF305C05}" type="slidenum">
              <a:rPr lang="fr-FR" smtClean="0"/>
              <a:t>‹#›</a:t>
            </a:fld>
            <a:endParaRPr lang="fr-FR"/>
          </a:p>
        </p:txBody>
      </p:sp>
    </p:spTree>
    <p:extLst>
      <p:ext uri="{BB962C8B-B14F-4D97-AF65-F5344CB8AC3E}">
        <p14:creationId xmlns:p14="http://schemas.microsoft.com/office/powerpoint/2010/main" val="952775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86"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7">
            <a:lum/>
          </a:blip>
          <a:srcRect/>
          <a:stretch>
            <a:fillRect/>
          </a:stretch>
        </a:blip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6"/>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8" imgW="270" imgH="270" progId="TCLayout.ActiveDocument.1">
                  <p:embed/>
                </p:oleObj>
              </mc:Choice>
              <mc:Fallback>
                <p:oleObj name="think-cell Slide" r:id="rId28" imgW="270" imgH="270" progId="TCLayout.ActiveDocument.1">
                  <p:embed/>
                  <p:pic>
                    <p:nvPicPr>
                      <p:cNvPr id="21" name="Object 20" hidden="1"/>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Presentation Title  |  Author  |  Date</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37159418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Lst>
  <p:hf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8">
            <a:lum/>
          </a:blip>
          <a:srcRect/>
          <a:stretch>
            <a:fillRect/>
          </a:stretch>
        </a:blip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7"/>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9" imgW="270" imgH="270" progId="TCLayout.ActiveDocument.1">
                  <p:embed/>
                </p:oleObj>
              </mc:Choice>
              <mc:Fallback>
                <p:oleObj name="think-cell Slide" r:id="rId29" imgW="270" imgH="270" progId="TCLayout.ActiveDocument.1">
                  <p:embed/>
                  <p:pic>
                    <p:nvPicPr>
                      <p:cNvPr id="21" name="Object 20" hidden="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Presentation Title  |  Author  |  Date</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268796553"/>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 id="2147483705" r:id="rId18"/>
    <p:sldLayoutId id="2147483706" r:id="rId19"/>
    <p:sldLayoutId id="2147483707" r:id="rId20"/>
    <p:sldLayoutId id="2147483708" r:id="rId21"/>
    <p:sldLayoutId id="2147483709" r:id="rId22"/>
    <p:sldLayoutId id="2147483710" r:id="rId23"/>
    <p:sldLayoutId id="2147483711" r:id="rId24"/>
    <p:sldLayoutId id="2147483712" r:id="rId25"/>
  </p:sldLayoutIdLst>
  <p:hf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4">
            <a:lum/>
          </a:blip>
          <a:srcRect/>
          <a:stretch>
            <a:fillRect/>
          </a:stretch>
        </a:blip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3"/>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5" imgW="270" imgH="270" progId="TCLayout.ActiveDocument.1">
                  <p:embed/>
                </p:oleObj>
              </mc:Choice>
              <mc:Fallback>
                <p:oleObj name="think-cell Slide" r:id="rId25" imgW="270" imgH="270" progId="TCLayout.ActiveDocument.1">
                  <p:embed/>
                  <p:pic>
                    <p:nvPicPr>
                      <p:cNvPr id="21" name="Object 20" hidden="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MANAGING APOQUA ACTIVITY  |  ZAINEB ELBOUROUMI  |  09/05/2023</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3652160333"/>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12.xml"/><Relationship Id="rId5" Type="http://schemas.microsoft.com/office/2007/relationships/hdphoto" Target="../media/hdphoto1.wdp"/><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6.png"/><Relationship Id="rId5" Type="http://schemas.microsoft.com/office/2007/relationships/hdphoto" Target="../media/hdphoto3.wdp"/><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07/relationships/hdphoto" Target="../media/hdphoto4.wdp"/><Relationship Id="rId7" Type="http://schemas.microsoft.com/office/2007/relationships/hdphoto" Target="../media/hdphoto6.wdp"/><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9.png"/><Relationship Id="rId5" Type="http://schemas.microsoft.com/office/2007/relationships/hdphoto" Target="../media/hdphoto5.wdp"/><Relationship Id="rId4" Type="http://schemas.openxmlformats.org/officeDocument/2006/relationships/image" Target="../media/image18.png"/><Relationship Id="rId9"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16.png"/><Relationship Id="rId5" Type="http://schemas.microsoft.com/office/2007/relationships/hdphoto" Target="../media/hdphoto12.wdp"/><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8" Type="http://schemas.openxmlformats.org/officeDocument/2006/relationships/image" Target="../media/image16.png"/><Relationship Id="rId3" Type="http://schemas.microsoft.com/office/2007/relationships/hdphoto" Target="../media/hdphoto13.wdp"/><Relationship Id="rId7" Type="http://schemas.microsoft.com/office/2007/relationships/hdphoto" Target="../media/hdphoto15.wdp"/><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5.png"/><Relationship Id="rId5" Type="http://schemas.microsoft.com/office/2007/relationships/hdphoto" Target="../media/hdphoto14.wdp"/><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8" Type="http://schemas.openxmlformats.org/officeDocument/2006/relationships/image" Target="../media/image16.png"/><Relationship Id="rId3" Type="http://schemas.microsoft.com/office/2007/relationships/hdphoto" Target="../media/hdphoto16.wdp"/><Relationship Id="rId7" Type="http://schemas.microsoft.com/office/2007/relationships/hdphoto" Target="../media/hdphoto18.wdp"/><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38.png"/><Relationship Id="rId5" Type="http://schemas.microsoft.com/office/2007/relationships/hdphoto" Target="../media/hdphoto17.wdp"/><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microsoft.com/office/2007/relationships/hdphoto" Target="../media/hdphoto19.wdp"/><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20.wdp"/><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hyperlink" Target="http://docinfogroupe.inetpsa.com/ead/doc/ref.GTN_RNPP04_0043/v.vc/fiche" TargetMode="External"/><Relationship Id="rId13" Type="http://schemas.openxmlformats.org/officeDocument/2006/relationships/image" Target="../media/image16.png"/><Relationship Id="rId3" Type="http://schemas.openxmlformats.org/officeDocument/2006/relationships/hyperlink" Target="http://docinfogroupe.inetpsa.com/ead/doc/ref.01266_16_00718/v.vc/fiche" TargetMode="External"/><Relationship Id="rId7" Type="http://schemas.openxmlformats.org/officeDocument/2006/relationships/hyperlink" Target="http://docinfogroupe.inetpsa.com/ead/doc/ref.01266_15_00644/v.vc/fiche" TargetMode="External"/><Relationship Id="rId12" Type="http://schemas.openxmlformats.org/officeDocument/2006/relationships/hyperlink" Target="http://docinfogroupe.inetpsa.com/ead/doc/ref.CMON_MEM07_0918/v.vc/fiche" TargetMode="External"/><Relationship Id="rId2" Type="http://schemas.openxmlformats.org/officeDocument/2006/relationships/hyperlink" Target="http://process-fabrication.inetpsa.com/ProcessFabrication/index.html" TargetMode="External"/><Relationship Id="rId1" Type="http://schemas.openxmlformats.org/officeDocument/2006/relationships/slideLayout" Target="../slideLayouts/slideLayout2.xml"/><Relationship Id="rId6" Type="http://schemas.openxmlformats.org/officeDocument/2006/relationships/hyperlink" Target="http://docinfogroupe.inetpsa.com/ead/doc/ref.01266_15_00825/v.vc/fiche" TargetMode="External"/><Relationship Id="rId11" Type="http://schemas.openxmlformats.org/officeDocument/2006/relationships/hyperlink" Target="http://docinfogroupe.inetpsa.com/ead/doc/ref.01266_16_00230/v.vc/fiche" TargetMode="External"/><Relationship Id="rId5" Type="http://schemas.openxmlformats.org/officeDocument/2006/relationships/hyperlink" Target="http://docinfogroupe.inetpsa.com/ead/doc/ref.01266_19_00118/v.vc/fiche" TargetMode="External"/><Relationship Id="rId10" Type="http://schemas.openxmlformats.org/officeDocument/2006/relationships/hyperlink" Target="http://docinfogroupe.inetpsa.com/ead/doc/ref.01266_22_00006/v.vc/fiche" TargetMode="External"/><Relationship Id="rId4" Type="http://schemas.openxmlformats.org/officeDocument/2006/relationships/hyperlink" Target="http://docinfogroupe.inetpsa.com/ead/doc/ref.01266_20_00612/v.vc/fiche" TargetMode="External"/><Relationship Id="rId9" Type="http://schemas.openxmlformats.org/officeDocument/2006/relationships/hyperlink" Target="http://docinfogroupe.inetpsa.com/ead/doc/ref.01266_19_00373/v.vc/fich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723C66ED-DBBF-12CA-7F5E-813E0E7D036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622"/>
            <a:ext cx="12192000" cy="6894986"/>
            <a:chOff x="0" y="-7622"/>
            <a:chExt cx="12192000" cy="6894986"/>
          </a:xfrm>
        </p:grpSpPr>
        <p:sp>
          <p:nvSpPr>
            <p:cNvPr id="11" name="Rectangle 10">
              <a:extLst>
                <a:ext uri="{FF2B5EF4-FFF2-40B4-BE49-F238E27FC236}">
                  <a16:creationId xmlns:a16="http://schemas.microsoft.com/office/drawing/2014/main" id="{E3002B52-2669-1ED7-2E0F-0627FC31DF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2E9EC0D-91EA-9D35-F655-335C580AB3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770627C-B480-1145-72DC-5B59DBE04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9F81D39-93D1-019C-74DC-4710F53346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9127281" y="7060"/>
              <a:ext cx="3064320" cy="6872683"/>
            </a:xfrm>
            <a:prstGeom prst="rect">
              <a:avLst/>
            </a:prstGeom>
            <a:gradFill flip="none" rotWithShape="1">
              <a:gsLst>
                <a:gs pos="0">
                  <a:schemeClr val="accent2">
                    <a:alpha val="58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pic>
        <p:nvPicPr>
          <p:cNvPr id="5" name="Image 4" descr="Une image contenant objets en métal, vis, Quincaillerie, attache&#10;&#10;Description générée automatiquement">
            <a:extLst>
              <a:ext uri="{FF2B5EF4-FFF2-40B4-BE49-F238E27FC236}">
                <a16:creationId xmlns:a16="http://schemas.microsoft.com/office/drawing/2014/main" id="{AC421A2D-10E9-E71E-E1F0-D627457714CF}"/>
              </a:ext>
            </a:extLst>
          </p:cNvPr>
          <p:cNvPicPr>
            <a:picLocks noChangeAspect="1"/>
          </p:cNvPicPr>
          <p:nvPr/>
        </p:nvPicPr>
        <p:blipFill rotWithShape="1">
          <a:blip r:embed="rId2">
            <a:alphaModFix amt="59000"/>
            <a:extLst>
              <a:ext uri="{28A0092B-C50C-407E-A947-70E740481C1C}">
                <a14:useLocalDpi xmlns:a14="http://schemas.microsoft.com/office/drawing/2010/main" val="0"/>
              </a:ext>
            </a:extLst>
          </a:blip>
          <a:srcRect r="428" b="2"/>
          <a:stretch/>
        </p:blipFill>
        <p:spPr>
          <a:xfrm>
            <a:off x="-10634" y="7057"/>
            <a:ext cx="12192000" cy="6843883"/>
          </a:xfrm>
          <a:prstGeom prst="rect">
            <a:avLst/>
          </a:prstGeom>
        </p:spPr>
      </p:pic>
      <p:sp>
        <p:nvSpPr>
          <p:cNvPr id="6" name="Subtitle 11">
            <a:extLst>
              <a:ext uri="{FF2B5EF4-FFF2-40B4-BE49-F238E27FC236}">
                <a16:creationId xmlns:a16="http://schemas.microsoft.com/office/drawing/2014/main" id="{CAA52C73-6D9D-9817-6946-FB70B16BFA07}"/>
              </a:ext>
            </a:extLst>
          </p:cNvPr>
          <p:cNvSpPr>
            <a:spLocks noGrp="1"/>
          </p:cNvSpPr>
          <p:nvPr>
            <p:ph type="subTitle" idx="1"/>
          </p:nvPr>
        </p:nvSpPr>
        <p:spPr>
          <a:xfrm>
            <a:off x="450398" y="5649501"/>
            <a:ext cx="11386134" cy="1133644"/>
          </a:xfrm>
        </p:spPr>
        <p:txBody>
          <a:bodyPr/>
          <a:lstStyle/>
          <a:p>
            <a:pPr algn="ctr"/>
            <a:r>
              <a:rPr lang="en-GB" b="1">
                <a:effectLst>
                  <a:outerShdw blurRad="38100" dist="38100" dir="2700000" algn="tl">
                    <a:srgbClr val="000000">
                      <a:alpha val="43137"/>
                    </a:srgbClr>
                  </a:outerShdw>
                </a:effectLst>
              </a:rPr>
              <a:t>Version 1.0</a:t>
            </a:r>
          </a:p>
          <a:p>
            <a:pPr algn="ctr"/>
            <a:r>
              <a:rPr lang="en-GB" b="1" err="1">
                <a:effectLst>
                  <a:outerShdw blurRad="38100" dist="38100" dir="2700000" algn="tl">
                    <a:srgbClr val="000000">
                      <a:alpha val="43137"/>
                    </a:srgbClr>
                  </a:outerShdw>
                </a:effectLst>
              </a:rPr>
              <a:t>Pilote</a:t>
            </a:r>
            <a:r>
              <a:rPr lang="en-GB" b="1">
                <a:effectLst>
                  <a:outerShdw blurRad="38100" dist="38100" dir="2700000" algn="tl">
                    <a:srgbClr val="000000">
                      <a:alpha val="43137"/>
                    </a:srgbClr>
                  </a:outerShdw>
                </a:effectLst>
              </a:rPr>
              <a:t> Technique : Zaineb EL BOUROUMI.</a:t>
            </a:r>
          </a:p>
          <a:p>
            <a:pPr algn="ctr"/>
            <a:endParaRPr lang="en-GB" b="1">
              <a:effectLst>
                <a:outerShdw blurRad="38100" dist="38100" dir="2700000" algn="tl">
                  <a:srgbClr val="000000">
                    <a:alpha val="43137"/>
                  </a:srgbClr>
                </a:outerShdw>
              </a:effectLst>
            </a:endParaRPr>
          </a:p>
        </p:txBody>
      </p:sp>
      <p:pic>
        <p:nvPicPr>
          <p:cNvPr id="7" name="Image 6">
            <a:extLst>
              <a:ext uri="{FF2B5EF4-FFF2-40B4-BE49-F238E27FC236}">
                <a16:creationId xmlns:a16="http://schemas.microsoft.com/office/drawing/2014/main" id="{7683D11B-E883-BA1D-5155-5208FF944B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27468" y="-227822"/>
            <a:ext cx="5220000" cy="1285708"/>
          </a:xfrm>
          <a:prstGeom prst="rect">
            <a:avLst/>
          </a:prstGeom>
        </p:spPr>
      </p:pic>
      <p:sp>
        <p:nvSpPr>
          <p:cNvPr id="8" name="Title 3">
            <a:extLst>
              <a:ext uri="{FF2B5EF4-FFF2-40B4-BE49-F238E27FC236}">
                <a16:creationId xmlns:a16="http://schemas.microsoft.com/office/drawing/2014/main" id="{D83F13BD-6683-2FF8-2CC9-B49C8D096D46}"/>
              </a:ext>
            </a:extLst>
          </p:cNvPr>
          <p:cNvSpPr txBox="1">
            <a:spLocks/>
          </p:cNvSpPr>
          <p:nvPr/>
        </p:nvSpPr>
        <p:spPr>
          <a:xfrm flipH="1">
            <a:off x="-355467" y="1567960"/>
            <a:ext cx="12191999" cy="2991588"/>
          </a:xfrm>
          <a:prstGeom prst="rect">
            <a:avLst/>
          </a:prstGeom>
        </p:spPr>
        <p:txBody>
          <a:bodyPr vert="horz" wrap="square" lIns="0" tIns="0" rIns="0" bIns="0" rtlCol="0" anchor="b">
            <a:sp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7200" b="1" u="none" strike="noStrike" kern="1200" cap="all" spc="0" normalizeH="0" baseline="0" noProof="0">
                <a:ln>
                  <a:noFill/>
                </a:ln>
                <a:solidFill>
                  <a:srgbClr val="002060"/>
                </a:solidFill>
                <a:uLnTx/>
                <a:uFillTx/>
                <a:latin typeface="Times New Roman" panose="02020603050405020304" pitchFamily="18" charset="0"/>
                <a:cs typeface="Times New Roman" panose="02020603050405020304" pitchFamily="18" charset="0"/>
              </a:rPr>
              <a:t> GUIDE </a:t>
            </a:r>
            <a:r>
              <a:rPr lang="en-GB" sz="7200" b="1">
                <a:solidFill>
                  <a:srgbClr val="002060"/>
                </a:solidFill>
                <a:latin typeface="Times New Roman" panose="02020603050405020304" pitchFamily="18" charset="0"/>
                <a:cs typeface="Times New Roman" panose="02020603050405020304" pitchFamily="18" charset="0"/>
              </a:rPr>
              <a:t>AMELIORATION POSTE QUALITE (APOQUA)</a:t>
            </a:r>
            <a:endParaRPr kumimoji="0" lang="en-GB" sz="7200" b="1" u="none" strike="noStrike" kern="1200" cap="all" spc="0" normalizeH="0" baseline="0" noProof="0">
              <a:ln>
                <a:noFill/>
              </a:ln>
              <a:solidFill>
                <a:srgbClr val="002060"/>
              </a:solidFill>
              <a:uLnTx/>
              <a:uFillTx/>
              <a:latin typeface="Times New Roman" panose="02020603050405020304" pitchFamily="18" charset="0"/>
              <a:cs typeface="Times New Roman" panose="02020603050405020304" pitchFamily="18" charset="0"/>
            </a:endParaRPr>
          </a:p>
        </p:txBody>
      </p:sp>
      <p:pic>
        <p:nvPicPr>
          <p:cNvPr id="20" name="Image 19" descr="Une image contenant texte, Police, logo, Graphique">
            <a:extLst>
              <a:ext uri="{FF2B5EF4-FFF2-40B4-BE49-F238E27FC236}">
                <a16:creationId xmlns:a16="http://schemas.microsoft.com/office/drawing/2014/main" id="{B5E462F1-2947-BC2B-CD8A-B9EF90126429}"/>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24888" b="47921" l="17019" r="78887">
                        <a14:foregroundMark x1="19834" y1="26488" x2="19834" y2="26488"/>
                        <a14:foregroundMark x1="40755" y1="35829" x2="40755" y2="35829"/>
                        <a14:foregroundMark x1="43442" y1="31798" x2="43442" y2="31798"/>
                        <a14:foregroundMark x1="53871" y1="28855" x2="53871" y2="28855"/>
                        <a14:foregroundMark x1="60589" y1="36596" x2="60589" y2="36596"/>
                        <a14:foregroundMark x1="67562" y1="33781" x2="67562" y2="33781"/>
                        <a14:foregroundMark x1="78247" y1="27831" x2="78247" y2="27831"/>
                        <a14:foregroundMark x1="78183" y1="37620" x2="78183" y2="37620"/>
                        <a14:foregroundMark x1="78503" y1="34677" x2="78503" y2="34677"/>
                        <a14:foregroundMark x1="78183" y1="33077" x2="78183" y2="33077"/>
                        <a14:foregroundMark x1="77991" y1="31478" x2="77991" y2="31478"/>
                        <a14:foregroundMark x1="17019" y1="25336" x2="17019" y2="25336"/>
                        <a14:foregroundMark x1="62508" y1="42930" x2="62508" y2="42930"/>
                        <a14:foregroundMark x1="59821" y1="43122" x2="59821" y2="43122"/>
                        <a14:foregroundMark x1="56366" y1="42610" x2="56366" y2="42610"/>
                        <a14:foregroundMark x1="65579" y1="43314" x2="65579" y2="43314"/>
                        <a14:foregroundMark x1="69482" y1="42930" x2="69482" y2="42930"/>
                        <a14:foregroundMark x1="65963" y1="42866" x2="65963" y2="42866"/>
                        <a14:foregroundMark x1="74408" y1="43762" x2="74408" y2="43762"/>
                        <a14:foregroundMark x1="72105" y1="42610" x2="72105" y2="42610"/>
                        <a14:foregroundMark x1="78887" y1="43122" x2="78887" y2="43122"/>
                        <a14:foregroundMark x1="49456" y1="42418" x2="49456" y2="42418"/>
                        <a14:foregroundMark x1="46257" y1="43058" x2="46257" y2="43058"/>
                        <a14:foregroundMark x1="43634" y1="42226" x2="43634" y2="42226"/>
                        <a14:foregroundMark x1="40243" y1="42226" x2="40243" y2="42226"/>
                        <a14:foregroundMark x1="43826" y1="41651" x2="43826" y2="41651"/>
                        <a14:foregroundMark x1="44146" y1="29303" x2="44146" y2="29303"/>
                        <a14:foregroundMark x1="45042" y1="29303" x2="45042" y2="29303"/>
                        <a14:foregroundMark x1="45298" y1="30134" x2="45298" y2="30134"/>
                        <a14:foregroundMark x1="63276" y1="42226" x2="63276" y2="42226"/>
                        <a14:foregroundMark x1="66411" y1="43378" x2="66411" y2="43378"/>
                        <a14:backgroundMark x1="44850" y1="29239" x2="44850" y2="29239"/>
                        <a14:backgroundMark x1="43634" y1="42866" x2="43634" y2="42866"/>
                        <a14:backgroundMark x1="40179" y1="42674" x2="40179" y2="42674"/>
                        <a14:backgroundMark x1="66219" y1="42866" x2="66219" y2="42866"/>
                        <a14:backgroundMark x1="74408" y1="42930" x2="74408" y2="42930"/>
                        <a14:backgroundMark x1="65963" y1="42994" x2="65963" y2="42994"/>
                      </a14:backgroundRemoval>
                    </a14:imgEffect>
                  </a14:imgLayer>
                </a14:imgProps>
              </a:ext>
            </a:extLst>
          </a:blip>
          <a:srcRect l="11392" t="22147" r="14039" b="49172"/>
          <a:stretch>
            <a:fillRect/>
          </a:stretch>
        </p:blipFill>
        <p:spPr>
          <a:xfrm>
            <a:off x="-10634" y="74855"/>
            <a:ext cx="1768925" cy="680354"/>
          </a:xfrm>
          <a:prstGeom prst="rect">
            <a:avLst/>
          </a:prstGeom>
          <a:noFill/>
          <a:ln cap="flat">
            <a:noFill/>
          </a:ln>
        </p:spPr>
      </p:pic>
    </p:spTree>
    <p:extLst>
      <p:ext uri="{BB962C8B-B14F-4D97-AF65-F5344CB8AC3E}">
        <p14:creationId xmlns:p14="http://schemas.microsoft.com/office/powerpoint/2010/main" val="772269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48856" y="233916"/>
            <a:ext cx="3735757" cy="400110"/>
          </a:xfrm>
          <a:prstGeom prst="rect">
            <a:avLst/>
          </a:prstGeom>
          <a:noFill/>
        </p:spPr>
        <p:txBody>
          <a:bodyPr wrap="square" rtlCol="0">
            <a:spAutoFit/>
          </a:bodyPr>
          <a:lstStyle/>
          <a:p>
            <a:r>
              <a:rPr lang="fr-FR" sz="2000" b="1" i="1">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DEFINITION ET OBJECTIF </a:t>
            </a:r>
          </a:p>
        </p:txBody>
      </p:sp>
      <p:cxnSp>
        <p:nvCxnSpPr>
          <p:cNvPr id="5" name="Connecteur droit 4"/>
          <p:cNvCxnSpPr/>
          <p:nvPr/>
        </p:nvCxnSpPr>
        <p:spPr>
          <a:xfrm>
            <a:off x="148857" y="608844"/>
            <a:ext cx="11850638" cy="25182"/>
          </a:xfrm>
          <a:prstGeom prst="line">
            <a:avLst/>
          </a:prstGeom>
        </p:spPr>
        <p:style>
          <a:lnRef idx="1">
            <a:schemeClr val="accent1"/>
          </a:lnRef>
          <a:fillRef idx="0">
            <a:schemeClr val="accent1"/>
          </a:fillRef>
          <a:effectRef idx="0">
            <a:schemeClr val="accent1"/>
          </a:effectRef>
          <a:fontRef idx="minor">
            <a:schemeClr val="tx1"/>
          </a:fontRef>
        </p:style>
      </p:cxnSp>
      <p:sp>
        <p:nvSpPr>
          <p:cNvPr id="6" name="ZoneTexte 5"/>
          <p:cNvSpPr txBox="1"/>
          <p:nvPr/>
        </p:nvSpPr>
        <p:spPr>
          <a:xfrm>
            <a:off x="148857" y="775665"/>
            <a:ext cx="11850638" cy="923330"/>
          </a:xfrm>
          <a:prstGeom prst="rect">
            <a:avLst/>
          </a:prstGeom>
          <a:noFill/>
        </p:spPr>
        <p:txBody>
          <a:bodyPr wrap="square" rtlCol="0">
            <a:spAutoFit/>
          </a:bodyPr>
          <a:lstStyle/>
          <a:p>
            <a:pPr algn="just"/>
            <a:r>
              <a:rPr lang="fr-FR">
                <a:latin typeface="Times New Roman" panose="02020603050405020304" pitchFamily="18" charset="0"/>
                <a:cs typeface="Times New Roman" panose="02020603050405020304" pitchFamily="18" charset="0"/>
              </a:rPr>
              <a:t>L’ </a:t>
            </a:r>
            <a:r>
              <a:rPr lang="fr-FR" b="1" i="1">
                <a:latin typeface="Times New Roman" panose="02020603050405020304" pitchFamily="18" charset="0"/>
                <a:cs typeface="Times New Roman" panose="02020603050405020304" pitchFamily="18" charset="0"/>
              </a:rPr>
              <a:t>APOQUA</a:t>
            </a:r>
            <a:r>
              <a:rPr lang="fr-FR">
                <a:latin typeface="Times New Roman" panose="02020603050405020304" pitchFamily="18" charset="0"/>
                <a:cs typeface="Times New Roman" panose="02020603050405020304" pitchFamily="18" charset="0"/>
              </a:rPr>
              <a:t> c’est l’abréviation des mots </a:t>
            </a:r>
            <a:r>
              <a:rPr lang="fr-FR" b="1" i="1">
                <a:latin typeface="Times New Roman" panose="02020603050405020304" pitchFamily="18" charset="0"/>
                <a:cs typeface="Times New Roman" panose="02020603050405020304" pitchFamily="18" charset="0"/>
              </a:rPr>
              <a:t>A</a:t>
            </a:r>
            <a:r>
              <a:rPr lang="fr-FR">
                <a:latin typeface="Times New Roman" panose="02020603050405020304" pitchFamily="18" charset="0"/>
                <a:cs typeface="Times New Roman" panose="02020603050405020304" pitchFamily="18" charset="0"/>
              </a:rPr>
              <a:t>mélioration </a:t>
            </a:r>
            <a:r>
              <a:rPr lang="fr-FR" b="1" i="1" err="1">
                <a:latin typeface="Times New Roman" panose="02020603050405020304" pitchFamily="18" charset="0"/>
                <a:cs typeface="Times New Roman" panose="02020603050405020304" pitchFamily="18" charset="0"/>
              </a:rPr>
              <a:t>PO</a:t>
            </a:r>
            <a:r>
              <a:rPr lang="fr-FR" err="1">
                <a:latin typeface="Times New Roman" panose="02020603050405020304" pitchFamily="18" charset="0"/>
                <a:cs typeface="Times New Roman" panose="02020603050405020304" pitchFamily="18" charset="0"/>
              </a:rPr>
              <a:t>ste</a:t>
            </a:r>
            <a:r>
              <a:rPr lang="fr-FR">
                <a:latin typeface="Times New Roman" panose="02020603050405020304" pitchFamily="18" charset="0"/>
                <a:cs typeface="Times New Roman" panose="02020603050405020304" pitchFamily="18" charset="0"/>
              </a:rPr>
              <a:t> </a:t>
            </a:r>
            <a:r>
              <a:rPr lang="fr-FR" b="1" i="1" err="1">
                <a:latin typeface="Times New Roman" panose="02020603050405020304" pitchFamily="18" charset="0"/>
                <a:cs typeface="Times New Roman" panose="02020603050405020304" pitchFamily="18" charset="0"/>
              </a:rPr>
              <a:t>QUA</a:t>
            </a:r>
            <a:r>
              <a:rPr lang="fr-FR" err="1">
                <a:latin typeface="Times New Roman" panose="02020603050405020304" pitchFamily="18" charset="0"/>
                <a:cs typeface="Times New Roman" panose="02020603050405020304" pitchFamily="18" charset="0"/>
              </a:rPr>
              <a:t>lité</a:t>
            </a:r>
            <a:r>
              <a:rPr lang="fr-FR">
                <a:latin typeface="Times New Roman" panose="02020603050405020304" pitchFamily="18" charset="0"/>
                <a:cs typeface="Times New Roman" panose="02020603050405020304" pitchFamily="18" charset="0"/>
              </a:rPr>
              <a:t>. Il s’agit d’un référentiel commun entre les métiers de conception et d’industriel. C’est une seule et unique solution de fixation par fonction issue de la meilleure pratique, dans une recherche de robustesse et de réduction de la diversité des fixations.</a:t>
            </a:r>
            <a:endParaRPr lang="fr-FR"/>
          </a:p>
        </p:txBody>
      </p:sp>
      <p:pic>
        <p:nvPicPr>
          <p:cNvPr id="7" name="Image 6"/>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803698" y="1959933"/>
            <a:ext cx="3734049" cy="2585113"/>
          </a:xfrm>
          <a:prstGeom prst="rect">
            <a:avLst/>
          </a:prstGeom>
        </p:spPr>
      </p:pic>
      <p:sp>
        <p:nvSpPr>
          <p:cNvPr id="8" name="Rectangle 7"/>
          <p:cNvSpPr/>
          <p:nvPr/>
        </p:nvSpPr>
        <p:spPr>
          <a:xfrm>
            <a:off x="1866252" y="1726763"/>
            <a:ext cx="1612232" cy="2034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Avant </a:t>
            </a:r>
            <a:r>
              <a:rPr lang="fr-FR" sz="1600"/>
              <a:t>APOQUA</a:t>
            </a:r>
          </a:p>
        </p:txBody>
      </p:sp>
      <p:sp>
        <p:nvSpPr>
          <p:cNvPr id="9" name="Flèche droite 8"/>
          <p:cNvSpPr/>
          <p:nvPr/>
        </p:nvSpPr>
        <p:spPr>
          <a:xfrm>
            <a:off x="5415049" y="1780343"/>
            <a:ext cx="720308" cy="872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Image 9"/>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7067717" y="2026104"/>
            <a:ext cx="3632367" cy="2442455"/>
          </a:xfrm>
          <a:prstGeom prst="rect">
            <a:avLst/>
          </a:prstGeom>
        </p:spPr>
      </p:pic>
      <p:sp>
        <p:nvSpPr>
          <p:cNvPr id="11" name="Rectangle 10"/>
          <p:cNvSpPr/>
          <p:nvPr/>
        </p:nvSpPr>
        <p:spPr>
          <a:xfrm>
            <a:off x="7901156" y="1698995"/>
            <a:ext cx="1612232" cy="2034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t>Après </a:t>
            </a:r>
            <a:r>
              <a:rPr lang="fr-FR" sz="1600"/>
              <a:t>APOQUA</a:t>
            </a:r>
          </a:p>
        </p:txBody>
      </p:sp>
      <p:sp>
        <p:nvSpPr>
          <p:cNvPr id="12" name="ZoneTexte 11"/>
          <p:cNvSpPr txBox="1"/>
          <p:nvPr/>
        </p:nvSpPr>
        <p:spPr>
          <a:xfrm>
            <a:off x="148856" y="4468559"/>
            <a:ext cx="11741039" cy="2585323"/>
          </a:xfrm>
          <a:prstGeom prst="rect">
            <a:avLst/>
          </a:prstGeom>
          <a:noFill/>
        </p:spPr>
        <p:txBody>
          <a:bodyPr wrap="square" rtlCol="0">
            <a:spAutoFit/>
          </a:bodyPr>
          <a:lstStyle/>
          <a:p>
            <a:pPr algn="just"/>
            <a:r>
              <a:rPr lang="fr-FR" u="sng">
                <a:latin typeface="Times New Roman" panose="02020603050405020304" pitchFamily="18" charset="0"/>
                <a:cs typeface="Times New Roman" panose="02020603050405020304" pitchFamily="18" charset="0"/>
              </a:rPr>
              <a:t>Principe</a:t>
            </a:r>
            <a:r>
              <a:rPr lang="fr-FR">
                <a:latin typeface="Times New Roman" panose="02020603050405020304" pitchFamily="18" charset="0"/>
                <a:cs typeface="Times New Roman" panose="02020603050405020304" pitchFamily="18" charset="0"/>
              </a:rPr>
              <a:t>: Quelle que soit la silhouette, la pièce se monte avec les mêmes fixations, au même poste, avec la même interface.</a:t>
            </a:r>
          </a:p>
          <a:p>
            <a:pPr algn="just"/>
            <a:r>
              <a:rPr lang="fr-FR" u="sng">
                <a:latin typeface="Times New Roman" panose="02020603050405020304" pitchFamily="18" charset="0"/>
                <a:cs typeface="Times New Roman" panose="02020603050405020304" pitchFamily="18" charset="0"/>
              </a:rPr>
              <a:t>Pour Qui ?</a:t>
            </a:r>
            <a:r>
              <a:rPr lang="fr-FR">
                <a:latin typeface="Times New Roman" panose="02020603050405020304" pitchFamily="18" charset="0"/>
                <a:cs typeface="Times New Roman" panose="02020603050405020304" pitchFamily="18" charset="0"/>
              </a:rPr>
              <a:t> - le travail des opérateurs sur le même pas de travail et standardiser les interfaces. </a:t>
            </a:r>
          </a:p>
          <a:p>
            <a:pPr algn="just"/>
            <a:r>
              <a:rPr lang="fr-FR">
                <a:latin typeface="Times New Roman" panose="02020603050405020304" pitchFamily="18" charset="0"/>
                <a:cs typeface="Times New Roman" panose="02020603050405020304" pitchFamily="18" charset="0"/>
              </a:rPr>
              <a:t>                      -  </a:t>
            </a:r>
            <a:r>
              <a:rPr lang="fr-FR" err="1">
                <a:latin typeface="Times New Roman" panose="02020603050405020304" pitchFamily="18" charset="0"/>
                <a:cs typeface="Times New Roman" panose="02020603050405020304" pitchFamily="18" charset="0"/>
              </a:rPr>
              <a:t>GarSimplifier</a:t>
            </a:r>
            <a:r>
              <a:rPr lang="fr-FR">
                <a:latin typeface="Times New Roman" panose="02020603050405020304" pitchFamily="18" charset="0"/>
                <a:cs typeface="Times New Roman" panose="02020603050405020304" pitchFamily="18" charset="0"/>
              </a:rPr>
              <a:t> le travail des concepteurs en définissant des interfaces de fixations pour chaque pièce.</a:t>
            </a:r>
          </a:p>
          <a:p>
            <a:pPr algn="just"/>
            <a:r>
              <a:rPr lang="fr-FR">
                <a:latin typeface="Times New Roman" panose="02020603050405020304" pitchFamily="18" charset="0"/>
                <a:cs typeface="Times New Roman" panose="02020603050405020304" pitchFamily="18" charset="0"/>
              </a:rPr>
              <a:t>                      - Simplifier </a:t>
            </a:r>
            <a:r>
              <a:rPr lang="fr-FR" err="1">
                <a:latin typeface="Times New Roman" panose="02020603050405020304" pitchFamily="18" charset="0"/>
                <a:cs typeface="Times New Roman" panose="02020603050405020304" pitchFamily="18" charset="0"/>
              </a:rPr>
              <a:t>antir</a:t>
            </a:r>
            <a:r>
              <a:rPr lang="fr-FR">
                <a:latin typeface="Times New Roman" panose="02020603050405020304" pitchFamily="18" charset="0"/>
                <a:cs typeface="Times New Roman" panose="02020603050405020304" pitchFamily="18" charset="0"/>
              </a:rPr>
              <a:t> la robustesse Produit - Process.</a:t>
            </a:r>
          </a:p>
          <a:p>
            <a:pPr algn="just"/>
            <a:r>
              <a:rPr lang="fr-FR" u="sng">
                <a:latin typeface="Times New Roman" panose="02020603050405020304" pitchFamily="18" charset="0"/>
                <a:cs typeface="Times New Roman" panose="02020603050405020304" pitchFamily="18" charset="0"/>
              </a:rPr>
              <a:t>Pourquoi ?</a:t>
            </a:r>
            <a:r>
              <a:rPr lang="fr-FR">
                <a:latin typeface="Times New Roman" panose="02020603050405020304" pitchFamily="18" charset="0"/>
                <a:cs typeface="Times New Roman" panose="02020603050405020304" pitchFamily="18" charset="0"/>
              </a:rPr>
              <a:t>   -  Amélioration de la qualité.</a:t>
            </a:r>
          </a:p>
          <a:p>
            <a:pPr algn="just"/>
            <a:r>
              <a:rPr lang="fr-FR">
                <a:latin typeface="Times New Roman" panose="02020603050405020304" pitchFamily="18" charset="0"/>
                <a:cs typeface="Times New Roman" panose="02020603050405020304" pitchFamily="18" charset="0"/>
              </a:rPr>
              <a:t>                     -  Réduction du nombre de retouches.</a:t>
            </a:r>
          </a:p>
          <a:p>
            <a:pPr algn="just"/>
            <a:r>
              <a:rPr lang="fr-FR">
                <a:latin typeface="Times New Roman" panose="02020603050405020304" pitchFamily="18" charset="0"/>
                <a:cs typeface="Times New Roman" panose="02020603050405020304" pitchFamily="18" charset="0"/>
              </a:rPr>
              <a:t>                     -  Gains économiques.</a:t>
            </a:r>
          </a:p>
          <a:p>
            <a:pPr algn="just"/>
            <a:r>
              <a:rPr lang="fr-FR">
                <a:latin typeface="Times New Roman" panose="02020603050405020304" pitchFamily="18" charset="0"/>
                <a:cs typeface="Times New Roman" panose="02020603050405020304" pitchFamily="18" charset="0"/>
              </a:rPr>
              <a:t>                     - Augmentation du nombre de véhicules différents que l’on peut monter sur une même ligne.</a:t>
            </a:r>
          </a:p>
          <a:p>
            <a:pPr algn="just"/>
            <a:endParaRPr lang="fr-FR"/>
          </a:p>
        </p:txBody>
      </p:sp>
      <p:pic>
        <p:nvPicPr>
          <p:cNvPr id="2" name="Image 1">
            <a:extLst>
              <a:ext uri="{FF2B5EF4-FFF2-40B4-BE49-F238E27FC236}">
                <a16:creationId xmlns:a16="http://schemas.microsoft.com/office/drawing/2014/main" id="{FE4BD493-1EB2-153B-F7FF-96D84978F74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513388" y="-37362"/>
            <a:ext cx="2793118" cy="687957"/>
          </a:xfrm>
          <a:prstGeom prst="rect">
            <a:avLst/>
          </a:prstGeom>
        </p:spPr>
      </p:pic>
      <p:sp>
        <p:nvSpPr>
          <p:cNvPr id="3" name="Espace réservé du numéro de diapositive 2">
            <a:extLst>
              <a:ext uri="{FF2B5EF4-FFF2-40B4-BE49-F238E27FC236}">
                <a16:creationId xmlns:a16="http://schemas.microsoft.com/office/drawing/2014/main" id="{4536727D-AD58-0ABA-BFAB-E93D19BCBB96}"/>
              </a:ext>
            </a:extLst>
          </p:cNvPr>
          <p:cNvSpPr>
            <a:spLocks noGrp="1"/>
          </p:cNvSpPr>
          <p:nvPr>
            <p:ph type="sldNum" sz="quarter" idx="12"/>
          </p:nvPr>
        </p:nvSpPr>
        <p:spPr/>
        <p:txBody>
          <a:bodyPr/>
          <a:lstStyle/>
          <a:p>
            <a:fld id="{8804BB38-747B-4994-9B8D-B168AF305C05}" type="slidenum">
              <a:rPr lang="fr-FR" smtClean="0"/>
              <a:t>2</a:t>
            </a:fld>
            <a:endParaRPr lang="fr-FR"/>
          </a:p>
        </p:txBody>
      </p:sp>
    </p:spTree>
    <p:extLst>
      <p:ext uri="{BB962C8B-B14F-4D97-AF65-F5344CB8AC3E}">
        <p14:creationId xmlns:p14="http://schemas.microsoft.com/office/powerpoint/2010/main" val="2708624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48856" y="233916"/>
            <a:ext cx="3735757" cy="400110"/>
          </a:xfrm>
          <a:prstGeom prst="rect">
            <a:avLst/>
          </a:prstGeom>
          <a:noFill/>
        </p:spPr>
        <p:txBody>
          <a:bodyPr wrap="square" rtlCol="0">
            <a:spAutoFit/>
          </a:bodyPr>
          <a:lstStyle/>
          <a:p>
            <a:r>
              <a:rPr lang="fr-FR" sz="2000" b="1" i="1">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C’EST QUOI UN TRIPLET ?</a:t>
            </a:r>
          </a:p>
        </p:txBody>
      </p:sp>
      <p:cxnSp>
        <p:nvCxnSpPr>
          <p:cNvPr id="5" name="Connecteur droit 4"/>
          <p:cNvCxnSpPr/>
          <p:nvPr/>
        </p:nvCxnSpPr>
        <p:spPr>
          <a:xfrm>
            <a:off x="148857" y="608844"/>
            <a:ext cx="11786469" cy="25182"/>
          </a:xfrm>
          <a:prstGeom prst="line">
            <a:avLst/>
          </a:prstGeom>
        </p:spPr>
        <p:style>
          <a:lnRef idx="1">
            <a:schemeClr val="accent1"/>
          </a:lnRef>
          <a:fillRef idx="0">
            <a:schemeClr val="accent1"/>
          </a:fillRef>
          <a:effectRef idx="0">
            <a:schemeClr val="accent1"/>
          </a:effectRef>
          <a:fontRef idx="minor">
            <a:schemeClr val="tx1"/>
          </a:fontRef>
        </p:style>
      </p:cxnSp>
      <p:sp>
        <p:nvSpPr>
          <p:cNvPr id="6" name="ZoneTexte 5"/>
          <p:cNvSpPr txBox="1"/>
          <p:nvPr/>
        </p:nvSpPr>
        <p:spPr>
          <a:xfrm>
            <a:off x="148856" y="712538"/>
            <a:ext cx="12043144" cy="4216539"/>
          </a:xfrm>
          <a:prstGeom prst="rect">
            <a:avLst/>
          </a:prstGeom>
          <a:noFill/>
        </p:spPr>
        <p:txBody>
          <a:bodyPr wrap="square" rtlCol="0">
            <a:spAutoFit/>
          </a:bodyPr>
          <a:lstStyle/>
          <a:p>
            <a:pPr algn="just"/>
            <a:r>
              <a:rPr lang="fr-FR">
                <a:latin typeface="Times New Roman" panose="02020603050405020304" pitchFamily="18" charset="0"/>
                <a:cs typeface="Times New Roman" panose="02020603050405020304" pitchFamily="18" charset="0"/>
              </a:rPr>
              <a:t>Un triplet est composé des caractéristiques de la pièce de fixation. </a:t>
            </a:r>
          </a:p>
          <a:p>
            <a:pPr algn="just"/>
            <a:r>
              <a:rPr lang="fr-FR">
                <a:latin typeface="Times New Roman" panose="02020603050405020304" pitchFamily="18" charset="0"/>
                <a:cs typeface="Times New Roman" panose="02020603050405020304" pitchFamily="18" charset="0"/>
              </a:rPr>
              <a:t>[ </a:t>
            </a:r>
            <a:r>
              <a:rPr lang="fr-FR">
                <a:solidFill>
                  <a:schemeClr val="accent6">
                    <a:lumMod val="75000"/>
                  </a:schemeClr>
                </a:solidFill>
                <a:latin typeface="Times New Roman" panose="02020603050405020304" pitchFamily="18" charset="0"/>
                <a:cs typeface="Times New Roman" panose="02020603050405020304" pitchFamily="18" charset="0"/>
              </a:rPr>
              <a:t>L'entrainement "H" + le Couple de serrage "8Nm" et l'intervalle de Tolérance (IT) "± 25%" </a:t>
            </a:r>
            <a:r>
              <a:rPr lang="fr-FR">
                <a:latin typeface="Times New Roman" panose="02020603050405020304" pitchFamily="18" charset="0"/>
                <a:cs typeface="Times New Roman" panose="02020603050405020304" pitchFamily="18" charset="0"/>
              </a:rPr>
              <a:t>]</a:t>
            </a:r>
          </a:p>
          <a:p>
            <a:pPr algn="just"/>
            <a:endParaRPr lang="fr-FR">
              <a:latin typeface="Times New Roman" panose="02020603050405020304" pitchFamily="18" charset="0"/>
              <a:cs typeface="Times New Roman" panose="02020603050405020304" pitchFamily="18" charset="0"/>
            </a:endParaRPr>
          </a:p>
          <a:p>
            <a:pPr algn="just"/>
            <a:endParaRPr lang="fr-FR">
              <a:latin typeface="Times New Roman" panose="02020603050405020304" pitchFamily="18" charset="0"/>
              <a:cs typeface="Times New Roman" panose="02020603050405020304" pitchFamily="18" charset="0"/>
            </a:endParaRPr>
          </a:p>
          <a:p>
            <a:pPr algn="just"/>
            <a:endParaRPr lang="fr-FR">
              <a:latin typeface="Times New Roman" panose="02020603050405020304" pitchFamily="18" charset="0"/>
              <a:cs typeface="Times New Roman" panose="02020603050405020304" pitchFamily="18" charset="0"/>
            </a:endParaRPr>
          </a:p>
          <a:p>
            <a:pPr algn="just"/>
            <a:endParaRPr lang="fr-FR">
              <a:latin typeface="Times New Roman" panose="02020603050405020304" pitchFamily="18" charset="0"/>
              <a:cs typeface="Times New Roman" panose="02020603050405020304" pitchFamily="18" charset="0"/>
            </a:endParaRPr>
          </a:p>
          <a:p>
            <a:pPr algn="just"/>
            <a:endParaRPr lang="fr-FR">
              <a:latin typeface="Times New Roman" panose="02020603050405020304" pitchFamily="18" charset="0"/>
              <a:cs typeface="Times New Roman" panose="02020603050405020304" pitchFamily="18" charset="0"/>
            </a:endParaRPr>
          </a:p>
          <a:p>
            <a:pPr algn="just"/>
            <a:endParaRPr lang="fr-FR">
              <a:latin typeface="Times New Roman" panose="02020603050405020304" pitchFamily="18" charset="0"/>
              <a:cs typeface="Times New Roman" panose="02020603050405020304" pitchFamily="18" charset="0"/>
            </a:endParaRPr>
          </a:p>
          <a:p>
            <a:pPr algn="just"/>
            <a:endParaRPr lang="fr-FR">
              <a:latin typeface="Times New Roman" panose="02020603050405020304" pitchFamily="18" charset="0"/>
              <a:cs typeface="Times New Roman" panose="02020603050405020304" pitchFamily="18" charset="0"/>
            </a:endParaRPr>
          </a:p>
          <a:p>
            <a:pPr algn="just"/>
            <a:endParaRPr lang="fr-FR">
              <a:latin typeface="Times New Roman" panose="02020603050405020304" pitchFamily="18" charset="0"/>
              <a:cs typeface="Times New Roman" panose="02020603050405020304" pitchFamily="18" charset="0"/>
            </a:endParaRPr>
          </a:p>
          <a:p>
            <a:pPr algn="just"/>
            <a:endParaRPr lang="fr-FR">
              <a:latin typeface="Times New Roman" panose="02020603050405020304" pitchFamily="18" charset="0"/>
              <a:cs typeface="Times New Roman" panose="02020603050405020304" pitchFamily="18" charset="0"/>
            </a:endParaRPr>
          </a:p>
          <a:p>
            <a:pPr algn="just"/>
            <a:endParaRPr lang="fr-FR">
              <a:latin typeface="Times New Roman" panose="02020603050405020304" pitchFamily="18" charset="0"/>
              <a:cs typeface="Times New Roman" panose="02020603050405020304" pitchFamily="18" charset="0"/>
            </a:endParaRPr>
          </a:p>
          <a:p>
            <a:pPr algn="just"/>
            <a:r>
              <a:rPr lang="fr-FR">
                <a:latin typeface="Times New Roman" panose="02020603050405020304" pitchFamily="18" charset="0"/>
                <a:cs typeface="Times New Roman" panose="02020603050405020304" pitchFamily="18" charset="0"/>
              </a:rPr>
              <a:t>En effet, La gestion des triplets permet de </a:t>
            </a:r>
            <a:r>
              <a:rPr lang="fr-FR">
                <a:solidFill>
                  <a:srgbClr val="FFC000"/>
                </a:solidFill>
                <a:latin typeface="Times New Roman" panose="02020603050405020304" pitchFamily="18" charset="0"/>
                <a:cs typeface="Times New Roman" panose="02020603050405020304" pitchFamily="18" charset="0"/>
              </a:rPr>
              <a:t>réduire</a:t>
            </a:r>
            <a:r>
              <a:rPr lang="fr-FR">
                <a:latin typeface="Times New Roman" panose="02020603050405020304" pitchFamily="18" charset="0"/>
                <a:cs typeface="Times New Roman" panose="02020603050405020304" pitchFamily="18" charset="0"/>
              </a:rPr>
              <a:t> au poste de montage, le </a:t>
            </a:r>
            <a:r>
              <a:rPr lang="fr-FR">
                <a:solidFill>
                  <a:srgbClr val="FFC000"/>
                </a:solidFill>
                <a:latin typeface="Times New Roman" panose="02020603050405020304" pitchFamily="18" charset="0"/>
                <a:cs typeface="Times New Roman" panose="02020603050405020304" pitchFamily="18" charset="0"/>
              </a:rPr>
              <a:t>nombre de couples</a:t>
            </a:r>
            <a:r>
              <a:rPr lang="fr-FR">
                <a:latin typeface="Times New Roman" panose="02020603050405020304" pitchFamily="18" charset="0"/>
                <a:cs typeface="Times New Roman" panose="02020603050405020304" pitchFamily="18" charset="0"/>
              </a:rPr>
              <a:t> et par conséquent  le </a:t>
            </a:r>
            <a:r>
              <a:rPr lang="fr-FR">
                <a:solidFill>
                  <a:srgbClr val="FFC000"/>
                </a:solidFill>
                <a:latin typeface="Times New Roman" panose="02020603050405020304" pitchFamily="18" charset="0"/>
                <a:cs typeface="Times New Roman" panose="02020603050405020304" pitchFamily="18" charset="0"/>
              </a:rPr>
              <a:t>nombre de visseuses</a:t>
            </a:r>
            <a:r>
              <a:rPr lang="fr-FR">
                <a:latin typeface="Times New Roman" panose="02020603050405020304" pitchFamily="18" charset="0"/>
                <a:cs typeface="Times New Roman" panose="02020603050405020304" pitchFamily="18" charset="0"/>
              </a:rPr>
              <a:t>. Ainsi que la </a:t>
            </a:r>
            <a:r>
              <a:rPr lang="fr-FR">
                <a:solidFill>
                  <a:srgbClr val="FFC000"/>
                </a:solidFill>
                <a:latin typeface="Times New Roman" panose="02020603050405020304" pitchFamily="18" charset="0"/>
                <a:cs typeface="Times New Roman" panose="02020603050405020304" pitchFamily="18" charset="0"/>
              </a:rPr>
              <a:t>simplification</a:t>
            </a:r>
            <a:r>
              <a:rPr lang="fr-FR">
                <a:latin typeface="Times New Roman" panose="02020603050405020304" pitchFamily="18" charset="0"/>
                <a:cs typeface="Times New Roman" panose="02020603050405020304" pitchFamily="18" charset="0"/>
              </a:rPr>
              <a:t>, la </a:t>
            </a:r>
            <a:r>
              <a:rPr lang="fr-FR">
                <a:solidFill>
                  <a:srgbClr val="FFC000"/>
                </a:solidFill>
                <a:latin typeface="Times New Roman" panose="02020603050405020304" pitchFamily="18" charset="0"/>
                <a:cs typeface="Times New Roman" panose="02020603050405020304" pitchFamily="18" charset="0"/>
              </a:rPr>
              <a:t>standardisation</a:t>
            </a:r>
            <a:r>
              <a:rPr lang="fr-FR">
                <a:latin typeface="Times New Roman" panose="02020603050405020304" pitchFamily="18" charset="0"/>
                <a:cs typeface="Times New Roman" panose="02020603050405020304" pitchFamily="18" charset="0"/>
              </a:rPr>
              <a:t> du travail de l’opérateur et la </a:t>
            </a:r>
            <a:r>
              <a:rPr lang="fr-FR">
                <a:solidFill>
                  <a:srgbClr val="FFC000"/>
                </a:solidFill>
                <a:latin typeface="Times New Roman" panose="02020603050405020304" pitchFamily="18" charset="0"/>
                <a:cs typeface="Times New Roman" panose="02020603050405020304" pitchFamily="18" charset="0"/>
              </a:rPr>
              <a:t>réduction des risques qualité au poste</a:t>
            </a:r>
            <a:r>
              <a:rPr lang="fr-FR">
                <a:latin typeface="Times New Roman" panose="02020603050405020304" pitchFamily="18" charset="0"/>
                <a:cs typeface="Times New Roman" panose="02020603050405020304" pitchFamily="18" charset="0"/>
              </a:rPr>
              <a:t>.</a:t>
            </a:r>
          </a:p>
          <a:p>
            <a:pPr algn="just"/>
            <a:endParaRPr lang="fr-FR" sz="1600">
              <a:latin typeface="Times New Roman" panose="02020603050405020304" pitchFamily="18" charset="0"/>
              <a:cs typeface="Times New Roman" panose="02020603050405020304" pitchFamily="18" charset="0"/>
            </a:endParaRPr>
          </a:p>
        </p:txBody>
      </p:sp>
      <p:pic>
        <p:nvPicPr>
          <p:cNvPr id="7" name="Image 6"/>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89" y="1397973"/>
            <a:ext cx="6926649" cy="2559295"/>
          </a:xfrm>
          <a:prstGeom prst="rect">
            <a:avLst/>
          </a:prstGeom>
        </p:spPr>
      </p:pic>
      <p:pic>
        <p:nvPicPr>
          <p:cNvPr id="11" name="Image 10"/>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9609354" y="878190"/>
            <a:ext cx="2325972" cy="2673420"/>
          </a:xfrm>
          <a:prstGeom prst="rect">
            <a:avLst/>
          </a:prstGeom>
        </p:spPr>
      </p:pic>
      <p:grpSp>
        <p:nvGrpSpPr>
          <p:cNvPr id="9" name="Groupe 8"/>
          <p:cNvGrpSpPr/>
          <p:nvPr/>
        </p:nvGrpSpPr>
        <p:grpSpPr>
          <a:xfrm>
            <a:off x="0" y="4658440"/>
            <a:ext cx="6193555" cy="1966949"/>
            <a:chOff x="0" y="4658440"/>
            <a:chExt cx="6193555" cy="1966949"/>
          </a:xfrm>
        </p:grpSpPr>
        <p:pic>
          <p:nvPicPr>
            <p:cNvPr id="8" name="Image 7"/>
            <p:cNvPicPr>
              <a:picLocks noChangeAspect="1"/>
            </p:cNvPicPr>
            <p:nvPr/>
          </p:nvPicPr>
          <p:blipFill rotWithShape="1">
            <a:blip r:embed="rId6">
              <a:extLst>
                <a:ext uri="{BEBA8EAE-BF5A-486C-A8C5-ECC9F3942E4B}">
                  <a14:imgProps xmlns:a14="http://schemas.microsoft.com/office/drawing/2010/main">
                    <a14:imgLayer r:embed="rId7">
                      <a14:imgEffect>
                        <a14:sharpenSoften amount="50000"/>
                      </a14:imgEffect>
                    </a14:imgLayer>
                  </a14:imgProps>
                </a:ext>
              </a:extLst>
            </a:blip>
            <a:srcRect b="38535"/>
            <a:stretch/>
          </p:blipFill>
          <p:spPr>
            <a:xfrm>
              <a:off x="148856" y="4658440"/>
              <a:ext cx="6044699" cy="1966949"/>
            </a:xfrm>
            <a:prstGeom prst="rect">
              <a:avLst/>
            </a:prstGeom>
          </p:spPr>
        </p:pic>
        <p:sp>
          <p:nvSpPr>
            <p:cNvPr id="2" name="Rectangle 1"/>
            <p:cNvSpPr/>
            <p:nvPr/>
          </p:nvSpPr>
          <p:spPr>
            <a:xfrm>
              <a:off x="0" y="6352893"/>
              <a:ext cx="2679032" cy="2724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2" name="Groupe 11"/>
          <p:cNvGrpSpPr/>
          <p:nvPr/>
        </p:nvGrpSpPr>
        <p:grpSpPr>
          <a:xfrm>
            <a:off x="6342411" y="4689852"/>
            <a:ext cx="5592915" cy="1774897"/>
            <a:chOff x="6342411" y="4689852"/>
            <a:chExt cx="5592915" cy="1774897"/>
          </a:xfrm>
        </p:grpSpPr>
        <p:pic>
          <p:nvPicPr>
            <p:cNvPr id="3" name="Image 2"/>
            <p:cNvPicPr>
              <a:picLocks noChangeAspect="1"/>
            </p:cNvPicPr>
            <p:nvPr/>
          </p:nvPicPr>
          <p:blipFill>
            <a:blip r:embed="rId8"/>
            <a:stretch>
              <a:fillRect/>
            </a:stretch>
          </p:blipFill>
          <p:spPr>
            <a:xfrm>
              <a:off x="6342411" y="4768365"/>
              <a:ext cx="5402192" cy="1696384"/>
            </a:xfrm>
            <a:prstGeom prst="rect">
              <a:avLst/>
            </a:prstGeom>
          </p:spPr>
        </p:pic>
        <p:sp>
          <p:nvSpPr>
            <p:cNvPr id="10" name="Rectangle 9"/>
            <p:cNvSpPr/>
            <p:nvPr/>
          </p:nvSpPr>
          <p:spPr>
            <a:xfrm>
              <a:off x="9256294" y="4689852"/>
              <a:ext cx="2679032" cy="4596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3" name="Image 12">
            <a:extLst>
              <a:ext uri="{FF2B5EF4-FFF2-40B4-BE49-F238E27FC236}">
                <a16:creationId xmlns:a16="http://schemas.microsoft.com/office/drawing/2014/main" id="{C4B516B9-DD92-0B74-C26C-49559F7B25B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513388" y="-37362"/>
            <a:ext cx="2793118" cy="687957"/>
          </a:xfrm>
          <a:prstGeom prst="rect">
            <a:avLst/>
          </a:prstGeom>
        </p:spPr>
      </p:pic>
      <p:sp>
        <p:nvSpPr>
          <p:cNvPr id="14" name="Espace réservé du numéro de diapositive 13">
            <a:extLst>
              <a:ext uri="{FF2B5EF4-FFF2-40B4-BE49-F238E27FC236}">
                <a16:creationId xmlns:a16="http://schemas.microsoft.com/office/drawing/2014/main" id="{1B8CB3E7-F399-D28D-CDF9-F3E8C19D188D}"/>
              </a:ext>
            </a:extLst>
          </p:cNvPr>
          <p:cNvSpPr>
            <a:spLocks noGrp="1"/>
          </p:cNvSpPr>
          <p:nvPr>
            <p:ph type="sldNum" sz="quarter" idx="12"/>
          </p:nvPr>
        </p:nvSpPr>
        <p:spPr/>
        <p:txBody>
          <a:bodyPr/>
          <a:lstStyle/>
          <a:p>
            <a:fld id="{8804BB38-747B-4994-9B8D-B168AF305C05}" type="slidenum">
              <a:rPr lang="fr-FR" smtClean="0"/>
              <a:t>3</a:t>
            </a:fld>
            <a:endParaRPr lang="fr-FR"/>
          </a:p>
        </p:txBody>
      </p:sp>
    </p:spTree>
    <p:extLst>
      <p:ext uri="{BB962C8B-B14F-4D97-AF65-F5344CB8AC3E}">
        <p14:creationId xmlns:p14="http://schemas.microsoft.com/office/powerpoint/2010/main" val="26972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Image 20"/>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87515" y="835912"/>
            <a:ext cx="11834999" cy="5622758"/>
          </a:xfrm>
          <a:prstGeom prst="rect">
            <a:avLst/>
          </a:prstGeom>
        </p:spPr>
      </p:pic>
      <p:sp>
        <p:nvSpPr>
          <p:cNvPr id="4" name="ZoneTexte 3"/>
          <p:cNvSpPr txBox="1"/>
          <p:nvPr/>
        </p:nvSpPr>
        <p:spPr>
          <a:xfrm>
            <a:off x="148856" y="233916"/>
            <a:ext cx="5856159" cy="400110"/>
          </a:xfrm>
          <a:prstGeom prst="rect">
            <a:avLst/>
          </a:prstGeom>
          <a:noFill/>
        </p:spPr>
        <p:txBody>
          <a:bodyPr wrap="square" rtlCol="0">
            <a:spAutoFit/>
          </a:bodyPr>
          <a:lstStyle/>
          <a:p>
            <a:r>
              <a:rPr lang="fr-FR" sz="2000" b="1" i="1">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MODELE VIERGE D’UNE FICHE APOQUA</a:t>
            </a:r>
          </a:p>
        </p:txBody>
      </p:sp>
      <p:cxnSp>
        <p:nvCxnSpPr>
          <p:cNvPr id="5" name="Connecteur droit 4"/>
          <p:cNvCxnSpPr/>
          <p:nvPr/>
        </p:nvCxnSpPr>
        <p:spPr>
          <a:xfrm>
            <a:off x="148856" y="634026"/>
            <a:ext cx="11866681"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Ellipse 9"/>
          <p:cNvSpPr/>
          <p:nvPr/>
        </p:nvSpPr>
        <p:spPr>
          <a:xfrm>
            <a:off x="1107741" y="5696701"/>
            <a:ext cx="342900" cy="287470"/>
          </a:xfrm>
          <a:prstGeom prst="ellipse">
            <a:avLst/>
          </a:prstGeom>
          <a:solidFill>
            <a:schemeClr val="accent1">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1</a:t>
            </a:r>
          </a:p>
        </p:txBody>
      </p:sp>
      <p:sp>
        <p:nvSpPr>
          <p:cNvPr id="11" name="Ellipse 10"/>
          <p:cNvSpPr/>
          <p:nvPr/>
        </p:nvSpPr>
        <p:spPr>
          <a:xfrm>
            <a:off x="2076450" y="5696701"/>
            <a:ext cx="342900" cy="287470"/>
          </a:xfrm>
          <a:prstGeom prst="ellipse">
            <a:avLst/>
          </a:prstGeom>
          <a:solidFill>
            <a:schemeClr val="accent1">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2</a:t>
            </a:r>
          </a:p>
        </p:txBody>
      </p:sp>
      <p:sp>
        <p:nvSpPr>
          <p:cNvPr id="13" name="Ellipse 12"/>
          <p:cNvSpPr/>
          <p:nvPr/>
        </p:nvSpPr>
        <p:spPr>
          <a:xfrm>
            <a:off x="3247188" y="5696701"/>
            <a:ext cx="342900" cy="287470"/>
          </a:xfrm>
          <a:prstGeom prst="ellipse">
            <a:avLst/>
          </a:prstGeom>
          <a:solidFill>
            <a:schemeClr val="accent1">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3</a:t>
            </a:r>
          </a:p>
        </p:txBody>
      </p:sp>
      <p:sp>
        <p:nvSpPr>
          <p:cNvPr id="14" name="Ellipse 13"/>
          <p:cNvSpPr/>
          <p:nvPr/>
        </p:nvSpPr>
        <p:spPr>
          <a:xfrm>
            <a:off x="6407289" y="5696701"/>
            <a:ext cx="342900" cy="287470"/>
          </a:xfrm>
          <a:prstGeom prst="ellipse">
            <a:avLst/>
          </a:prstGeom>
          <a:solidFill>
            <a:schemeClr val="accent1">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5</a:t>
            </a:r>
          </a:p>
        </p:txBody>
      </p:sp>
      <p:sp>
        <p:nvSpPr>
          <p:cNvPr id="15" name="Ellipse 14"/>
          <p:cNvSpPr/>
          <p:nvPr/>
        </p:nvSpPr>
        <p:spPr>
          <a:xfrm>
            <a:off x="4572805" y="5696701"/>
            <a:ext cx="342900" cy="287470"/>
          </a:xfrm>
          <a:prstGeom prst="ellipse">
            <a:avLst/>
          </a:prstGeom>
          <a:solidFill>
            <a:schemeClr val="accent1">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4</a:t>
            </a:r>
          </a:p>
        </p:txBody>
      </p:sp>
      <p:sp>
        <p:nvSpPr>
          <p:cNvPr id="16" name="Ellipse 15"/>
          <p:cNvSpPr/>
          <p:nvPr/>
        </p:nvSpPr>
        <p:spPr>
          <a:xfrm>
            <a:off x="8406536" y="5696701"/>
            <a:ext cx="342900" cy="287470"/>
          </a:xfrm>
          <a:prstGeom prst="ellipse">
            <a:avLst/>
          </a:prstGeom>
          <a:solidFill>
            <a:schemeClr val="accent1">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6</a:t>
            </a:r>
          </a:p>
        </p:txBody>
      </p:sp>
      <p:sp>
        <p:nvSpPr>
          <p:cNvPr id="22" name="Ellipse 21"/>
          <p:cNvSpPr/>
          <p:nvPr/>
        </p:nvSpPr>
        <p:spPr>
          <a:xfrm>
            <a:off x="9821625" y="5696701"/>
            <a:ext cx="342900" cy="287470"/>
          </a:xfrm>
          <a:prstGeom prst="ellipse">
            <a:avLst/>
          </a:prstGeom>
          <a:solidFill>
            <a:schemeClr val="accent1">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7</a:t>
            </a:r>
          </a:p>
        </p:txBody>
      </p:sp>
      <p:pic>
        <p:nvPicPr>
          <p:cNvPr id="2" name="Image 1">
            <a:extLst>
              <a:ext uri="{FF2B5EF4-FFF2-40B4-BE49-F238E27FC236}">
                <a16:creationId xmlns:a16="http://schemas.microsoft.com/office/drawing/2014/main" id="{DF41FA83-B1BB-FC8C-23F8-B6D1B311ABD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13388" y="-37362"/>
            <a:ext cx="2793118" cy="687957"/>
          </a:xfrm>
          <a:prstGeom prst="rect">
            <a:avLst/>
          </a:prstGeom>
        </p:spPr>
      </p:pic>
      <p:sp>
        <p:nvSpPr>
          <p:cNvPr id="3" name="Espace réservé du numéro de diapositive 2">
            <a:extLst>
              <a:ext uri="{FF2B5EF4-FFF2-40B4-BE49-F238E27FC236}">
                <a16:creationId xmlns:a16="http://schemas.microsoft.com/office/drawing/2014/main" id="{95AFF928-C9A5-7F27-1D35-927A2D21E5F3}"/>
              </a:ext>
            </a:extLst>
          </p:cNvPr>
          <p:cNvSpPr>
            <a:spLocks noGrp="1"/>
          </p:cNvSpPr>
          <p:nvPr>
            <p:ph type="sldNum" sz="quarter" idx="12"/>
          </p:nvPr>
        </p:nvSpPr>
        <p:spPr/>
        <p:txBody>
          <a:bodyPr/>
          <a:lstStyle/>
          <a:p>
            <a:fld id="{8804BB38-747B-4994-9B8D-B168AF305C05}" type="slidenum">
              <a:rPr lang="fr-FR" smtClean="0"/>
              <a:t>4</a:t>
            </a:fld>
            <a:endParaRPr lang="fr-FR"/>
          </a:p>
        </p:txBody>
      </p:sp>
    </p:spTree>
    <p:extLst>
      <p:ext uri="{BB962C8B-B14F-4D97-AF65-F5344CB8AC3E}">
        <p14:creationId xmlns:p14="http://schemas.microsoft.com/office/powerpoint/2010/main" val="1745403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llipse 3"/>
          <p:cNvSpPr/>
          <p:nvPr/>
        </p:nvSpPr>
        <p:spPr>
          <a:xfrm>
            <a:off x="460041" y="172201"/>
            <a:ext cx="342900" cy="287470"/>
          </a:xfrm>
          <a:prstGeom prst="ellipse">
            <a:avLst/>
          </a:prstGeom>
          <a:solidFill>
            <a:schemeClr val="accent1">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1</a:t>
            </a:r>
          </a:p>
        </p:txBody>
      </p:sp>
      <p:sp>
        <p:nvSpPr>
          <p:cNvPr id="5" name="ZoneTexte 4"/>
          <p:cNvSpPr txBox="1"/>
          <p:nvPr/>
        </p:nvSpPr>
        <p:spPr>
          <a:xfrm>
            <a:off x="802941" y="172201"/>
            <a:ext cx="11217609" cy="1477328"/>
          </a:xfrm>
          <a:prstGeom prst="rect">
            <a:avLst/>
          </a:prstGeom>
          <a:noFill/>
        </p:spPr>
        <p:txBody>
          <a:bodyPr wrap="square" rtlCol="0">
            <a:spAutoFit/>
          </a:bodyPr>
          <a:lstStyle/>
          <a:p>
            <a:r>
              <a:rPr lang="fr-FR">
                <a:latin typeface="Times New Roman" panose="02020603050405020304" pitchFamily="18" charset="0"/>
                <a:cs typeface="Times New Roman" panose="02020603050405020304" pitchFamily="18" charset="0"/>
              </a:rPr>
              <a:t>A3 : Résumé des feuilles 1/2/3/4/5 et l’entête.</a:t>
            </a:r>
          </a:p>
          <a:p>
            <a:endParaRPr lang="fr-FR">
              <a:latin typeface="Times New Roman" panose="02020603050405020304" pitchFamily="18" charset="0"/>
              <a:cs typeface="Times New Roman" panose="02020603050405020304" pitchFamily="18" charset="0"/>
            </a:endParaRPr>
          </a:p>
          <a:p>
            <a:r>
              <a:rPr lang="fr-FR">
                <a:latin typeface="Times New Roman" panose="02020603050405020304" pitchFamily="18" charset="0"/>
                <a:cs typeface="Times New Roman" panose="02020603050405020304" pitchFamily="18" charset="0"/>
              </a:rPr>
              <a:t>Modifications : </a:t>
            </a:r>
            <a:r>
              <a:rPr lang="fr-FR" err="1">
                <a:latin typeface="Times New Roman" panose="02020603050405020304" pitchFamily="18" charset="0"/>
                <a:cs typeface="Times New Roman" panose="02020603050405020304" pitchFamily="18" charset="0"/>
              </a:rPr>
              <a:t>Why</a:t>
            </a:r>
            <a:r>
              <a:rPr lang="fr-FR">
                <a:latin typeface="Times New Roman" panose="02020603050405020304" pitchFamily="18" charset="0"/>
                <a:cs typeface="Times New Roman" panose="02020603050405020304" pitchFamily="18" charset="0"/>
              </a:rPr>
              <a:t> ? -&gt; Mise à jour ou Nouvelle création.</a:t>
            </a:r>
          </a:p>
          <a:p>
            <a:r>
              <a:rPr lang="fr-FR">
                <a:latin typeface="Times New Roman" panose="02020603050405020304" pitchFamily="18" charset="0"/>
                <a:cs typeface="Times New Roman" panose="02020603050405020304" pitchFamily="18" charset="0"/>
              </a:rPr>
              <a:t>                          Profil -&gt; FPPE Team. </a:t>
            </a:r>
          </a:p>
          <a:p>
            <a:r>
              <a:rPr lang="fr-FR">
                <a:latin typeface="Times New Roman" panose="02020603050405020304" pitchFamily="18" charset="0"/>
                <a:cs typeface="Times New Roman" panose="02020603050405020304" pitchFamily="18" charset="0"/>
              </a:rPr>
              <a:t> </a:t>
            </a:r>
          </a:p>
        </p:txBody>
      </p:sp>
      <p:sp>
        <p:nvSpPr>
          <p:cNvPr id="6" name="Ellipse 5"/>
          <p:cNvSpPr/>
          <p:nvPr/>
        </p:nvSpPr>
        <p:spPr>
          <a:xfrm>
            <a:off x="460041" y="767130"/>
            <a:ext cx="342900" cy="287470"/>
          </a:xfrm>
          <a:prstGeom prst="ellipse">
            <a:avLst/>
          </a:prstGeom>
          <a:solidFill>
            <a:schemeClr val="accent1">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2</a:t>
            </a:r>
          </a:p>
        </p:txBody>
      </p:sp>
      <p:pic>
        <p:nvPicPr>
          <p:cNvPr id="7" name="Image 6"/>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460041" y="1649529"/>
            <a:ext cx="11316601" cy="4291013"/>
          </a:xfrm>
          <a:prstGeom prst="rect">
            <a:avLst/>
          </a:prstGeom>
        </p:spPr>
      </p:pic>
      <p:pic>
        <p:nvPicPr>
          <p:cNvPr id="2" name="Image 1">
            <a:extLst>
              <a:ext uri="{FF2B5EF4-FFF2-40B4-BE49-F238E27FC236}">
                <a16:creationId xmlns:a16="http://schemas.microsoft.com/office/drawing/2014/main" id="{0C743F55-FB8C-3C09-AEB6-51B75A8941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13388" y="-37362"/>
            <a:ext cx="2793118" cy="687957"/>
          </a:xfrm>
          <a:prstGeom prst="rect">
            <a:avLst/>
          </a:prstGeom>
        </p:spPr>
      </p:pic>
      <p:sp>
        <p:nvSpPr>
          <p:cNvPr id="3" name="Espace réservé du numéro de diapositive 2">
            <a:extLst>
              <a:ext uri="{FF2B5EF4-FFF2-40B4-BE49-F238E27FC236}">
                <a16:creationId xmlns:a16="http://schemas.microsoft.com/office/drawing/2014/main" id="{2706EFA2-FA04-EED1-51F1-6134EADEB2F7}"/>
              </a:ext>
            </a:extLst>
          </p:cNvPr>
          <p:cNvSpPr>
            <a:spLocks noGrp="1"/>
          </p:cNvSpPr>
          <p:nvPr>
            <p:ph type="sldNum" sz="quarter" idx="12"/>
          </p:nvPr>
        </p:nvSpPr>
        <p:spPr/>
        <p:txBody>
          <a:bodyPr/>
          <a:lstStyle/>
          <a:p>
            <a:fld id="{8804BB38-747B-4994-9B8D-B168AF305C05}" type="slidenum">
              <a:rPr lang="fr-FR" smtClean="0"/>
              <a:t>5</a:t>
            </a:fld>
            <a:endParaRPr lang="fr-FR"/>
          </a:p>
        </p:txBody>
      </p:sp>
    </p:spTree>
    <p:extLst>
      <p:ext uri="{BB962C8B-B14F-4D97-AF65-F5344CB8AC3E}">
        <p14:creationId xmlns:p14="http://schemas.microsoft.com/office/powerpoint/2010/main" val="2805626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llipse 3"/>
          <p:cNvSpPr/>
          <p:nvPr/>
        </p:nvSpPr>
        <p:spPr>
          <a:xfrm>
            <a:off x="460041" y="172201"/>
            <a:ext cx="342900" cy="287470"/>
          </a:xfrm>
          <a:prstGeom prst="ellipse">
            <a:avLst/>
          </a:prstGeom>
          <a:solidFill>
            <a:schemeClr val="accent1">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3</a:t>
            </a:r>
          </a:p>
        </p:txBody>
      </p:sp>
      <p:sp>
        <p:nvSpPr>
          <p:cNvPr id="5" name="ZoneTexte 4"/>
          <p:cNvSpPr txBox="1"/>
          <p:nvPr/>
        </p:nvSpPr>
        <p:spPr>
          <a:xfrm>
            <a:off x="802941" y="172201"/>
            <a:ext cx="11217609" cy="6740307"/>
          </a:xfrm>
          <a:prstGeom prst="rect">
            <a:avLst/>
          </a:prstGeom>
          <a:noFill/>
        </p:spPr>
        <p:txBody>
          <a:bodyPr wrap="square" rtlCol="0">
            <a:spAutoFit/>
          </a:bodyPr>
          <a:lstStyle/>
          <a:p>
            <a:r>
              <a:rPr lang="fr-FR">
                <a:latin typeface="Times New Roman" panose="02020603050405020304" pitchFamily="18" charset="0"/>
                <a:cs typeface="Times New Roman" panose="02020603050405020304" pitchFamily="18" charset="0"/>
              </a:rPr>
              <a:t>Inventory : Les anciennes fixations proposées + Les modifications faites sur la fiche et les </a:t>
            </a:r>
          </a:p>
          <a:p>
            <a:r>
              <a:rPr lang="fr-FR">
                <a:latin typeface="Times New Roman" panose="02020603050405020304" pitchFamily="18" charset="0"/>
                <a:cs typeface="Times New Roman" panose="02020603050405020304" pitchFamily="18" charset="0"/>
              </a:rPr>
              <a:t>noms des modificateurs.</a:t>
            </a: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p:txBody>
      </p:sp>
      <p:pic>
        <p:nvPicPr>
          <p:cNvPr id="2" name="Image 1"/>
          <p:cNvPicPr>
            <a:picLocks noChangeAspect="1"/>
          </p:cNvPicPr>
          <p:nvPr/>
        </p:nvPicPr>
        <p:blipFill>
          <a:blip r:embed="rId2"/>
          <a:stretch>
            <a:fillRect/>
          </a:stretch>
        </p:blipFill>
        <p:spPr>
          <a:xfrm>
            <a:off x="460041" y="880100"/>
            <a:ext cx="11084259" cy="4707168"/>
          </a:xfrm>
          <a:prstGeom prst="rect">
            <a:avLst/>
          </a:prstGeom>
        </p:spPr>
      </p:pic>
      <p:pic>
        <p:nvPicPr>
          <p:cNvPr id="3" name="Image 2">
            <a:extLst>
              <a:ext uri="{FF2B5EF4-FFF2-40B4-BE49-F238E27FC236}">
                <a16:creationId xmlns:a16="http://schemas.microsoft.com/office/drawing/2014/main" id="{84C9620D-48E4-5288-9E4E-8A915CE4D6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13388" y="-37362"/>
            <a:ext cx="2793118" cy="687957"/>
          </a:xfrm>
          <a:prstGeom prst="rect">
            <a:avLst/>
          </a:prstGeom>
        </p:spPr>
      </p:pic>
      <p:sp>
        <p:nvSpPr>
          <p:cNvPr id="6" name="Espace réservé du numéro de diapositive 5">
            <a:extLst>
              <a:ext uri="{FF2B5EF4-FFF2-40B4-BE49-F238E27FC236}">
                <a16:creationId xmlns:a16="http://schemas.microsoft.com/office/drawing/2014/main" id="{B385F7E3-B59D-BA47-E00B-B6070DB09542}"/>
              </a:ext>
            </a:extLst>
          </p:cNvPr>
          <p:cNvSpPr>
            <a:spLocks noGrp="1"/>
          </p:cNvSpPr>
          <p:nvPr>
            <p:ph type="sldNum" sz="quarter" idx="12"/>
          </p:nvPr>
        </p:nvSpPr>
        <p:spPr/>
        <p:txBody>
          <a:bodyPr/>
          <a:lstStyle/>
          <a:p>
            <a:fld id="{8804BB38-747B-4994-9B8D-B168AF305C05}" type="slidenum">
              <a:rPr lang="fr-FR" smtClean="0"/>
              <a:t>6</a:t>
            </a:fld>
            <a:endParaRPr lang="fr-FR"/>
          </a:p>
        </p:txBody>
      </p:sp>
    </p:spTree>
    <p:extLst>
      <p:ext uri="{BB962C8B-B14F-4D97-AF65-F5344CB8AC3E}">
        <p14:creationId xmlns:p14="http://schemas.microsoft.com/office/powerpoint/2010/main" val="4189909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llipse 3"/>
          <p:cNvSpPr/>
          <p:nvPr/>
        </p:nvSpPr>
        <p:spPr>
          <a:xfrm>
            <a:off x="460041" y="172201"/>
            <a:ext cx="342900" cy="287470"/>
          </a:xfrm>
          <a:prstGeom prst="ellipse">
            <a:avLst/>
          </a:prstGeom>
          <a:solidFill>
            <a:schemeClr val="accent1">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4</a:t>
            </a:r>
          </a:p>
        </p:txBody>
      </p:sp>
      <p:sp>
        <p:nvSpPr>
          <p:cNvPr id="5" name="ZoneTexte 4"/>
          <p:cNvSpPr txBox="1"/>
          <p:nvPr/>
        </p:nvSpPr>
        <p:spPr>
          <a:xfrm>
            <a:off x="802941" y="172201"/>
            <a:ext cx="11217609" cy="6463308"/>
          </a:xfrm>
          <a:prstGeom prst="rect">
            <a:avLst/>
          </a:prstGeom>
          <a:noFill/>
        </p:spPr>
        <p:txBody>
          <a:bodyPr wrap="square" rtlCol="0">
            <a:spAutoFit/>
          </a:bodyPr>
          <a:lstStyle/>
          <a:p>
            <a:r>
              <a:rPr lang="fr-FR">
                <a:latin typeface="Times New Roman" panose="02020603050405020304" pitchFamily="18" charset="0"/>
                <a:cs typeface="Times New Roman" panose="02020603050405020304" pitchFamily="18" charset="0"/>
              </a:rPr>
              <a:t>New </a:t>
            </a:r>
            <a:r>
              <a:rPr lang="fr-FR" err="1">
                <a:latin typeface="Times New Roman" panose="02020603050405020304" pitchFamily="18" charset="0"/>
                <a:cs typeface="Times New Roman" panose="02020603050405020304" pitchFamily="18" charset="0"/>
              </a:rPr>
              <a:t>Referential</a:t>
            </a:r>
            <a:r>
              <a:rPr lang="fr-FR">
                <a:latin typeface="Times New Roman" panose="02020603050405020304" pitchFamily="18" charset="0"/>
                <a:cs typeface="Times New Roman" panose="02020603050405020304" pitchFamily="18" charset="0"/>
              </a:rPr>
              <a:t> : La cible.</a:t>
            </a: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p:txBody>
      </p:sp>
      <p:pic>
        <p:nvPicPr>
          <p:cNvPr id="3" name="Image 2"/>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247649" y="459671"/>
            <a:ext cx="11623307" cy="4633913"/>
          </a:xfrm>
          <a:prstGeom prst="rect">
            <a:avLst/>
          </a:prstGeom>
        </p:spPr>
      </p:pic>
      <p:sp>
        <p:nvSpPr>
          <p:cNvPr id="7" name="Rectangle 6"/>
          <p:cNvSpPr/>
          <p:nvPr/>
        </p:nvSpPr>
        <p:spPr>
          <a:xfrm>
            <a:off x="247649" y="1257300"/>
            <a:ext cx="1962151" cy="17526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p:cNvPicPr>
            <a:picLocks noChangeAspect="1"/>
          </p:cNvPicPr>
          <p:nvPr/>
        </p:nvPicPr>
        <p:blipFill>
          <a:blip r:embed="rId4"/>
          <a:stretch>
            <a:fillRect/>
          </a:stretch>
        </p:blipFill>
        <p:spPr>
          <a:xfrm>
            <a:off x="2776537" y="3212457"/>
            <a:ext cx="3910013" cy="3423052"/>
          </a:xfrm>
          <a:prstGeom prst="rect">
            <a:avLst/>
          </a:prstGeom>
        </p:spPr>
      </p:pic>
      <p:cxnSp>
        <p:nvCxnSpPr>
          <p:cNvPr id="10" name="Connecteur droit avec flèche 9"/>
          <p:cNvCxnSpPr>
            <a:stCxn id="7" idx="2"/>
          </p:cNvCxnSpPr>
          <p:nvPr/>
        </p:nvCxnSpPr>
        <p:spPr>
          <a:xfrm>
            <a:off x="1228725" y="3009900"/>
            <a:ext cx="1457325" cy="6096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ZoneTexte 13"/>
          <p:cNvSpPr txBox="1"/>
          <p:nvPr/>
        </p:nvSpPr>
        <p:spPr>
          <a:xfrm>
            <a:off x="2686050" y="1884402"/>
            <a:ext cx="3105150" cy="400110"/>
          </a:xfrm>
          <a:prstGeom prst="rect">
            <a:avLst/>
          </a:prstGeom>
          <a:noFill/>
        </p:spPr>
        <p:txBody>
          <a:bodyPr wrap="square" rtlCol="0">
            <a:spAutoFit/>
          </a:bodyPr>
          <a:lstStyle/>
          <a:p>
            <a:r>
              <a:rPr lang="fr-FR" sz="2000" b="1">
                <a:latin typeface="Times New Roman" panose="02020603050405020304" pitchFamily="18" charset="0"/>
                <a:cs typeface="Times New Roman" panose="02020603050405020304" pitchFamily="18" charset="0"/>
              </a:rPr>
              <a:t>Zone des informations.</a:t>
            </a:r>
          </a:p>
        </p:txBody>
      </p:sp>
      <p:sp>
        <p:nvSpPr>
          <p:cNvPr id="15" name="ZoneTexte 14"/>
          <p:cNvSpPr txBox="1"/>
          <p:nvPr/>
        </p:nvSpPr>
        <p:spPr>
          <a:xfrm>
            <a:off x="7437622" y="1933545"/>
            <a:ext cx="3105150" cy="400110"/>
          </a:xfrm>
          <a:prstGeom prst="rect">
            <a:avLst/>
          </a:prstGeom>
          <a:noFill/>
        </p:spPr>
        <p:txBody>
          <a:bodyPr wrap="square" rtlCol="0">
            <a:spAutoFit/>
          </a:bodyPr>
          <a:lstStyle/>
          <a:p>
            <a:r>
              <a:rPr lang="fr-FR" sz="2000" b="1">
                <a:latin typeface="Times New Roman" panose="02020603050405020304" pitchFamily="18" charset="0"/>
                <a:cs typeface="Times New Roman" panose="02020603050405020304" pitchFamily="18" charset="0"/>
              </a:rPr>
              <a:t>Zone des images.</a:t>
            </a:r>
          </a:p>
        </p:txBody>
      </p:sp>
      <p:pic>
        <p:nvPicPr>
          <p:cNvPr id="2" name="Image 1">
            <a:extLst>
              <a:ext uri="{FF2B5EF4-FFF2-40B4-BE49-F238E27FC236}">
                <a16:creationId xmlns:a16="http://schemas.microsoft.com/office/drawing/2014/main" id="{762D791E-9B09-47CF-37A8-83262A14116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13388" y="-37362"/>
            <a:ext cx="2793118" cy="687957"/>
          </a:xfrm>
          <a:prstGeom prst="rect">
            <a:avLst/>
          </a:prstGeom>
        </p:spPr>
      </p:pic>
      <p:sp>
        <p:nvSpPr>
          <p:cNvPr id="6" name="Espace réservé du numéro de diapositive 5">
            <a:extLst>
              <a:ext uri="{FF2B5EF4-FFF2-40B4-BE49-F238E27FC236}">
                <a16:creationId xmlns:a16="http://schemas.microsoft.com/office/drawing/2014/main" id="{9BB1AEC0-1F6B-C528-F20F-D90E95FE88A8}"/>
              </a:ext>
            </a:extLst>
          </p:cNvPr>
          <p:cNvSpPr>
            <a:spLocks noGrp="1"/>
          </p:cNvSpPr>
          <p:nvPr>
            <p:ph type="sldNum" sz="quarter" idx="12"/>
          </p:nvPr>
        </p:nvSpPr>
        <p:spPr/>
        <p:txBody>
          <a:bodyPr/>
          <a:lstStyle/>
          <a:p>
            <a:fld id="{8804BB38-747B-4994-9B8D-B168AF305C05}" type="slidenum">
              <a:rPr lang="fr-FR" smtClean="0"/>
              <a:t>7</a:t>
            </a:fld>
            <a:endParaRPr lang="fr-FR"/>
          </a:p>
        </p:txBody>
      </p:sp>
    </p:spTree>
    <p:extLst>
      <p:ext uri="{BB962C8B-B14F-4D97-AF65-F5344CB8AC3E}">
        <p14:creationId xmlns:p14="http://schemas.microsoft.com/office/powerpoint/2010/main" val="406136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llipse 3"/>
          <p:cNvSpPr/>
          <p:nvPr/>
        </p:nvSpPr>
        <p:spPr>
          <a:xfrm>
            <a:off x="460041" y="172201"/>
            <a:ext cx="342900" cy="287470"/>
          </a:xfrm>
          <a:prstGeom prst="ellipse">
            <a:avLst/>
          </a:prstGeom>
          <a:solidFill>
            <a:schemeClr val="accent1">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5</a:t>
            </a:r>
          </a:p>
        </p:txBody>
      </p:sp>
      <p:sp>
        <p:nvSpPr>
          <p:cNvPr id="5" name="ZoneTexte 4"/>
          <p:cNvSpPr txBox="1"/>
          <p:nvPr/>
        </p:nvSpPr>
        <p:spPr>
          <a:xfrm>
            <a:off x="1488741" y="175900"/>
            <a:ext cx="10474659" cy="646331"/>
          </a:xfrm>
          <a:prstGeom prst="rect">
            <a:avLst/>
          </a:prstGeom>
          <a:noFill/>
        </p:spPr>
        <p:txBody>
          <a:bodyPr wrap="square" rtlCol="0">
            <a:spAutoFit/>
          </a:bodyPr>
          <a:lstStyle/>
          <a:p>
            <a:r>
              <a:rPr lang="fr-FR" err="1">
                <a:latin typeface="Times New Roman" panose="02020603050405020304" pitchFamily="18" charset="0"/>
                <a:cs typeface="Times New Roman" panose="02020603050405020304" pitchFamily="18" charset="0"/>
              </a:rPr>
              <a:t>Fitted</a:t>
            </a:r>
            <a:r>
              <a:rPr lang="fr-FR">
                <a:latin typeface="Times New Roman" panose="02020603050405020304" pitchFamily="18" charset="0"/>
                <a:cs typeface="Times New Roman" panose="02020603050405020304" pitchFamily="18" charset="0"/>
              </a:rPr>
              <a:t> part designer validation / </a:t>
            </a:r>
            <a:r>
              <a:rPr lang="fr-FR" err="1">
                <a:latin typeface="Times New Roman" panose="02020603050405020304" pitchFamily="18" charset="0"/>
                <a:cs typeface="Times New Roman" panose="02020603050405020304" pitchFamily="18" charset="0"/>
              </a:rPr>
              <a:t>Receiving</a:t>
            </a:r>
            <a:r>
              <a:rPr lang="fr-FR">
                <a:latin typeface="Times New Roman" panose="02020603050405020304" pitchFamily="18" charset="0"/>
                <a:cs typeface="Times New Roman" panose="02020603050405020304" pitchFamily="18" charset="0"/>
              </a:rPr>
              <a:t> part designer validation : Capture</a:t>
            </a:r>
          </a:p>
          <a:p>
            <a:r>
              <a:rPr lang="fr-FR">
                <a:latin typeface="Times New Roman" panose="02020603050405020304" pitchFamily="18" charset="0"/>
                <a:cs typeface="Times New Roman" panose="02020603050405020304" pitchFamily="18" charset="0"/>
              </a:rPr>
              <a:t> d’écran d’email de validation envoyé par les designer Team.</a:t>
            </a:r>
          </a:p>
        </p:txBody>
      </p:sp>
      <p:sp>
        <p:nvSpPr>
          <p:cNvPr id="6" name="Ellipse 5"/>
          <p:cNvSpPr/>
          <p:nvPr/>
        </p:nvSpPr>
        <p:spPr>
          <a:xfrm>
            <a:off x="974391" y="172201"/>
            <a:ext cx="342900" cy="287470"/>
          </a:xfrm>
          <a:prstGeom prst="ellipse">
            <a:avLst/>
          </a:prstGeom>
          <a:solidFill>
            <a:schemeClr val="accent1">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6</a:t>
            </a:r>
          </a:p>
        </p:txBody>
      </p:sp>
      <p:pic>
        <p:nvPicPr>
          <p:cNvPr id="3" name="Image 2"/>
          <p:cNvPicPr>
            <a:picLocks noChangeAspect="1"/>
          </p:cNvPicPr>
          <p:nvPr/>
        </p:nvPicPr>
        <p:blipFill>
          <a:blip r:embed="rId2"/>
          <a:stretch>
            <a:fillRect/>
          </a:stretch>
        </p:blipFill>
        <p:spPr>
          <a:xfrm>
            <a:off x="72779" y="1000124"/>
            <a:ext cx="7857941" cy="3171825"/>
          </a:xfrm>
          <a:prstGeom prst="rect">
            <a:avLst/>
          </a:prstGeom>
        </p:spPr>
      </p:pic>
      <p:pic>
        <p:nvPicPr>
          <p:cNvPr id="9" name="Image 8"/>
          <p:cNvPicPr>
            <a:picLocks noChangeAspect="1"/>
          </p:cNvPicPr>
          <p:nvPr/>
        </p:nvPicPr>
        <p:blipFill>
          <a:blip r:embed="rId3"/>
          <a:stretch>
            <a:fillRect/>
          </a:stretch>
        </p:blipFill>
        <p:spPr>
          <a:xfrm>
            <a:off x="3598636" y="3581400"/>
            <a:ext cx="8107589" cy="2724150"/>
          </a:xfrm>
          <a:prstGeom prst="rect">
            <a:avLst/>
          </a:prstGeom>
        </p:spPr>
      </p:pic>
      <p:pic>
        <p:nvPicPr>
          <p:cNvPr id="2" name="Image 1">
            <a:extLst>
              <a:ext uri="{FF2B5EF4-FFF2-40B4-BE49-F238E27FC236}">
                <a16:creationId xmlns:a16="http://schemas.microsoft.com/office/drawing/2014/main" id="{62FCFEAA-8774-D0F3-C1E3-1455B1E9487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13388" y="-37362"/>
            <a:ext cx="2793118" cy="687957"/>
          </a:xfrm>
          <a:prstGeom prst="rect">
            <a:avLst/>
          </a:prstGeom>
        </p:spPr>
      </p:pic>
      <p:sp>
        <p:nvSpPr>
          <p:cNvPr id="7" name="Espace réservé du numéro de diapositive 6">
            <a:extLst>
              <a:ext uri="{FF2B5EF4-FFF2-40B4-BE49-F238E27FC236}">
                <a16:creationId xmlns:a16="http://schemas.microsoft.com/office/drawing/2014/main" id="{74A0F5C7-CC25-3B7E-695C-5AA7FF46F467}"/>
              </a:ext>
            </a:extLst>
          </p:cNvPr>
          <p:cNvSpPr>
            <a:spLocks noGrp="1"/>
          </p:cNvSpPr>
          <p:nvPr>
            <p:ph type="sldNum" sz="quarter" idx="12"/>
          </p:nvPr>
        </p:nvSpPr>
        <p:spPr/>
        <p:txBody>
          <a:bodyPr/>
          <a:lstStyle/>
          <a:p>
            <a:fld id="{8804BB38-747B-4994-9B8D-B168AF305C05}" type="slidenum">
              <a:rPr lang="fr-FR" smtClean="0"/>
              <a:t>8</a:t>
            </a:fld>
            <a:endParaRPr lang="fr-FR"/>
          </a:p>
        </p:txBody>
      </p:sp>
    </p:spTree>
    <p:extLst>
      <p:ext uri="{BB962C8B-B14F-4D97-AF65-F5344CB8AC3E}">
        <p14:creationId xmlns:p14="http://schemas.microsoft.com/office/powerpoint/2010/main" val="623667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llipse 3"/>
          <p:cNvSpPr/>
          <p:nvPr/>
        </p:nvSpPr>
        <p:spPr>
          <a:xfrm>
            <a:off x="460041" y="172201"/>
            <a:ext cx="342900" cy="287470"/>
          </a:xfrm>
          <a:prstGeom prst="ellipse">
            <a:avLst/>
          </a:prstGeom>
          <a:solidFill>
            <a:schemeClr val="accent1">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4</a:t>
            </a:r>
          </a:p>
        </p:txBody>
      </p:sp>
      <p:sp>
        <p:nvSpPr>
          <p:cNvPr id="5" name="ZoneTexte 4"/>
          <p:cNvSpPr txBox="1"/>
          <p:nvPr/>
        </p:nvSpPr>
        <p:spPr>
          <a:xfrm>
            <a:off x="802941" y="172201"/>
            <a:ext cx="11217609" cy="6463308"/>
          </a:xfrm>
          <a:prstGeom prst="rect">
            <a:avLst/>
          </a:prstGeom>
          <a:noFill/>
        </p:spPr>
        <p:txBody>
          <a:bodyPr wrap="square" rtlCol="0">
            <a:spAutoFit/>
          </a:bodyPr>
          <a:lstStyle/>
          <a:p>
            <a:r>
              <a:rPr lang="fr-FR">
                <a:latin typeface="Times New Roman" panose="02020603050405020304" pitchFamily="18" charset="0"/>
                <a:cs typeface="Times New Roman" panose="02020603050405020304" pitchFamily="18" charset="0"/>
              </a:rPr>
              <a:t>New </a:t>
            </a:r>
            <a:r>
              <a:rPr lang="fr-FR" err="1">
                <a:latin typeface="Times New Roman" panose="02020603050405020304" pitchFamily="18" charset="0"/>
                <a:cs typeface="Times New Roman" panose="02020603050405020304" pitchFamily="18" charset="0"/>
              </a:rPr>
              <a:t>Referential</a:t>
            </a:r>
            <a:r>
              <a:rPr lang="fr-FR">
                <a:latin typeface="Times New Roman" panose="02020603050405020304" pitchFamily="18" charset="0"/>
                <a:cs typeface="Times New Roman" panose="02020603050405020304" pitchFamily="18" charset="0"/>
              </a:rPr>
              <a:t> : Solution Backup.</a:t>
            </a: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p:txBody>
      </p:sp>
      <p:pic>
        <p:nvPicPr>
          <p:cNvPr id="2" name="Image 1"/>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0" y="823912"/>
            <a:ext cx="11676073" cy="3519488"/>
          </a:xfrm>
          <a:prstGeom prst="rect">
            <a:avLst/>
          </a:prstGeom>
        </p:spPr>
      </p:pic>
      <p:pic>
        <p:nvPicPr>
          <p:cNvPr id="3" name="Image 2">
            <a:extLst>
              <a:ext uri="{FF2B5EF4-FFF2-40B4-BE49-F238E27FC236}">
                <a16:creationId xmlns:a16="http://schemas.microsoft.com/office/drawing/2014/main" id="{537DFD5A-C76B-69B5-1DEA-66495008785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13388" y="-37362"/>
            <a:ext cx="2793118" cy="687957"/>
          </a:xfrm>
          <a:prstGeom prst="rect">
            <a:avLst/>
          </a:prstGeom>
        </p:spPr>
      </p:pic>
      <p:sp>
        <p:nvSpPr>
          <p:cNvPr id="6" name="Espace réservé du numéro de diapositive 5">
            <a:extLst>
              <a:ext uri="{FF2B5EF4-FFF2-40B4-BE49-F238E27FC236}">
                <a16:creationId xmlns:a16="http://schemas.microsoft.com/office/drawing/2014/main" id="{83324D87-B647-574F-DCBF-6624ADFC989C}"/>
              </a:ext>
            </a:extLst>
          </p:cNvPr>
          <p:cNvSpPr>
            <a:spLocks noGrp="1"/>
          </p:cNvSpPr>
          <p:nvPr>
            <p:ph type="sldNum" sz="quarter" idx="12"/>
          </p:nvPr>
        </p:nvSpPr>
        <p:spPr/>
        <p:txBody>
          <a:bodyPr/>
          <a:lstStyle/>
          <a:p>
            <a:fld id="{8804BB38-747B-4994-9B8D-B168AF305C05}" type="slidenum">
              <a:rPr lang="fr-FR" smtClean="0"/>
              <a:t>9</a:t>
            </a:fld>
            <a:endParaRPr lang="fr-FR"/>
          </a:p>
        </p:txBody>
      </p:sp>
    </p:spTree>
    <p:extLst>
      <p:ext uri="{BB962C8B-B14F-4D97-AF65-F5344CB8AC3E}">
        <p14:creationId xmlns:p14="http://schemas.microsoft.com/office/powerpoint/2010/main" val="3797850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llipse 3"/>
          <p:cNvSpPr/>
          <p:nvPr/>
        </p:nvSpPr>
        <p:spPr>
          <a:xfrm>
            <a:off x="460041" y="172201"/>
            <a:ext cx="342900" cy="287470"/>
          </a:xfrm>
          <a:prstGeom prst="ellipse">
            <a:avLst/>
          </a:prstGeom>
          <a:solidFill>
            <a:schemeClr val="accent1">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7</a:t>
            </a:r>
          </a:p>
        </p:txBody>
      </p:sp>
      <p:sp>
        <p:nvSpPr>
          <p:cNvPr id="5" name="ZoneTexte 4"/>
          <p:cNvSpPr txBox="1"/>
          <p:nvPr/>
        </p:nvSpPr>
        <p:spPr>
          <a:xfrm>
            <a:off x="802941" y="136505"/>
            <a:ext cx="10991850" cy="369332"/>
          </a:xfrm>
          <a:prstGeom prst="rect">
            <a:avLst/>
          </a:prstGeom>
          <a:noFill/>
        </p:spPr>
        <p:txBody>
          <a:bodyPr wrap="square" rtlCol="0">
            <a:spAutoFit/>
          </a:bodyPr>
          <a:lstStyle/>
          <a:p>
            <a:r>
              <a:rPr lang="fr-FR">
                <a:latin typeface="Times New Roman" panose="02020603050405020304" pitchFamily="18" charset="0"/>
                <a:cs typeface="Times New Roman" panose="02020603050405020304" pitchFamily="18" charset="0"/>
              </a:rPr>
              <a:t>L’</a:t>
            </a:r>
            <a:r>
              <a:rPr lang="fr-FR" err="1">
                <a:latin typeface="Times New Roman" panose="02020603050405020304" pitchFamily="18" charset="0"/>
                <a:cs typeface="Times New Roman" panose="02020603050405020304" pitchFamily="18" charset="0"/>
              </a:rPr>
              <a:t>entete</a:t>
            </a:r>
            <a:r>
              <a:rPr lang="fr-FR">
                <a:latin typeface="Times New Roman" panose="02020603050405020304" pitchFamily="18" charset="0"/>
                <a:cs typeface="Times New Roman" panose="02020603050405020304" pitchFamily="18" charset="0"/>
              </a:rPr>
              <a:t>: Les informations complète d’une fiche APOQUA.</a:t>
            </a:r>
          </a:p>
        </p:txBody>
      </p:sp>
      <p:pic>
        <p:nvPicPr>
          <p:cNvPr id="7" name="Image 6"/>
          <p:cNvPicPr>
            <a:picLocks noChangeAspect="1"/>
          </p:cNvPicPr>
          <p:nvPr/>
        </p:nvPicPr>
        <p:blipFill>
          <a:blip r:embed="rId2"/>
          <a:stretch>
            <a:fillRect/>
          </a:stretch>
        </p:blipFill>
        <p:spPr>
          <a:xfrm>
            <a:off x="169434" y="1247774"/>
            <a:ext cx="11293904" cy="3457575"/>
          </a:xfrm>
          <a:prstGeom prst="rect">
            <a:avLst/>
          </a:prstGeom>
        </p:spPr>
      </p:pic>
      <p:pic>
        <p:nvPicPr>
          <p:cNvPr id="2" name="Image 1">
            <a:extLst>
              <a:ext uri="{FF2B5EF4-FFF2-40B4-BE49-F238E27FC236}">
                <a16:creationId xmlns:a16="http://schemas.microsoft.com/office/drawing/2014/main" id="{4C7BD7AD-EE09-147E-8D6F-6E5B13EC039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13388" y="-37362"/>
            <a:ext cx="2793118" cy="687957"/>
          </a:xfrm>
          <a:prstGeom prst="rect">
            <a:avLst/>
          </a:prstGeom>
        </p:spPr>
      </p:pic>
      <p:sp>
        <p:nvSpPr>
          <p:cNvPr id="3" name="Espace réservé du numéro de diapositive 2">
            <a:extLst>
              <a:ext uri="{FF2B5EF4-FFF2-40B4-BE49-F238E27FC236}">
                <a16:creationId xmlns:a16="http://schemas.microsoft.com/office/drawing/2014/main" id="{968DD1D1-0A55-8085-7F17-A0AEE57A093C}"/>
              </a:ext>
            </a:extLst>
          </p:cNvPr>
          <p:cNvSpPr>
            <a:spLocks noGrp="1"/>
          </p:cNvSpPr>
          <p:nvPr>
            <p:ph type="sldNum" sz="quarter" idx="12"/>
          </p:nvPr>
        </p:nvSpPr>
        <p:spPr/>
        <p:txBody>
          <a:bodyPr/>
          <a:lstStyle/>
          <a:p>
            <a:fld id="{8804BB38-747B-4994-9B8D-B168AF305C05}" type="slidenum">
              <a:rPr lang="fr-FR" smtClean="0"/>
              <a:t>10</a:t>
            </a:fld>
            <a:endParaRPr lang="fr-FR"/>
          </a:p>
        </p:txBody>
      </p:sp>
    </p:spTree>
    <p:extLst>
      <p:ext uri="{BB962C8B-B14F-4D97-AF65-F5344CB8AC3E}">
        <p14:creationId xmlns:p14="http://schemas.microsoft.com/office/powerpoint/2010/main" val="2470887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à coins arrondis 35"/>
          <p:cNvSpPr/>
          <p:nvPr/>
        </p:nvSpPr>
        <p:spPr>
          <a:xfrm>
            <a:off x="3103752" y="98700"/>
            <a:ext cx="5622876" cy="318975"/>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latin typeface="Times New Roman" panose="02020603050405020304" pitchFamily="18" charset="0"/>
                <a:cs typeface="Times New Roman" panose="02020603050405020304" pitchFamily="18" charset="0"/>
              </a:rPr>
              <a:t>Demande de création ou mise à jour d’une cible APOQUA*.</a:t>
            </a:r>
          </a:p>
        </p:txBody>
      </p:sp>
      <p:cxnSp>
        <p:nvCxnSpPr>
          <p:cNvPr id="37" name="Connecteur droit avec flèche 36"/>
          <p:cNvCxnSpPr>
            <a:stCxn id="36" idx="2"/>
          </p:cNvCxnSpPr>
          <p:nvPr/>
        </p:nvCxnSpPr>
        <p:spPr>
          <a:xfrm>
            <a:off x="5915190" y="417675"/>
            <a:ext cx="0" cy="2079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Losange 37"/>
          <p:cNvSpPr/>
          <p:nvPr/>
        </p:nvSpPr>
        <p:spPr>
          <a:xfrm>
            <a:off x="4568104" y="628618"/>
            <a:ext cx="2694172" cy="675509"/>
          </a:xfrm>
          <a:prstGeom prst="diamond">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latin typeface="Times New Roman" panose="02020603050405020304" pitchFamily="18" charset="0"/>
                <a:cs typeface="Times New Roman" panose="02020603050405020304" pitchFamily="18" charset="0"/>
              </a:rPr>
              <a:t>1- Fiche existe déjà ?</a:t>
            </a:r>
          </a:p>
        </p:txBody>
      </p:sp>
      <p:cxnSp>
        <p:nvCxnSpPr>
          <p:cNvPr id="39" name="Connecteur en angle 38"/>
          <p:cNvCxnSpPr/>
          <p:nvPr/>
        </p:nvCxnSpPr>
        <p:spPr>
          <a:xfrm>
            <a:off x="7262276" y="961509"/>
            <a:ext cx="588049" cy="40863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6794626" y="1387212"/>
            <a:ext cx="2120555" cy="50826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latin typeface="Times New Roman" panose="02020603050405020304" pitchFamily="18" charset="0"/>
                <a:cs typeface="Times New Roman" panose="02020603050405020304" pitchFamily="18" charset="0"/>
              </a:rPr>
              <a:t>2- Créer une nouvelle référence </a:t>
            </a:r>
            <a:r>
              <a:rPr lang="fr-FR" sz="1400" b="1" err="1">
                <a:solidFill>
                  <a:schemeClr val="tx1"/>
                </a:solidFill>
                <a:latin typeface="Times New Roman" panose="02020603050405020304" pitchFamily="18" charset="0"/>
                <a:cs typeface="Times New Roman" panose="02020603050405020304" pitchFamily="18" charset="0"/>
              </a:rPr>
              <a:t>DocInfo</a:t>
            </a:r>
            <a:r>
              <a:rPr lang="fr-FR" sz="1400" b="1">
                <a:solidFill>
                  <a:schemeClr val="tx1"/>
                </a:solidFill>
                <a:latin typeface="Times New Roman" panose="02020603050405020304" pitchFamily="18" charset="0"/>
                <a:cs typeface="Times New Roman" panose="02020603050405020304" pitchFamily="18" charset="0"/>
              </a:rPr>
              <a:t>.</a:t>
            </a:r>
          </a:p>
        </p:txBody>
      </p:sp>
      <p:sp>
        <p:nvSpPr>
          <p:cNvPr id="41" name="Rectangle 40"/>
          <p:cNvSpPr/>
          <p:nvPr/>
        </p:nvSpPr>
        <p:spPr>
          <a:xfrm>
            <a:off x="4461756" y="2300006"/>
            <a:ext cx="3225991" cy="237668"/>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latin typeface="Times New Roman" panose="02020603050405020304" pitchFamily="18" charset="0"/>
                <a:cs typeface="Times New Roman" panose="02020603050405020304" pitchFamily="18" charset="0"/>
              </a:rPr>
              <a:t>3- Rédiger/Mettre à jour la cible. </a:t>
            </a:r>
          </a:p>
        </p:txBody>
      </p:sp>
      <p:sp>
        <p:nvSpPr>
          <p:cNvPr id="42" name="Rectangle 41"/>
          <p:cNvSpPr/>
          <p:nvPr/>
        </p:nvSpPr>
        <p:spPr>
          <a:xfrm>
            <a:off x="7083603" y="3986288"/>
            <a:ext cx="2120555" cy="740089"/>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latin typeface="Times New Roman" panose="02020603050405020304" pitchFamily="18" charset="0"/>
                <a:cs typeface="Times New Roman" panose="02020603050405020304" pitchFamily="18" charset="0"/>
              </a:rPr>
              <a:t>6- Faire les modifications nécessaires et organiser des points spécifiques.</a:t>
            </a:r>
          </a:p>
        </p:txBody>
      </p:sp>
      <p:sp>
        <p:nvSpPr>
          <p:cNvPr id="43" name="ZoneTexte 42"/>
          <p:cNvSpPr txBox="1"/>
          <p:nvPr/>
        </p:nvSpPr>
        <p:spPr>
          <a:xfrm>
            <a:off x="8143880" y="937063"/>
            <a:ext cx="693499" cy="338554"/>
          </a:xfrm>
          <a:prstGeom prst="rect">
            <a:avLst/>
          </a:prstGeom>
          <a:noFill/>
        </p:spPr>
        <p:txBody>
          <a:bodyPr wrap="square" rtlCol="0">
            <a:spAutoFit/>
          </a:bodyPr>
          <a:lstStyle/>
          <a:p>
            <a:r>
              <a:rPr lang="fr-FR" sz="1600">
                <a:latin typeface="Times New Roman" panose="02020603050405020304" pitchFamily="18" charset="0"/>
                <a:cs typeface="Times New Roman" panose="02020603050405020304" pitchFamily="18" charset="0"/>
              </a:rPr>
              <a:t>Non</a:t>
            </a:r>
          </a:p>
        </p:txBody>
      </p:sp>
      <p:sp>
        <p:nvSpPr>
          <p:cNvPr id="44" name="ZoneTexte 43"/>
          <p:cNvSpPr txBox="1"/>
          <p:nvPr/>
        </p:nvSpPr>
        <p:spPr>
          <a:xfrm>
            <a:off x="5381253" y="1469872"/>
            <a:ext cx="693499" cy="338554"/>
          </a:xfrm>
          <a:prstGeom prst="rect">
            <a:avLst/>
          </a:prstGeom>
          <a:noFill/>
        </p:spPr>
        <p:txBody>
          <a:bodyPr wrap="square" rtlCol="0">
            <a:spAutoFit/>
          </a:bodyPr>
          <a:lstStyle/>
          <a:p>
            <a:r>
              <a:rPr lang="fr-FR" sz="1600">
                <a:latin typeface="Times New Roman" panose="02020603050405020304" pitchFamily="18" charset="0"/>
                <a:cs typeface="Times New Roman" panose="02020603050405020304" pitchFamily="18" charset="0"/>
              </a:rPr>
              <a:t>Oui</a:t>
            </a:r>
          </a:p>
        </p:txBody>
      </p:sp>
      <p:sp>
        <p:nvSpPr>
          <p:cNvPr id="45" name="Rectangle 44"/>
          <p:cNvSpPr/>
          <p:nvPr/>
        </p:nvSpPr>
        <p:spPr>
          <a:xfrm>
            <a:off x="4461755" y="2766547"/>
            <a:ext cx="3225991" cy="308573"/>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latin typeface="Times New Roman" panose="02020603050405020304" pitchFamily="18" charset="0"/>
                <a:cs typeface="Times New Roman" panose="02020603050405020304" pitchFamily="18" charset="0"/>
              </a:rPr>
              <a:t>4- Présenter la cible au point COM </a:t>
            </a:r>
          </a:p>
        </p:txBody>
      </p:sp>
      <p:sp>
        <p:nvSpPr>
          <p:cNvPr id="46" name="Losange 45"/>
          <p:cNvSpPr/>
          <p:nvPr/>
        </p:nvSpPr>
        <p:spPr>
          <a:xfrm>
            <a:off x="4526951" y="3303993"/>
            <a:ext cx="2853018" cy="829767"/>
          </a:xfrm>
          <a:prstGeom prst="diamond">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latin typeface="Times New Roman" panose="02020603050405020304" pitchFamily="18" charset="0"/>
                <a:cs typeface="Times New Roman" panose="02020603050405020304" pitchFamily="18" charset="0"/>
              </a:rPr>
              <a:t>5- Cible figée?</a:t>
            </a:r>
          </a:p>
        </p:txBody>
      </p:sp>
      <p:cxnSp>
        <p:nvCxnSpPr>
          <p:cNvPr id="47" name="Connecteur droit avec flèche 46"/>
          <p:cNvCxnSpPr/>
          <p:nvPr/>
        </p:nvCxnSpPr>
        <p:spPr>
          <a:xfrm>
            <a:off x="5953457" y="4108972"/>
            <a:ext cx="3" cy="9857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ZoneTexte 47"/>
          <p:cNvSpPr txBox="1"/>
          <p:nvPr/>
        </p:nvSpPr>
        <p:spPr>
          <a:xfrm>
            <a:off x="7418419" y="3391464"/>
            <a:ext cx="693499" cy="338554"/>
          </a:xfrm>
          <a:prstGeom prst="rect">
            <a:avLst/>
          </a:prstGeom>
          <a:noFill/>
        </p:spPr>
        <p:txBody>
          <a:bodyPr wrap="square" rtlCol="0">
            <a:spAutoFit/>
          </a:bodyPr>
          <a:lstStyle/>
          <a:p>
            <a:r>
              <a:rPr lang="fr-FR" sz="1600">
                <a:latin typeface="Times New Roman" panose="02020603050405020304" pitchFamily="18" charset="0"/>
                <a:cs typeface="Times New Roman" panose="02020603050405020304" pitchFamily="18" charset="0"/>
              </a:rPr>
              <a:t>Non</a:t>
            </a:r>
          </a:p>
        </p:txBody>
      </p:sp>
      <p:sp>
        <p:nvSpPr>
          <p:cNvPr id="49" name="ZoneTexte 48"/>
          <p:cNvSpPr txBox="1"/>
          <p:nvPr/>
        </p:nvSpPr>
        <p:spPr>
          <a:xfrm>
            <a:off x="5410244" y="4473158"/>
            <a:ext cx="693499" cy="338554"/>
          </a:xfrm>
          <a:prstGeom prst="rect">
            <a:avLst/>
          </a:prstGeom>
          <a:noFill/>
        </p:spPr>
        <p:txBody>
          <a:bodyPr wrap="square" rtlCol="0">
            <a:spAutoFit/>
          </a:bodyPr>
          <a:lstStyle/>
          <a:p>
            <a:r>
              <a:rPr lang="fr-FR" sz="1600">
                <a:latin typeface="Times New Roman" panose="02020603050405020304" pitchFamily="18" charset="0"/>
                <a:cs typeface="Times New Roman" panose="02020603050405020304" pitchFamily="18" charset="0"/>
              </a:rPr>
              <a:t>Oui</a:t>
            </a:r>
          </a:p>
        </p:txBody>
      </p:sp>
      <p:cxnSp>
        <p:nvCxnSpPr>
          <p:cNvPr id="50" name="Connecteur en angle 49"/>
          <p:cNvCxnSpPr>
            <a:stCxn id="42" idx="2"/>
          </p:cNvCxnSpPr>
          <p:nvPr/>
        </p:nvCxnSpPr>
        <p:spPr>
          <a:xfrm rot="5400000">
            <a:off x="6950244" y="3698484"/>
            <a:ext cx="165745" cy="222153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4461755" y="5145341"/>
            <a:ext cx="3225991" cy="46826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latin typeface="Times New Roman" panose="02020603050405020304" pitchFamily="18" charset="0"/>
                <a:cs typeface="Times New Roman" panose="02020603050405020304" pitchFamily="18" charset="0"/>
              </a:rPr>
              <a:t>7- Récupérer accord mail métier pièce portée / porteuse.</a:t>
            </a:r>
          </a:p>
        </p:txBody>
      </p:sp>
      <p:sp>
        <p:nvSpPr>
          <p:cNvPr id="52" name="Rectangle 51"/>
          <p:cNvSpPr/>
          <p:nvPr/>
        </p:nvSpPr>
        <p:spPr>
          <a:xfrm>
            <a:off x="4461754" y="5816246"/>
            <a:ext cx="3225991" cy="387735"/>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latin typeface="Times New Roman" panose="02020603050405020304" pitchFamily="18" charset="0"/>
                <a:cs typeface="Times New Roman" panose="02020603050405020304" pitchFamily="18" charset="0"/>
              </a:rPr>
              <a:t>8- Lancer et valider le circuit de validation de la référence </a:t>
            </a:r>
            <a:r>
              <a:rPr lang="fr-FR" sz="1400" b="1" err="1">
                <a:solidFill>
                  <a:schemeClr val="tx1"/>
                </a:solidFill>
                <a:latin typeface="Times New Roman" panose="02020603050405020304" pitchFamily="18" charset="0"/>
                <a:cs typeface="Times New Roman" panose="02020603050405020304" pitchFamily="18" charset="0"/>
              </a:rPr>
              <a:t>DocInfo</a:t>
            </a:r>
            <a:r>
              <a:rPr lang="fr-FR" sz="1400" b="1">
                <a:solidFill>
                  <a:schemeClr val="tx1"/>
                </a:solidFill>
                <a:latin typeface="Times New Roman" panose="02020603050405020304" pitchFamily="18" charset="0"/>
                <a:cs typeface="Times New Roman" panose="02020603050405020304" pitchFamily="18" charset="0"/>
              </a:rPr>
              <a:t>.</a:t>
            </a:r>
          </a:p>
        </p:txBody>
      </p:sp>
      <p:cxnSp>
        <p:nvCxnSpPr>
          <p:cNvPr id="53" name="Connecteur en angle 52"/>
          <p:cNvCxnSpPr>
            <a:stCxn id="46" idx="3"/>
            <a:endCxn id="42" idx="0"/>
          </p:cNvCxnSpPr>
          <p:nvPr/>
        </p:nvCxnSpPr>
        <p:spPr>
          <a:xfrm>
            <a:off x="7379969" y="3718877"/>
            <a:ext cx="763912" cy="26741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Rectangle à coins arrondis 53"/>
          <p:cNvSpPr/>
          <p:nvPr/>
        </p:nvSpPr>
        <p:spPr>
          <a:xfrm>
            <a:off x="3292305" y="6456773"/>
            <a:ext cx="5622876" cy="318975"/>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tx1"/>
                </a:solidFill>
                <a:latin typeface="Times New Roman" panose="02020603050405020304" pitchFamily="18" charset="0"/>
                <a:cs typeface="Times New Roman" panose="02020603050405020304" pitchFamily="18" charset="0"/>
              </a:rPr>
              <a:t>Fiche publiée.</a:t>
            </a:r>
          </a:p>
        </p:txBody>
      </p:sp>
      <p:sp>
        <p:nvSpPr>
          <p:cNvPr id="55" name="Rectangle avec coins arrondis en diagonale 54"/>
          <p:cNvSpPr/>
          <p:nvPr/>
        </p:nvSpPr>
        <p:spPr>
          <a:xfrm>
            <a:off x="1494995" y="449937"/>
            <a:ext cx="1499414" cy="1095808"/>
          </a:xfrm>
          <a:prstGeom prst="round2Diag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a:solidFill>
                <a:schemeClr val="tx1"/>
              </a:solidFill>
            </a:endParaRPr>
          </a:p>
          <a:p>
            <a:r>
              <a:rPr lang="fr-FR" sz="1200">
                <a:solidFill>
                  <a:schemeClr val="tx1"/>
                </a:solidFill>
              </a:rPr>
              <a:t>*Les demandes se font dedans le fichier APOQUA </a:t>
            </a:r>
            <a:r>
              <a:rPr lang="fr-FR" sz="1200" err="1">
                <a:solidFill>
                  <a:schemeClr val="tx1"/>
                </a:solidFill>
              </a:rPr>
              <a:t>request</a:t>
            </a:r>
            <a:r>
              <a:rPr lang="fr-FR" sz="1200">
                <a:solidFill>
                  <a:schemeClr val="tx1"/>
                </a:solidFill>
              </a:rPr>
              <a:t>: </a:t>
            </a:r>
            <a:r>
              <a:rPr lang="fr-FR" sz="1200" b="1">
                <a:solidFill>
                  <a:schemeClr val="tx1"/>
                </a:solidFill>
                <a:effectLst/>
              </a:rPr>
              <a:t>01266_22_00006</a:t>
            </a:r>
          </a:p>
          <a:p>
            <a:pPr algn="ctr"/>
            <a:endParaRPr lang="fr-FR" sz="1200">
              <a:solidFill>
                <a:schemeClr val="tx1"/>
              </a:solidFill>
            </a:endParaRPr>
          </a:p>
        </p:txBody>
      </p:sp>
      <p:sp>
        <p:nvSpPr>
          <p:cNvPr id="56" name="Rectangle avec coins arrondis en diagonale 55"/>
          <p:cNvSpPr/>
          <p:nvPr/>
        </p:nvSpPr>
        <p:spPr>
          <a:xfrm>
            <a:off x="1466784" y="1582777"/>
            <a:ext cx="1499414" cy="989709"/>
          </a:xfrm>
          <a:prstGeom prst="round2Diag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a:solidFill>
                  <a:schemeClr val="tx1"/>
                </a:solidFill>
              </a:rPr>
              <a:t>1* Liste complète des fiches APOQUA: </a:t>
            </a:r>
            <a:r>
              <a:rPr lang="fr-FR" sz="1200" b="1">
                <a:solidFill>
                  <a:schemeClr val="tx1"/>
                </a:solidFill>
              </a:rPr>
              <a:t>01266_15_00825</a:t>
            </a:r>
          </a:p>
          <a:p>
            <a:pPr algn="ctr"/>
            <a:endParaRPr lang="fr-FR" sz="1200">
              <a:solidFill>
                <a:schemeClr val="tx1"/>
              </a:solidFill>
            </a:endParaRPr>
          </a:p>
        </p:txBody>
      </p:sp>
      <p:cxnSp>
        <p:nvCxnSpPr>
          <p:cNvPr id="57" name="Connecteur en angle 56"/>
          <p:cNvCxnSpPr>
            <a:stCxn id="55" idx="0"/>
          </p:cNvCxnSpPr>
          <p:nvPr/>
        </p:nvCxnSpPr>
        <p:spPr>
          <a:xfrm flipV="1">
            <a:off x="2994408" y="412905"/>
            <a:ext cx="453222" cy="584936"/>
          </a:xfrm>
          <a:prstGeom prst="bentConnector2">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8" name="Connecteur en angle 57"/>
          <p:cNvCxnSpPr>
            <a:endCxn id="59" idx="0"/>
          </p:cNvCxnSpPr>
          <p:nvPr/>
        </p:nvCxnSpPr>
        <p:spPr>
          <a:xfrm rot="10800000" flipV="1">
            <a:off x="2947862" y="2355658"/>
            <a:ext cx="1510039" cy="905743"/>
          </a:xfrm>
          <a:prstGeom prst="bentConnector3">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9" name="Rectangle avec coins arrondis en diagonale 58"/>
          <p:cNvSpPr/>
          <p:nvPr/>
        </p:nvSpPr>
        <p:spPr>
          <a:xfrm>
            <a:off x="1448447" y="2766547"/>
            <a:ext cx="1499414" cy="989709"/>
          </a:xfrm>
          <a:prstGeom prst="round2Diag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solidFill>
                <a:schemeClr val="tx1"/>
              </a:solidFill>
            </a:endParaRPr>
          </a:p>
          <a:p>
            <a:pPr algn="ctr"/>
            <a:r>
              <a:rPr lang="fr-FR" sz="1200">
                <a:solidFill>
                  <a:schemeClr val="tx1"/>
                </a:solidFill>
              </a:rPr>
              <a:t>3* - Benchmark.</a:t>
            </a:r>
          </a:p>
          <a:p>
            <a:pPr algn="ctr"/>
            <a:r>
              <a:rPr lang="fr-FR" sz="1200" b="1">
                <a:solidFill>
                  <a:schemeClr val="tx1"/>
                </a:solidFill>
              </a:rPr>
              <a:t>     - </a:t>
            </a:r>
            <a:r>
              <a:rPr lang="fr-FR" sz="1200" err="1">
                <a:solidFill>
                  <a:schemeClr val="tx1"/>
                </a:solidFill>
              </a:rPr>
              <a:t>Process</a:t>
            </a:r>
            <a:r>
              <a:rPr lang="fr-FR" sz="1200">
                <a:solidFill>
                  <a:schemeClr val="tx1"/>
                </a:solidFill>
              </a:rPr>
              <a:t> </a:t>
            </a:r>
            <a:r>
              <a:rPr lang="fr-FR" sz="1200" err="1">
                <a:solidFill>
                  <a:schemeClr val="tx1"/>
                </a:solidFill>
              </a:rPr>
              <a:t>Fab</a:t>
            </a:r>
            <a:r>
              <a:rPr lang="fr-FR" sz="1200">
                <a:solidFill>
                  <a:schemeClr val="tx1"/>
                </a:solidFill>
              </a:rPr>
              <a:t>.</a:t>
            </a:r>
          </a:p>
          <a:p>
            <a:pPr algn="ctr"/>
            <a:r>
              <a:rPr lang="fr-FR" sz="1200">
                <a:solidFill>
                  <a:schemeClr val="tx1"/>
                </a:solidFill>
              </a:rPr>
              <a:t>     - CX génériques.</a:t>
            </a:r>
          </a:p>
          <a:p>
            <a:pPr algn="ctr"/>
            <a:r>
              <a:rPr lang="fr-FR" sz="1200">
                <a:solidFill>
                  <a:schemeClr val="tx1"/>
                </a:solidFill>
              </a:rPr>
              <a:t>     - Consultation des </a:t>
            </a:r>
            <a:r>
              <a:rPr lang="fr-FR" sz="1200" err="1">
                <a:solidFill>
                  <a:schemeClr val="tx1"/>
                </a:solidFill>
              </a:rPr>
              <a:t>CFx</a:t>
            </a:r>
            <a:r>
              <a:rPr lang="fr-FR" sz="1200">
                <a:solidFill>
                  <a:schemeClr val="tx1"/>
                </a:solidFill>
              </a:rPr>
              <a:t> FPPE.</a:t>
            </a:r>
          </a:p>
          <a:p>
            <a:pPr algn="ctr"/>
            <a:endParaRPr lang="fr-FR" sz="1200">
              <a:solidFill>
                <a:schemeClr val="tx1"/>
              </a:solidFill>
            </a:endParaRPr>
          </a:p>
        </p:txBody>
      </p:sp>
      <p:sp>
        <p:nvSpPr>
          <p:cNvPr id="60" name="Rectangle avec coins arrondis en diagonale 59"/>
          <p:cNvSpPr/>
          <p:nvPr/>
        </p:nvSpPr>
        <p:spPr>
          <a:xfrm>
            <a:off x="1406979" y="3875404"/>
            <a:ext cx="1510154" cy="1259767"/>
          </a:xfrm>
          <a:prstGeom prst="round2Diag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solidFill>
                <a:schemeClr val="tx1"/>
              </a:solidFill>
            </a:endParaRPr>
          </a:p>
          <a:p>
            <a:pPr algn="ctr"/>
            <a:r>
              <a:rPr lang="fr-FR" sz="1200">
                <a:solidFill>
                  <a:schemeClr val="tx1"/>
                </a:solidFill>
              </a:rPr>
              <a:t>7* Identification des validateurs par les références des pièces 3D sur Devin ou interpeller les gens de montage/FPPE.</a:t>
            </a:r>
          </a:p>
          <a:p>
            <a:pPr algn="ctr"/>
            <a:endParaRPr lang="fr-FR" sz="1200">
              <a:solidFill>
                <a:schemeClr val="tx1"/>
              </a:solidFill>
            </a:endParaRPr>
          </a:p>
        </p:txBody>
      </p:sp>
      <p:sp>
        <p:nvSpPr>
          <p:cNvPr id="61" name="Rectangle avec coins arrondis en diagonale 60"/>
          <p:cNvSpPr/>
          <p:nvPr/>
        </p:nvSpPr>
        <p:spPr>
          <a:xfrm>
            <a:off x="1315162" y="5317819"/>
            <a:ext cx="1499414" cy="1300361"/>
          </a:xfrm>
          <a:prstGeom prst="round2Diag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a:solidFill>
                  <a:schemeClr val="tx1"/>
                </a:solidFill>
              </a:rPr>
              <a:t>8* Une liste est contribuée pour savoir les validateurs à mettre dans le WF ainsi que les gens pour information.</a:t>
            </a:r>
          </a:p>
        </p:txBody>
      </p:sp>
      <p:sp>
        <p:nvSpPr>
          <p:cNvPr id="62" name="Rectangle 61"/>
          <p:cNvSpPr/>
          <p:nvPr/>
        </p:nvSpPr>
        <p:spPr>
          <a:xfrm>
            <a:off x="8186842" y="5353716"/>
            <a:ext cx="2483718" cy="614284"/>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a:solidFill>
                  <a:schemeClr val="tx1"/>
                </a:solidFill>
                <a:latin typeface="Times New Roman" panose="02020603050405020304" pitchFamily="18" charset="0"/>
                <a:cs typeface="Times New Roman" panose="02020603050405020304" pitchFamily="18" charset="0"/>
              </a:rPr>
              <a:t>9- Renseigner les </a:t>
            </a:r>
            <a:r>
              <a:rPr lang="fr-FR" sz="1400" b="1">
                <a:solidFill>
                  <a:schemeClr val="tx1"/>
                </a:solidFill>
                <a:latin typeface="Times New Roman" panose="02020603050405020304" pitchFamily="18" charset="0"/>
                <a:cs typeface="Times New Roman" panose="02020603050405020304" pitchFamily="18" charset="0"/>
              </a:rPr>
              <a:t>documents</a:t>
            </a:r>
            <a:r>
              <a:rPr lang="fr-FR" sz="1600" b="1">
                <a:solidFill>
                  <a:schemeClr val="tx1"/>
                </a:solidFill>
                <a:latin typeface="Times New Roman" panose="02020603050405020304" pitchFamily="18" charset="0"/>
                <a:cs typeface="Times New Roman" panose="02020603050405020304" pitchFamily="18" charset="0"/>
              </a:rPr>
              <a:t> nécessaires.</a:t>
            </a:r>
          </a:p>
        </p:txBody>
      </p:sp>
      <p:sp>
        <p:nvSpPr>
          <p:cNvPr id="63" name="Rectangle avec coins arrondis en diagonale 62"/>
          <p:cNvSpPr/>
          <p:nvPr/>
        </p:nvSpPr>
        <p:spPr>
          <a:xfrm>
            <a:off x="10805682" y="5171343"/>
            <a:ext cx="1386318" cy="838770"/>
          </a:xfrm>
          <a:prstGeom prst="round2Diag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a:solidFill>
                  <a:schemeClr val="tx1"/>
                </a:solidFill>
              </a:rPr>
              <a:t>9* - Fichier d’avancement.</a:t>
            </a:r>
          </a:p>
          <a:p>
            <a:r>
              <a:rPr lang="fr-FR" sz="1200">
                <a:solidFill>
                  <a:schemeClr val="tx1"/>
                </a:solidFill>
              </a:rPr>
              <a:t>     - Fichier PORO</a:t>
            </a:r>
          </a:p>
          <a:p>
            <a:r>
              <a:rPr lang="fr-FR" sz="1200">
                <a:solidFill>
                  <a:schemeClr val="tx1"/>
                </a:solidFill>
              </a:rPr>
              <a:t>     - Fichier KPI</a:t>
            </a:r>
          </a:p>
        </p:txBody>
      </p:sp>
      <p:cxnSp>
        <p:nvCxnSpPr>
          <p:cNvPr id="66" name="Connecteur droit avec flèche 65"/>
          <p:cNvCxnSpPr/>
          <p:nvPr/>
        </p:nvCxnSpPr>
        <p:spPr>
          <a:xfrm>
            <a:off x="5930035" y="1315363"/>
            <a:ext cx="0" cy="9861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Connecteur droit avec flèche 68"/>
          <p:cNvCxnSpPr/>
          <p:nvPr/>
        </p:nvCxnSpPr>
        <p:spPr>
          <a:xfrm>
            <a:off x="5953457" y="2513328"/>
            <a:ext cx="0" cy="253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Connecteur droit avec flèche 87"/>
          <p:cNvCxnSpPr/>
          <p:nvPr/>
        </p:nvCxnSpPr>
        <p:spPr>
          <a:xfrm>
            <a:off x="5953457" y="3094099"/>
            <a:ext cx="3732" cy="218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Connecteur droit avec flèche 92"/>
          <p:cNvCxnSpPr/>
          <p:nvPr/>
        </p:nvCxnSpPr>
        <p:spPr>
          <a:xfrm>
            <a:off x="5949725" y="5584366"/>
            <a:ext cx="3732" cy="218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Connecteur droit avec flèche 93"/>
          <p:cNvCxnSpPr/>
          <p:nvPr/>
        </p:nvCxnSpPr>
        <p:spPr>
          <a:xfrm>
            <a:off x="5957844" y="6237972"/>
            <a:ext cx="3732" cy="2188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Connecteur en angle 95"/>
          <p:cNvCxnSpPr>
            <a:stCxn id="54" idx="3"/>
          </p:cNvCxnSpPr>
          <p:nvPr/>
        </p:nvCxnSpPr>
        <p:spPr>
          <a:xfrm flipV="1">
            <a:off x="8915181" y="6010113"/>
            <a:ext cx="513520" cy="60614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Connecteur en angle 103"/>
          <p:cNvCxnSpPr>
            <a:stCxn id="40" idx="2"/>
          </p:cNvCxnSpPr>
          <p:nvPr/>
        </p:nvCxnSpPr>
        <p:spPr>
          <a:xfrm rot="5400000">
            <a:off x="6814968" y="1037694"/>
            <a:ext cx="182159" cy="189771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Connecteur en angle 104"/>
          <p:cNvCxnSpPr/>
          <p:nvPr/>
        </p:nvCxnSpPr>
        <p:spPr>
          <a:xfrm rot="10800000" flipV="1">
            <a:off x="2986636" y="981936"/>
            <a:ext cx="1575953" cy="913535"/>
          </a:xfrm>
          <a:prstGeom prst="bentConnector3">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 name="ZoneTexte 1"/>
          <p:cNvSpPr txBox="1"/>
          <p:nvPr/>
        </p:nvSpPr>
        <p:spPr>
          <a:xfrm rot="16200000">
            <a:off x="-2533428" y="2883633"/>
            <a:ext cx="6364940" cy="1015663"/>
          </a:xfrm>
          <a:prstGeom prst="rect">
            <a:avLst/>
          </a:prstGeom>
          <a:noFill/>
        </p:spPr>
        <p:txBody>
          <a:bodyPr wrap="square" rtlCol="0">
            <a:spAutoFit/>
          </a:bodyPr>
          <a:lstStyle/>
          <a:p>
            <a:pPr algn="ctr"/>
            <a:r>
              <a:rPr lang="fr-FR" sz="600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 R O C E S </a:t>
            </a:r>
            <a:r>
              <a:rPr lang="fr-FR" sz="6000" err="1">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t>
            </a:r>
            <a:r>
              <a:rPr lang="fr-FR" sz="600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U S</a:t>
            </a:r>
          </a:p>
        </p:txBody>
      </p:sp>
      <p:pic>
        <p:nvPicPr>
          <p:cNvPr id="3" name="Image 2">
            <a:extLst>
              <a:ext uri="{FF2B5EF4-FFF2-40B4-BE49-F238E27FC236}">
                <a16:creationId xmlns:a16="http://schemas.microsoft.com/office/drawing/2014/main" id="{523CADE3-8FCD-61E6-7B4F-66B5E66923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13388" y="-37362"/>
            <a:ext cx="2793118" cy="687957"/>
          </a:xfrm>
          <a:prstGeom prst="rect">
            <a:avLst/>
          </a:prstGeom>
        </p:spPr>
      </p:pic>
      <p:sp>
        <p:nvSpPr>
          <p:cNvPr id="4" name="Espace réservé du numéro de diapositive 3">
            <a:extLst>
              <a:ext uri="{FF2B5EF4-FFF2-40B4-BE49-F238E27FC236}">
                <a16:creationId xmlns:a16="http://schemas.microsoft.com/office/drawing/2014/main" id="{24F62C24-6F33-B46C-C2D6-1F16A8F0766A}"/>
              </a:ext>
            </a:extLst>
          </p:cNvPr>
          <p:cNvSpPr>
            <a:spLocks noGrp="1"/>
          </p:cNvSpPr>
          <p:nvPr>
            <p:ph type="sldNum" sz="quarter" idx="12"/>
          </p:nvPr>
        </p:nvSpPr>
        <p:spPr/>
        <p:txBody>
          <a:bodyPr/>
          <a:lstStyle/>
          <a:p>
            <a:fld id="{8804BB38-747B-4994-9B8D-B168AF305C05}" type="slidenum">
              <a:rPr lang="fr-FR" smtClean="0"/>
              <a:t>11</a:t>
            </a:fld>
            <a:endParaRPr lang="fr-FR"/>
          </a:p>
        </p:txBody>
      </p:sp>
    </p:spTree>
    <p:extLst>
      <p:ext uri="{BB962C8B-B14F-4D97-AF65-F5344CB8AC3E}">
        <p14:creationId xmlns:p14="http://schemas.microsoft.com/office/powerpoint/2010/main" val="3790983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48856" y="233916"/>
            <a:ext cx="11243044" cy="400110"/>
          </a:xfrm>
          <a:prstGeom prst="rect">
            <a:avLst/>
          </a:prstGeom>
          <a:noFill/>
        </p:spPr>
        <p:txBody>
          <a:bodyPr wrap="square" rtlCol="0">
            <a:spAutoFit/>
          </a:bodyPr>
          <a:lstStyle/>
          <a:p>
            <a:r>
              <a:rPr lang="fr-FR" sz="2000" b="1" i="1">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STOCKAGE DES FICHES APOQUA SOUS DOCINFO </a:t>
            </a:r>
          </a:p>
        </p:txBody>
      </p:sp>
      <p:cxnSp>
        <p:nvCxnSpPr>
          <p:cNvPr id="5" name="Connecteur droit 4"/>
          <p:cNvCxnSpPr/>
          <p:nvPr/>
        </p:nvCxnSpPr>
        <p:spPr>
          <a:xfrm>
            <a:off x="148856" y="634026"/>
            <a:ext cx="11866681"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Image 11"/>
          <p:cNvPicPr>
            <a:picLocks noChangeAspect="1"/>
          </p:cNvPicPr>
          <p:nvPr/>
        </p:nvPicPr>
        <p:blipFill rotWithShape="1">
          <a:blip r:embed="rId2"/>
          <a:srcRect l="1" r="351"/>
          <a:stretch/>
        </p:blipFill>
        <p:spPr>
          <a:xfrm>
            <a:off x="0" y="824526"/>
            <a:ext cx="10153650" cy="5810806"/>
          </a:xfrm>
          <a:prstGeom prst="rect">
            <a:avLst/>
          </a:prstGeom>
        </p:spPr>
      </p:pic>
      <p:sp>
        <p:nvSpPr>
          <p:cNvPr id="17" name="ZoneTexte 16"/>
          <p:cNvSpPr txBox="1"/>
          <p:nvPr/>
        </p:nvSpPr>
        <p:spPr>
          <a:xfrm>
            <a:off x="433137" y="4852519"/>
            <a:ext cx="10596813" cy="369332"/>
          </a:xfrm>
          <a:prstGeom prst="rect">
            <a:avLst/>
          </a:prstGeom>
          <a:noFill/>
        </p:spPr>
        <p:txBody>
          <a:bodyPr wrap="square" rtlCol="0">
            <a:spAutoFit/>
          </a:bodyPr>
          <a:lstStyle/>
          <a:p>
            <a:r>
              <a:rPr lang="fr-FR">
                <a:solidFill>
                  <a:srgbClr val="FF0000"/>
                </a:solidFill>
                <a:latin typeface="Times New Roman" panose="02020603050405020304" pitchFamily="18" charset="0"/>
                <a:cs typeface="Times New Roman" panose="02020603050405020304" pitchFamily="18" charset="0"/>
              </a:rPr>
              <a:t>Remarque : </a:t>
            </a:r>
            <a:r>
              <a:rPr lang="fr-FR" b="1">
                <a:latin typeface="Times New Roman" panose="02020603050405020304" pitchFamily="18" charset="0"/>
                <a:cs typeface="Times New Roman" panose="02020603050405020304" pitchFamily="18" charset="0"/>
              </a:rPr>
              <a:t>Chaque fiche APOQUA a une seule et unique référence </a:t>
            </a:r>
            <a:r>
              <a:rPr lang="fr-FR" b="1" err="1">
                <a:latin typeface="Times New Roman" panose="02020603050405020304" pitchFamily="18" charset="0"/>
                <a:cs typeface="Times New Roman" panose="02020603050405020304" pitchFamily="18" charset="0"/>
              </a:rPr>
              <a:t>DocInfo</a:t>
            </a:r>
            <a:r>
              <a:rPr lang="fr-FR">
                <a:latin typeface="Times New Roman" panose="02020603050405020304" pitchFamily="18" charset="0"/>
                <a:cs typeface="Times New Roman" panose="02020603050405020304" pitchFamily="18" charset="0"/>
              </a:rPr>
              <a:t>. </a:t>
            </a:r>
          </a:p>
        </p:txBody>
      </p:sp>
      <p:cxnSp>
        <p:nvCxnSpPr>
          <p:cNvPr id="3" name="Connecteur droit avec flèche 2"/>
          <p:cNvCxnSpPr/>
          <p:nvPr/>
        </p:nvCxnSpPr>
        <p:spPr>
          <a:xfrm>
            <a:off x="8039100" y="3065461"/>
            <a:ext cx="1181100" cy="0"/>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ZoneTexte 5"/>
          <p:cNvSpPr txBox="1"/>
          <p:nvPr/>
        </p:nvSpPr>
        <p:spPr>
          <a:xfrm>
            <a:off x="9396663" y="2880795"/>
            <a:ext cx="2795337" cy="369332"/>
          </a:xfrm>
          <a:prstGeom prst="rect">
            <a:avLst/>
          </a:prstGeom>
          <a:noFill/>
        </p:spPr>
        <p:txBody>
          <a:bodyPr wrap="square" rtlCol="0">
            <a:spAutoFit/>
          </a:bodyPr>
          <a:lstStyle/>
          <a:p>
            <a:r>
              <a:rPr lang="fr-FR">
                <a:latin typeface="Times New Roman" panose="02020603050405020304" pitchFamily="18" charset="0"/>
                <a:cs typeface="Times New Roman" panose="02020603050405020304" pitchFamily="18" charset="0"/>
              </a:rPr>
              <a:t>Désignation Normalisée.</a:t>
            </a:r>
          </a:p>
        </p:txBody>
      </p:sp>
      <p:cxnSp>
        <p:nvCxnSpPr>
          <p:cNvPr id="18" name="Connecteur droit avec flèche 17"/>
          <p:cNvCxnSpPr/>
          <p:nvPr/>
        </p:nvCxnSpPr>
        <p:spPr>
          <a:xfrm flipV="1">
            <a:off x="2533650" y="3429000"/>
            <a:ext cx="6686550" cy="10038"/>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ZoneTexte 18"/>
          <p:cNvSpPr txBox="1"/>
          <p:nvPr/>
        </p:nvSpPr>
        <p:spPr>
          <a:xfrm>
            <a:off x="9396662" y="3180897"/>
            <a:ext cx="2795337" cy="369332"/>
          </a:xfrm>
          <a:prstGeom prst="rect">
            <a:avLst/>
          </a:prstGeom>
          <a:noFill/>
        </p:spPr>
        <p:txBody>
          <a:bodyPr wrap="square" rtlCol="0">
            <a:spAutoFit/>
          </a:bodyPr>
          <a:lstStyle/>
          <a:p>
            <a:r>
              <a:rPr lang="fr-FR">
                <a:latin typeface="Times New Roman" panose="02020603050405020304" pitchFamily="18" charset="0"/>
                <a:cs typeface="Times New Roman" panose="02020603050405020304" pitchFamily="18" charset="0"/>
              </a:rPr>
              <a:t>Toujours le type A3.</a:t>
            </a:r>
          </a:p>
        </p:txBody>
      </p:sp>
      <p:cxnSp>
        <p:nvCxnSpPr>
          <p:cNvPr id="20" name="Connecteur droit avec flèche 19"/>
          <p:cNvCxnSpPr/>
          <p:nvPr/>
        </p:nvCxnSpPr>
        <p:spPr>
          <a:xfrm>
            <a:off x="4036826" y="3724095"/>
            <a:ext cx="5183374" cy="5834"/>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ZoneTexte 22"/>
          <p:cNvSpPr txBox="1"/>
          <p:nvPr/>
        </p:nvSpPr>
        <p:spPr>
          <a:xfrm>
            <a:off x="9396663" y="3480999"/>
            <a:ext cx="2795337" cy="646331"/>
          </a:xfrm>
          <a:prstGeom prst="rect">
            <a:avLst/>
          </a:prstGeom>
          <a:noFill/>
        </p:spPr>
        <p:txBody>
          <a:bodyPr wrap="square" rtlCol="0">
            <a:spAutoFit/>
          </a:bodyPr>
          <a:lstStyle/>
          <a:p>
            <a:r>
              <a:rPr lang="fr-FR">
                <a:latin typeface="Times New Roman" panose="02020603050405020304" pitchFamily="18" charset="0"/>
                <a:cs typeface="Times New Roman" panose="02020603050405020304" pitchFamily="18" charset="0"/>
              </a:rPr>
              <a:t>Référence </a:t>
            </a:r>
            <a:r>
              <a:rPr lang="fr-FR" err="1">
                <a:latin typeface="Times New Roman" panose="02020603050405020304" pitchFamily="18" charset="0"/>
                <a:cs typeface="Times New Roman" panose="02020603050405020304" pitchFamily="18" charset="0"/>
              </a:rPr>
              <a:t>DocInfo</a:t>
            </a:r>
            <a:r>
              <a:rPr lang="fr-FR">
                <a:latin typeface="Times New Roman" panose="02020603050405020304" pitchFamily="18" charset="0"/>
                <a:cs typeface="Times New Roman" panose="02020603050405020304" pitchFamily="18" charset="0"/>
              </a:rPr>
              <a:t> </a:t>
            </a:r>
            <a:r>
              <a:rPr lang="fr-FR" err="1">
                <a:latin typeface="Times New Roman" panose="02020603050405020304" pitchFamily="18" charset="0"/>
                <a:cs typeface="Times New Roman" panose="02020603050405020304" pitchFamily="18" charset="0"/>
              </a:rPr>
              <a:t>créeé</a:t>
            </a:r>
            <a:r>
              <a:rPr lang="fr-FR">
                <a:latin typeface="Times New Roman" panose="02020603050405020304" pitchFamily="18" charset="0"/>
                <a:cs typeface="Times New Roman" panose="02020603050405020304" pitchFamily="18" charset="0"/>
              </a:rPr>
              <a:t> par le client.</a:t>
            </a:r>
          </a:p>
        </p:txBody>
      </p:sp>
      <p:pic>
        <p:nvPicPr>
          <p:cNvPr id="2" name="Image 1">
            <a:extLst>
              <a:ext uri="{FF2B5EF4-FFF2-40B4-BE49-F238E27FC236}">
                <a16:creationId xmlns:a16="http://schemas.microsoft.com/office/drawing/2014/main" id="{D83D5C09-AEAD-8417-FB22-FD34DA69ADD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13388" y="-37362"/>
            <a:ext cx="2793118" cy="687957"/>
          </a:xfrm>
          <a:prstGeom prst="rect">
            <a:avLst/>
          </a:prstGeom>
        </p:spPr>
      </p:pic>
      <p:sp>
        <p:nvSpPr>
          <p:cNvPr id="7" name="Espace réservé du numéro de diapositive 6">
            <a:extLst>
              <a:ext uri="{FF2B5EF4-FFF2-40B4-BE49-F238E27FC236}">
                <a16:creationId xmlns:a16="http://schemas.microsoft.com/office/drawing/2014/main" id="{AC8BBECE-8E6C-5D42-B2C4-610F35EE47BE}"/>
              </a:ext>
            </a:extLst>
          </p:cNvPr>
          <p:cNvSpPr>
            <a:spLocks noGrp="1"/>
          </p:cNvSpPr>
          <p:nvPr>
            <p:ph type="sldNum" sz="quarter" idx="12"/>
          </p:nvPr>
        </p:nvSpPr>
        <p:spPr/>
        <p:txBody>
          <a:bodyPr/>
          <a:lstStyle/>
          <a:p>
            <a:fld id="{8804BB38-747B-4994-9B8D-B168AF305C05}" type="slidenum">
              <a:rPr lang="fr-FR" smtClean="0"/>
              <a:t>12</a:t>
            </a:fld>
            <a:endParaRPr lang="fr-FR"/>
          </a:p>
        </p:txBody>
      </p:sp>
    </p:spTree>
    <p:extLst>
      <p:ext uri="{BB962C8B-B14F-4D97-AF65-F5344CB8AC3E}">
        <p14:creationId xmlns:p14="http://schemas.microsoft.com/office/powerpoint/2010/main" val="3532851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3285264" y="1141379"/>
            <a:ext cx="8843963" cy="5597865"/>
          </a:xfrm>
          <a:prstGeom prst="rect">
            <a:avLst/>
          </a:prstGeom>
        </p:spPr>
      </p:pic>
      <p:sp>
        <p:nvSpPr>
          <p:cNvPr id="4" name="ZoneTexte 3"/>
          <p:cNvSpPr txBox="1"/>
          <p:nvPr/>
        </p:nvSpPr>
        <p:spPr>
          <a:xfrm>
            <a:off x="148856" y="233916"/>
            <a:ext cx="11243044" cy="400110"/>
          </a:xfrm>
          <a:prstGeom prst="rect">
            <a:avLst/>
          </a:prstGeom>
          <a:noFill/>
        </p:spPr>
        <p:txBody>
          <a:bodyPr wrap="square" rtlCol="0">
            <a:spAutoFit/>
          </a:bodyPr>
          <a:lstStyle/>
          <a:p>
            <a:r>
              <a:rPr lang="fr-FR" sz="2000" b="1" i="1">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LANCEMENT D’UN CIRCUIT DE VALIDATION SOUS DOCINFO (WORKFLOW)</a:t>
            </a:r>
          </a:p>
        </p:txBody>
      </p:sp>
      <p:cxnSp>
        <p:nvCxnSpPr>
          <p:cNvPr id="5" name="Connecteur droit 4"/>
          <p:cNvCxnSpPr/>
          <p:nvPr/>
        </p:nvCxnSpPr>
        <p:spPr>
          <a:xfrm>
            <a:off x="148856" y="634026"/>
            <a:ext cx="11866681" cy="0"/>
          </a:xfrm>
          <a:prstGeom prst="line">
            <a:avLst/>
          </a:prstGeom>
        </p:spPr>
        <p:style>
          <a:lnRef idx="1">
            <a:schemeClr val="accent1"/>
          </a:lnRef>
          <a:fillRef idx="0">
            <a:schemeClr val="accent1"/>
          </a:fillRef>
          <a:effectRef idx="0">
            <a:schemeClr val="accent1"/>
          </a:effectRef>
          <a:fontRef idx="minor">
            <a:schemeClr val="tx1"/>
          </a:fontRef>
        </p:style>
      </p:cxnSp>
      <p:pic>
        <p:nvPicPr>
          <p:cNvPr id="20" name="Image 19"/>
          <p:cNvPicPr>
            <a:picLocks noChangeAspect="1"/>
          </p:cNvPicPr>
          <p:nvPr/>
        </p:nvPicPr>
        <p:blipFill rotWithShape="1">
          <a:blip r:embed="rId4">
            <a:extLst>
              <a:ext uri="{BEBA8EAE-BF5A-486C-A8C5-ECC9F3942E4B}">
                <a14:imgProps xmlns:a14="http://schemas.microsoft.com/office/drawing/2010/main">
                  <a14:imgLayer r:embed="rId5">
                    <a14:imgEffect>
                      <a14:sharpenSoften amount="50000"/>
                    </a14:imgEffect>
                  </a14:imgLayer>
                </a14:imgProps>
              </a:ext>
            </a:extLst>
          </a:blip>
          <a:srcRect b="54360"/>
          <a:stretch/>
        </p:blipFill>
        <p:spPr>
          <a:xfrm>
            <a:off x="169333" y="632226"/>
            <a:ext cx="7604494" cy="1512292"/>
          </a:xfrm>
          <a:prstGeom prst="rect">
            <a:avLst/>
          </a:prstGeom>
        </p:spPr>
      </p:pic>
      <p:sp>
        <p:nvSpPr>
          <p:cNvPr id="23" name="Rectangle 22"/>
          <p:cNvSpPr/>
          <p:nvPr/>
        </p:nvSpPr>
        <p:spPr>
          <a:xfrm>
            <a:off x="3639233" y="995230"/>
            <a:ext cx="1309866" cy="86581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Ellipse 23"/>
          <p:cNvSpPr/>
          <p:nvPr/>
        </p:nvSpPr>
        <p:spPr>
          <a:xfrm>
            <a:off x="4420988" y="634026"/>
            <a:ext cx="423086" cy="32634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rgbClr val="FF0000"/>
                </a:solidFill>
              </a:rPr>
              <a:t>1</a:t>
            </a:r>
          </a:p>
        </p:txBody>
      </p:sp>
      <p:sp>
        <p:nvSpPr>
          <p:cNvPr id="28" name="Rectangle 27"/>
          <p:cNvSpPr/>
          <p:nvPr/>
        </p:nvSpPr>
        <p:spPr>
          <a:xfrm>
            <a:off x="3350740" y="4160187"/>
            <a:ext cx="2814221" cy="21932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ZoneTexte 28"/>
          <p:cNvSpPr txBox="1"/>
          <p:nvPr/>
        </p:nvSpPr>
        <p:spPr>
          <a:xfrm>
            <a:off x="148856" y="4579383"/>
            <a:ext cx="3477169" cy="523220"/>
          </a:xfrm>
          <a:prstGeom prst="rect">
            <a:avLst/>
          </a:prstGeom>
          <a:noFill/>
          <a:ln>
            <a:noFill/>
          </a:ln>
        </p:spPr>
        <p:txBody>
          <a:bodyPr wrap="square" rtlCol="0">
            <a:spAutoFit/>
          </a:bodyPr>
          <a:lstStyle/>
          <a:p>
            <a:r>
              <a:rPr lang="fr-FR" sz="1400">
                <a:latin typeface="Times New Roman" panose="02020603050405020304" pitchFamily="18" charset="0"/>
                <a:cs typeface="Times New Roman" panose="02020603050405020304" pitchFamily="18" charset="0"/>
              </a:rPr>
              <a:t>Délai : 3 semaines après date de création ou modification.</a:t>
            </a:r>
          </a:p>
        </p:txBody>
      </p:sp>
      <p:sp>
        <p:nvSpPr>
          <p:cNvPr id="32" name="Rectangle 31"/>
          <p:cNvSpPr/>
          <p:nvPr/>
        </p:nvSpPr>
        <p:spPr>
          <a:xfrm>
            <a:off x="3095000" y="5606534"/>
            <a:ext cx="4781674" cy="8413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ZoneTexte 35"/>
          <p:cNvSpPr txBox="1"/>
          <p:nvPr/>
        </p:nvSpPr>
        <p:spPr>
          <a:xfrm>
            <a:off x="7876674" y="5690367"/>
            <a:ext cx="3087998" cy="738664"/>
          </a:xfrm>
          <a:prstGeom prst="rect">
            <a:avLst/>
          </a:prstGeom>
          <a:noFill/>
        </p:spPr>
        <p:txBody>
          <a:bodyPr wrap="square" rtlCol="0">
            <a:spAutoFit/>
          </a:bodyPr>
          <a:lstStyle/>
          <a:p>
            <a:r>
              <a:rPr lang="fr-FR" sz="1400">
                <a:latin typeface="Times New Roman" panose="02020603050405020304" pitchFamily="18" charset="0"/>
                <a:cs typeface="Times New Roman" panose="02020603050405020304" pitchFamily="18" charset="0"/>
              </a:rPr>
              <a:t>De préférence, il faut cocher les 2 cases afin de recevoir les validations par email automatiquement. </a:t>
            </a:r>
          </a:p>
        </p:txBody>
      </p:sp>
      <p:sp>
        <p:nvSpPr>
          <p:cNvPr id="37" name="Ellipse 36"/>
          <p:cNvSpPr/>
          <p:nvPr/>
        </p:nvSpPr>
        <p:spPr>
          <a:xfrm>
            <a:off x="8250477" y="1629363"/>
            <a:ext cx="337855" cy="2173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rgbClr val="FF0000"/>
                </a:solidFill>
              </a:rPr>
              <a:t>2</a:t>
            </a:r>
          </a:p>
        </p:txBody>
      </p:sp>
      <p:sp>
        <p:nvSpPr>
          <p:cNvPr id="39" name="Rectangle 38"/>
          <p:cNvSpPr/>
          <p:nvPr/>
        </p:nvSpPr>
        <p:spPr>
          <a:xfrm>
            <a:off x="3497776" y="6686891"/>
            <a:ext cx="2799780" cy="31076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1" name="Connecteur droit avec flèche 40"/>
          <p:cNvCxnSpPr/>
          <p:nvPr/>
        </p:nvCxnSpPr>
        <p:spPr>
          <a:xfrm flipH="1">
            <a:off x="3095000" y="6793213"/>
            <a:ext cx="402777"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ZoneTexte 41"/>
          <p:cNvSpPr txBox="1"/>
          <p:nvPr/>
        </p:nvSpPr>
        <p:spPr>
          <a:xfrm>
            <a:off x="170844" y="6441529"/>
            <a:ext cx="3358018" cy="523220"/>
          </a:xfrm>
          <a:prstGeom prst="rect">
            <a:avLst/>
          </a:prstGeom>
          <a:noFill/>
        </p:spPr>
        <p:txBody>
          <a:bodyPr wrap="square" rtlCol="0">
            <a:spAutoFit/>
          </a:bodyPr>
          <a:lstStyle/>
          <a:p>
            <a:r>
              <a:rPr lang="fr-FR" sz="1400">
                <a:latin typeface="Times New Roman" panose="02020603050405020304" pitchFamily="18" charset="0"/>
                <a:cs typeface="Times New Roman" panose="02020603050405020304" pitchFamily="18" charset="0"/>
              </a:rPr>
              <a:t>Pour chercher les validateurs par leurs noms.</a:t>
            </a:r>
          </a:p>
        </p:txBody>
      </p:sp>
      <p:cxnSp>
        <p:nvCxnSpPr>
          <p:cNvPr id="11" name="Connecteur en angle 10"/>
          <p:cNvCxnSpPr>
            <a:stCxn id="23" idx="3"/>
            <a:endCxn id="8" idx="0"/>
          </p:cNvCxnSpPr>
          <p:nvPr/>
        </p:nvCxnSpPr>
        <p:spPr>
          <a:xfrm flipV="1">
            <a:off x="4949099" y="1141379"/>
            <a:ext cx="2758147" cy="286759"/>
          </a:xfrm>
          <a:prstGeom prst="bentConnector4">
            <a:avLst>
              <a:gd name="adj1" fmla="val 268613"/>
              <a:gd name="adj2" fmla="val 230684"/>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p:cNvSpPr/>
          <p:nvPr/>
        </p:nvSpPr>
        <p:spPr>
          <a:xfrm>
            <a:off x="3350740" y="4601033"/>
            <a:ext cx="6458126" cy="29180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Rectangle 43"/>
          <p:cNvSpPr/>
          <p:nvPr/>
        </p:nvSpPr>
        <p:spPr>
          <a:xfrm>
            <a:off x="3336273" y="4913068"/>
            <a:ext cx="7214729" cy="2733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Image 1">
            <a:extLst>
              <a:ext uri="{FF2B5EF4-FFF2-40B4-BE49-F238E27FC236}">
                <a16:creationId xmlns:a16="http://schemas.microsoft.com/office/drawing/2014/main" id="{941B93FD-FC2F-1B4F-28BC-BCF87267A6A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513388" y="-37362"/>
            <a:ext cx="2793118" cy="687957"/>
          </a:xfrm>
          <a:prstGeom prst="rect">
            <a:avLst/>
          </a:prstGeom>
        </p:spPr>
      </p:pic>
      <p:sp>
        <p:nvSpPr>
          <p:cNvPr id="3" name="Espace réservé du numéro de diapositive 2">
            <a:extLst>
              <a:ext uri="{FF2B5EF4-FFF2-40B4-BE49-F238E27FC236}">
                <a16:creationId xmlns:a16="http://schemas.microsoft.com/office/drawing/2014/main" id="{ED35D91E-27A5-D146-0951-04EDD0C85DF0}"/>
              </a:ext>
            </a:extLst>
          </p:cNvPr>
          <p:cNvSpPr>
            <a:spLocks noGrp="1"/>
          </p:cNvSpPr>
          <p:nvPr>
            <p:ph type="sldNum" sz="quarter" idx="12"/>
          </p:nvPr>
        </p:nvSpPr>
        <p:spPr/>
        <p:txBody>
          <a:bodyPr/>
          <a:lstStyle/>
          <a:p>
            <a:fld id="{8804BB38-747B-4994-9B8D-B168AF305C05}" type="slidenum">
              <a:rPr lang="fr-FR" smtClean="0"/>
              <a:t>13</a:t>
            </a:fld>
            <a:endParaRPr lang="fr-FR"/>
          </a:p>
        </p:txBody>
      </p:sp>
    </p:spTree>
    <p:extLst>
      <p:ext uri="{BB962C8B-B14F-4D97-AF65-F5344CB8AC3E}">
        <p14:creationId xmlns:p14="http://schemas.microsoft.com/office/powerpoint/2010/main" val="1561103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48856" y="233916"/>
            <a:ext cx="11243044" cy="400110"/>
          </a:xfrm>
          <a:prstGeom prst="rect">
            <a:avLst/>
          </a:prstGeom>
          <a:noFill/>
        </p:spPr>
        <p:txBody>
          <a:bodyPr wrap="square" rtlCol="0">
            <a:spAutoFit/>
          </a:bodyPr>
          <a:lstStyle/>
          <a:p>
            <a:r>
              <a:rPr lang="fr-FR" sz="2000" b="1" i="1">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STATUS DES FICHES APOQUA SOUS DOCINFO </a:t>
            </a:r>
          </a:p>
        </p:txBody>
      </p:sp>
      <p:cxnSp>
        <p:nvCxnSpPr>
          <p:cNvPr id="5" name="Connecteur droit 4"/>
          <p:cNvCxnSpPr/>
          <p:nvPr/>
        </p:nvCxnSpPr>
        <p:spPr>
          <a:xfrm>
            <a:off x="148856" y="634026"/>
            <a:ext cx="11866681"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7" name="Groupe 6"/>
          <p:cNvGrpSpPr/>
          <p:nvPr/>
        </p:nvGrpSpPr>
        <p:grpSpPr>
          <a:xfrm>
            <a:off x="148856" y="785524"/>
            <a:ext cx="9467850" cy="1632924"/>
            <a:chOff x="1" y="824527"/>
            <a:chExt cx="9467850" cy="1632924"/>
          </a:xfrm>
        </p:grpSpPr>
        <p:pic>
          <p:nvPicPr>
            <p:cNvPr id="12" name="Image 11"/>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l="1" r="351" b="69863"/>
            <a:stretch/>
          </p:blipFill>
          <p:spPr>
            <a:xfrm>
              <a:off x="1" y="824527"/>
              <a:ext cx="9467850" cy="1632924"/>
            </a:xfrm>
            <a:prstGeom prst="rect">
              <a:avLst/>
            </a:prstGeom>
          </p:spPr>
        </p:pic>
        <p:sp>
          <p:nvSpPr>
            <p:cNvPr id="2" name="Rectangle 1"/>
            <p:cNvSpPr/>
            <p:nvPr/>
          </p:nvSpPr>
          <p:spPr>
            <a:xfrm>
              <a:off x="4629150" y="1181100"/>
              <a:ext cx="1276350" cy="12001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cxnSp>
        <p:nvCxnSpPr>
          <p:cNvPr id="9" name="Connecteur droit avec flèche 8"/>
          <p:cNvCxnSpPr/>
          <p:nvPr/>
        </p:nvCxnSpPr>
        <p:spPr>
          <a:xfrm>
            <a:off x="6054355" y="1742172"/>
            <a:ext cx="3775445" cy="1825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6" name="Image 15"/>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185736" y="2535994"/>
            <a:ext cx="8610599" cy="2113542"/>
          </a:xfrm>
          <a:prstGeom prst="rect">
            <a:avLst/>
          </a:prstGeom>
        </p:spPr>
      </p:pic>
      <p:pic>
        <p:nvPicPr>
          <p:cNvPr id="21" name="Image 20"/>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Layer>
                </a14:imgProps>
              </a:ext>
            </a:extLst>
          </a:blip>
          <a:stretch>
            <a:fillRect/>
          </a:stretch>
        </p:blipFill>
        <p:spPr>
          <a:xfrm>
            <a:off x="185736" y="4920130"/>
            <a:ext cx="8239125" cy="1641511"/>
          </a:xfrm>
          <a:prstGeom prst="rect">
            <a:avLst/>
          </a:prstGeom>
        </p:spPr>
      </p:pic>
      <p:sp>
        <p:nvSpPr>
          <p:cNvPr id="22" name="Rectangle 21"/>
          <p:cNvSpPr/>
          <p:nvPr/>
        </p:nvSpPr>
        <p:spPr>
          <a:xfrm>
            <a:off x="148856" y="4076700"/>
            <a:ext cx="8823694" cy="57283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6" name="Connecteur droit avec flèche 25"/>
          <p:cNvCxnSpPr/>
          <p:nvPr/>
        </p:nvCxnSpPr>
        <p:spPr>
          <a:xfrm>
            <a:off x="8948183" y="4363118"/>
            <a:ext cx="668523"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4991100" y="5333999"/>
            <a:ext cx="2628900" cy="122764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1" name="Connecteur droit avec flèche 30"/>
          <p:cNvCxnSpPr/>
          <p:nvPr/>
        </p:nvCxnSpPr>
        <p:spPr>
          <a:xfrm flipV="1">
            <a:off x="7620000" y="5924250"/>
            <a:ext cx="1996706" cy="96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ZoneTexte 32"/>
          <p:cNvSpPr txBox="1"/>
          <p:nvPr/>
        </p:nvSpPr>
        <p:spPr>
          <a:xfrm>
            <a:off x="9829800" y="1566633"/>
            <a:ext cx="2795337" cy="369332"/>
          </a:xfrm>
          <a:prstGeom prst="rect">
            <a:avLst/>
          </a:prstGeom>
          <a:noFill/>
        </p:spPr>
        <p:txBody>
          <a:bodyPr wrap="square" rtlCol="0">
            <a:spAutoFit/>
          </a:bodyPr>
          <a:lstStyle/>
          <a:p>
            <a:r>
              <a:rPr lang="fr-FR">
                <a:latin typeface="Times New Roman" panose="02020603050405020304" pitchFamily="18" charset="0"/>
                <a:cs typeface="Times New Roman" panose="02020603050405020304" pitchFamily="18" charset="0"/>
              </a:rPr>
              <a:t>Fiche Publiée.</a:t>
            </a:r>
          </a:p>
        </p:txBody>
      </p:sp>
      <p:sp>
        <p:nvSpPr>
          <p:cNvPr id="34" name="ZoneTexte 33"/>
          <p:cNvSpPr txBox="1"/>
          <p:nvPr/>
        </p:nvSpPr>
        <p:spPr>
          <a:xfrm>
            <a:off x="9768554" y="4076700"/>
            <a:ext cx="2795337" cy="369332"/>
          </a:xfrm>
          <a:prstGeom prst="rect">
            <a:avLst/>
          </a:prstGeom>
          <a:noFill/>
        </p:spPr>
        <p:txBody>
          <a:bodyPr wrap="square" rtlCol="0">
            <a:spAutoFit/>
          </a:bodyPr>
          <a:lstStyle/>
          <a:p>
            <a:r>
              <a:rPr lang="fr-FR">
                <a:latin typeface="Times New Roman" panose="02020603050405020304" pitchFamily="18" charset="0"/>
                <a:cs typeface="Times New Roman" panose="02020603050405020304" pitchFamily="18" charset="0"/>
              </a:rPr>
              <a:t>Workflow en cours.</a:t>
            </a:r>
          </a:p>
        </p:txBody>
      </p:sp>
      <p:sp>
        <p:nvSpPr>
          <p:cNvPr id="35" name="ZoneTexte 34"/>
          <p:cNvSpPr txBox="1"/>
          <p:nvPr/>
        </p:nvSpPr>
        <p:spPr>
          <a:xfrm>
            <a:off x="9829799" y="5739584"/>
            <a:ext cx="2795337" cy="369332"/>
          </a:xfrm>
          <a:prstGeom prst="rect">
            <a:avLst/>
          </a:prstGeom>
          <a:noFill/>
        </p:spPr>
        <p:txBody>
          <a:bodyPr wrap="square" rtlCol="0">
            <a:spAutoFit/>
          </a:bodyPr>
          <a:lstStyle/>
          <a:p>
            <a:r>
              <a:rPr lang="fr-FR">
                <a:latin typeface="Times New Roman" panose="02020603050405020304" pitchFamily="18" charset="0"/>
                <a:cs typeface="Times New Roman" panose="02020603050405020304" pitchFamily="18" charset="0"/>
              </a:rPr>
              <a:t>Fiche en cours.</a:t>
            </a:r>
          </a:p>
        </p:txBody>
      </p:sp>
      <p:pic>
        <p:nvPicPr>
          <p:cNvPr id="3" name="Image 2">
            <a:extLst>
              <a:ext uri="{FF2B5EF4-FFF2-40B4-BE49-F238E27FC236}">
                <a16:creationId xmlns:a16="http://schemas.microsoft.com/office/drawing/2014/main" id="{A9BF37D2-8519-AED8-57B8-1EEC15E6995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513388" y="-37362"/>
            <a:ext cx="2793118" cy="687957"/>
          </a:xfrm>
          <a:prstGeom prst="rect">
            <a:avLst/>
          </a:prstGeom>
        </p:spPr>
      </p:pic>
      <p:sp>
        <p:nvSpPr>
          <p:cNvPr id="6" name="Espace réservé du numéro de diapositive 5">
            <a:extLst>
              <a:ext uri="{FF2B5EF4-FFF2-40B4-BE49-F238E27FC236}">
                <a16:creationId xmlns:a16="http://schemas.microsoft.com/office/drawing/2014/main" id="{A10D22D7-A5B4-CC1C-B363-D5DC83D40B6E}"/>
              </a:ext>
            </a:extLst>
          </p:cNvPr>
          <p:cNvSpPr>
            <a:spLocks noGrp="1"/>
          </p:cNvSpPr>
          <p:nvPr>
            <p:ph type="sldNum" sz="quarter" idx="12"/>
          </p:nvPr>
        </p:nvSpPr>
        <p:spPr/>
        <p:txBody>
          <a:bodyPr/>
          <a:lstStyle/>
          <a:p>
            <a:fld id="{8804BB38-747B-4994-9B8D-B168AF305C05}" type="slidenum">
              <a:rPr lang="fr-FR" smtClean="0"/>
              <a:t>14</a:t>
            </a:fld>
            <a:endParaRPr lang="fr-FR"/>
          </a:p>
        </p:txBody>
      </p:sp>
    </p:spTree>
    <p:extLst>
      <p:ext uri="{BB962C8B-B14F-4D97-AF65-F5344CB8AC3E}">
        <p14:creationId xmlns:p14="http://schemas.microsoft.com/office/powerpoint/2010/main" val="30972241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48856" y="233916"/>
            <a:ext cx="11243044" cy="400110"/>
          </a:xfrm>
          <a:prstGeom prst="rect">
            <a:avLst/>
          </a:prstGeom>
          <a:noFill/>
        </p:spPr>
        <p:txBody>
          <a:bodyPr wrap="square" rtlCol="0">
            <a:spAutoFit/>
          </a:bodyPr>
          <a:lstStyle/>
          <a:p>
            <a:r>
              <a:rPr lang="fr-FR" sz="2000" b="1" i="1">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LANCEMENT D’UN CIRCUIT DE VALIDATION SOUS DOCINFO (WORKFLOW)</a:t>
            </a:r>
          </a:p>
        </p:txBody>
      </p:sp>
      <p:cxnSp>
        <p:nvCxnSpPr>
          <p:cNvPr id="5" name="Connecteur droit 4"/>
          <p:cNvCxnSpPr/>
          <p:nvPr/>
        </p:nvCxnSpPr>
        <p:spPr>
          <a:xfrm>
            <a:off x="148856" y="634026"/>
            <a:ext cx="11866681" cy="0"/>
          </a:xfrm>
          <a:prstGeom prst="line">
            <a:avLst/>
          </a:prstGeom>
        </p:spPr>
        <p:style>
          <a:lnRef idx="1">
            <a:schemeClr val="accent1"/>
          </a:lnRef>
          <a:fillRef idx="0">
            <a:schemeClr val="accent1"/>
          </a:fillRef>
          <a:effectRef idx="0">
            <a:schemeClr val="accent1"/>
          </a:effectRef>
          <a:fontRef idx="minor">
            <a:schemeClr val="tx1"/>
          </a:fontRef>
        </p:style>
      </p:cxnSp>
      <p:pic>
        <p:nvPicPr>
          <p:cNvPr id="2" name="Image 1"/>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148856" y="838200"/>
            <a:ext cx="7212180" cy="4418655"/>
          </a:xfrm>
          <a:prstGeom prst="rect">
            <a:avLst/>
          </a:prstGeom>
        </p:spPr>
      </p:pic>
      <p:grpSp>
        <p:nvGrpSpPr>
          <p:cNvPr id="21" name="Groupe 20"/>
          <p:cNvGrpSpPr/>
          <p:nvPr/>
        </p:nvGrpSpPr>
        <p:grpSpPr>
          <a:xfrm>
            <a:off x="5997206" y="3292479"/>
            <a:ext cx="6362700" cy="3151643"/>
            <a:chOff x="295776" y="5762963"/>
            <a:chExt cx="6362700" cy="3151643"/>
          </a:xfrm>
        </p:grpSpPr>
        <p:pic>
          <p:nvPicPr>
            <p:cNvPr id="22" name="Image 21"/>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295776" y="5793956"/>
              <a:ext cx="6362700" cy="752475"/>
            </a:xfrm>
            <a:prstGeom prst="rect">
              <a:avLst/>
            </a:prstGeom>
          </p:spPr>
        </p:pic>
        <p:sp>
          <p:nvSpPr>
            <p:cNvPr id="25" name="Rectangle 24"/>
            <p:cNvSpPr/>
            <p:nvPr/>
          </p:nvSpPr>
          <p:spPr>
            <a:xfrm>
              <a:off x="3099719" y="5979694"/>
              <a:ext cx="1797133" cy="46121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ZoneTexte 25"/>
            <p:cNvSpPr txBox="1"/>
            <p:nvPr/>
          </p:nvSpPr>
          <p:spPr>
            <a:xfrm>
              <a:off x="2854492" y="6466037"/>
              <a:ext cx="3284620" cy="738664"/>
            </a:xfrm>
            <a:prstGeom prst="rect">
              <a:avLst/>
            </a:prstGeom>
            <a:noFill/>
          </p:spPr>
          <p:txBody>
            <a:bodyPr wrap="square" rtlCol="0">
              <a:spAutoFit/>
            </a:bodyPr>
            <a:lstStyle/>
            <a:p>
              <a:r>
                <a:rPr lang="fr-FR" sz="1400">
                  <a:latin typeface="Times New Roman" panose="02020603050405020304" pitchFamily="18" charset="0"/>
                  <a:cs typeface="Times New Roman" panose="02020603050405020304" pitchFamily="18" charset="0"/>
                </a:rPr>
                <a:t>Il faut après sélectionner pour chaque personne son rôle dans le WF. Validation ou juste pour information.</a:t>
              </a:r>
            </a:p>
          </p:txBody>
        </p:sp>
        <p:sp>
          <p:nvSpPr>
            <p:cNvPr id="27" name="Ellipse 26"/>
            <p:cNvSpPr/>
            <p:nvPr/>
          </p:nvSpPr>
          <p:spPr>
            <a:xfrm>
              <a:off x="4896852" y="5762963"/>
              <a:ext cx="326440" cy="2630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rgbClr val="FF0000"/>
                  </a:solidFill>
                </a:rPr>
                <a:t>4</a:t>
              </a:r>
            </a:p>
          </p:txBody>
        </p:sp>
        <p:pic>
          <p:nvPicPr>
            <p:cNvPr id="30" name="Image 29"/>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Layer>
                  </a14:imgProps>
                </a:ext>
              </a:extLst>
            </a:blip>
            <a:stretch>
              <a:fillRect/>
            </a:stretch>
          </p:blipFill>
          <p:spPr>
            <a:xfrm>
              <a:off x="702845" y="7266781"/>
              <a:ext cx="2533650" cy="1647825"/>
            </a:xfrm>
            <a:prstGeom prst="rect">
              <a:avLst/>
            </a:prstGeom>
          </p:spPr>
        </p:pic>
        <p:cxnSp>
          <p:nvCxnSpPr>
            <p:cNvPr id="31" name="Connecteur droit avec flèche 30"/>
            <p:cNvCxnSpPr/>
            <p:nvPr/>
          </p:nvCxnSpPr>
          <p:spPr>
            <a:xfrm flipH="1">
              <a:off x="1829678" y="6207521"/>
              <a:ext cx="1270041" cy="116503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Ellipse 32"/>
            <p:cNvSpPr/>
            <p:nvPr/>
          </p:nvSpPr>
          <p:spPr>
            <a:xfrm>
              <a:off x="1095438" y="6980855"/>
              <a:ext cx="326440" cy="2630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rgbClr val="FF0000"/>
                  </a:solidFill>
                </a:rPr>
                <a:t>5</a:t>
              </a:r>
            </a:p>
          </p:txBody>
        </p:sp>
        <p:sp>
          <p:nvSpPr>
            <p:cNvPr id="34" name="Rectangle 33"/>
            <p:cNvSpPr/>
            <p:nvPr/>
          </p:nvSpPr>
          <p:spPr>
            <a:xfrm>
              <a:off x="2400299" y="7457340"/>
              <a:ext cx="1143001" cy="75075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ZoneTexte 34"/>
            <p:cNvSpPr txBox="1"/>
            <p:nvPr/>
          </p:nvSpPr>
          <p:spPr>
            <a:xfrm>
              <a:off x="3560561" y="7490861"/>
              <a:ext cx="2824948" cy="307777"/>
            </a:xfrm>
            <a:prstGeom prst="rect">
              <a:avLst/>
            </a:prstGeom>
            <a:noFill/>
          </p:spPr>
          <p:txBody>
            <a:bodyPr wrap="square" rtlCol="0">
              <a:spAutoFit/>
            </a:bodyPr>
            <a:lstStyle/>
            <a:p>
              <a:r>
                <a:rPr lang="fr-FR" sz="1400">
                  <a:latin typeface="Times New Roman" panose="02020603050405020304" pitchFamily="18" charset="0"/>
                  <a:cs typeface="Times New Roman" panose="02020603050405020304" pitchFamily="18" charset="0"/>
                </a:rPr>
                <a:t>Circuit de validation en cours.</a:t>
              </a:r>
            </a:p>
          </p:txBody>
        </p:sp>
      </p:grpSp>
      <p:sp>
        <p:nvSpPr>
          <p:cNvPr id="38" name="Ellipse 37"/>
          <p:cNvSpPr/>
          <p:nvPr/>
        </p:nvSpPr>
        <p:spPr>
          <a:xfrm>
            <a:off x="5770378" y="646057"/>
            <a:ext cx="326440" cy="2630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rgbClr val="FF0000"/>
                </a:solidFill>
              </a:rPr>
              <a:t>3</a:t>
            </a:r>
          </a:p>
        </p:txBody>
      </p:sp>
      <p:pic>
        <p:nvPicPr>
          <p:cNvPr id="3" name="Image 2">
            <a:extLst>
              <a:ext uri="{FF2B5EF4-FFF2-40B4-BE49-F238E27FC236}">
                <a16:creationId xmlns:a16="http://schemas.microsoft.com/office/drawing/2014/main" id="{313B7380-5713-1A20-BB10-81AB8326A100}"/>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513388" y="-37362"/>
            <a:ext cx="2793118" cy="687957"/>
          </a:xfrm>
          <a:prstGeom prst="rect">
            <a:avLst/>
          </a:prstGeom>
        </p:spPr>
      </p:pic>
      <p:sp>
        <p:nvSpPr>
          <p:cNvPr id="6" name="Espace réservé du numéro de diapositive 5">
            <a:extLst>
              <a:ext uri="{FF2B5EF4-FFF2-40B4-BE49-F238E27FC236}">
                <a16:creationId xmlns:a16="http://schemas.microsoft.com/office/drawing/2014/main" id="{2410D376-9A96-B575-59B8-C7310E87704E}"/>
              </a:ext>
            </a:extLst>
          </p:cNvPr>
          <p:cNvSpPr>
            <a:spLocks noGrp="1"/>
          </p:cNvSpPr>
          <p:nvPr>
            <p:ph type="sldNum" sz="quarter" idx="12"/>
          </p:nvPr>
        </p:nvSpPr>
        <p:spPr/>
        <p:txBody>
          <a:bodyPr/>
          <a:lstStyle/>
          <a:p>
            <a:fld id="{8804BB38-747B-4994-9B8D-B168AF305C05}" type="slidenum">
              <a:rPr lang="fr-FR" smtClean="0"/>
              <a:t>15</a:t>
            </a:fld>
            <a:endParaRPr lang="fr-FR"/>
          </a:p>
        </p:txBody>
      </p:sp>
    </p:spTree>
    <p:extLst>
      <p:ext uri="{BB962C8B-B14F-4D97-AF65-F5344CB8AC3E}">
        <p14:creationId xmlns:p14="http://schemas.microsoft.com/office/powerpoint/2010/main" val="23297090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48856" y="233916"/>
            <a:ext cx="11243044" cy="400110"/>
          </a:xfrm>
          <a:prstGeom prst="rect">
            <a:avLst/>
          </a:prstGeom>
          <a:noFill/>
        </p:spPr>
        <p:txBody>
          <a:bodyPr wrap="square" rtlCol="0">
            <a:spAutoFit/>
          </a:bodyPr>
          <a:lstStyle/>
          <a:p>
            <a:r>
              <a:rPr lang="fr-FR" sz="2000" b="1" i="1">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QUI METTRE DANS LE CIRCUIT DE VALIDATION SOUS DOCINFO ?</a:t>
            </a:r>
          </a:p>
        </p:txBody>
      </p:sp>
      <p:cxnSp>
        <p:nvCxnSpPr>
          <p:cNvPr id="5" name="Connecteur droit 4"/>
          <p:cNvCxnSpPr/>
          <p:nvPr/>
        </p:nvCxnSpPr>
        <p:spPr>
          <a:xfrm>
            <a:off x="148856" y="634026"/>
            <a:ext cx="11866681"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ZoneTexte 15"/>
          <p:cNvSpPr txBox="1"/>
          <p:nvPr/>
        </p:nvSpPr>
        <p:spPr>
          <a:xfrm>
            <a:off x="213952" y="826889"/>
            <a:ext cx="11801585" cy="4247317"/>
          </a:xfrm>
          <a:prstGeom prst="rect">
            <a:avLst/>
          </a:prstGeom>
          <a:noFill/>
        </p:spPr>
        <p:txBody>
          <a:bodyPr wrap="square" rtlCol="0">
            <a:spAutoFit/>
          </a:bodyPr>
          <a:lstStyle/>
          <a:p>
            <a:pPr marL="285750" indent="-285750" algn="just">
              <a:buFont typeface="Wingdings" panose="05000000000000000000" pitchFamily="2" charset="2"/>
              <a:buChar char="Ø"/>
            </a:pPr>
            <a:r>
              <a:rPr lang="fr-FR">
                <a:latin typeface="Times New Roman" panose="02020603050405020304" pitchFamily="18" charset="0"/>
                <a:cs typeface="Times New Roman" panose="02020603050405020304" pitchFamily="18" charset="0"/>
              </a:rPr>
              <a:t>Les validateurs : Métier pièce portée + Métier pièce porteuse + Référent et spécialiste montage + Jean Marc </a:t>
            </a:r>
            <a:r>
              <a:rPr lang="fr-FR" err="1">
                <a:latin typeface="Times New Roman" panose="02020603050405020304" pitchFamily="18" charset="0"/>
                <a:cs typeface="Times New Roman" panose="02020603050405020304" pitchFamily="18" charset="0"/>
              </a:rPr>
              <a:t>Hoch</a:t>
            </a:r>
            <a:r>
              <a:rPr lang="fr-FR">
                <a:latin typeface="Times New Roman" panose="02020603050405020304" pitchFamily="18" charset="0"/>
                <a:cs typeface="Times New Roman" panose="02020603050405020304" pitchFamily="18" charset="0"/>
              </a:rPr>
              <a:t> + Pilote </a:t>
            </a:r>
            <a:r>
              <a:rPr lang="fr-FR" err="1">
                <a:latin typeface="Times New Roman" panose="02020603050405020304" pitchFamily="18" charset="0"/>
                <a:cs typeface="Times New Roman" panose="02020603050405020304" pitchFamily="18" charset="0"/>
              </a:rPr>
              <a:t>apoqua</a:t>
            </a:r>
            <a:r>
              <a:rPr lang="fr-FR">
                <a:latin typeface="Times New Roman" panose="02020603050405020304" pitchFamily="18" charset="0"/>
                <a:cs typeface="Times New Roman" panose="02020603050405020304" pitchFamily="18" charset="0"/>
              </a:rPr>
              <a:t> + Alessandro </a:t>
            </a:r>
            <a:r>
              <a:rPr lang="fr-FR" err="1">
                <a:latin typeface="Times New Roman" panose="02020603050405020304" pitchFamily="18" charset="0"/>
                <a:cs typeface="Times New Roman" panose="02020603050405020304" pitchFamily="18" charset="0"/>
              </a:rPr>
              <a:t>Caggiati</a:t>
            </a:r>
            <a:r>
              <a:rPr lang="fr-FR">
                <a:latin typeface="Times New Roman" panose="02020603050405020304" pitchFamily="18" charset="0"/>
                <a:cs typeface="Times New Roman" panose="02020603050405020304" pitchFamily="18" charset="0"/>
              </a:rPr>
              <a:t> + </a:t>
            </a:r>
            <a:r>
              <a:rPr lang="fr-FR" err="1">
                <a:latin typeface="Times New Roman" panose="02020603050405020304" pitchFamily="18" charset="0"/>
                <a:cs typeface="Times New Roman" panose="02020603050405020304" pitchFamily="18" charset="0"/>
              </a:rPr>
              <a:t>Cfx</a:t>
            </a:r>
            <a:r>
              <a:rPr lang="fr-FR">
                <a:latin typeface="Times New Roman" panose="02020603050405020304" pitchFamily="18" charset="0"/>
                <a:cs typeface="Times New Roman" panose="02020603050405020304" pitchFamily="18" charset="0"/>
              </a:rPr>
              <a:t> FPPE.</a:t>
            </a:r>
          </a:p>
          <a:p>
            <a:pPr algn="just"/>
            <a:r>
              <a:rPr lang="fr-FR">
                <a:latin typeface="Times New Roman" panose="02020603050405020304" pitchFamily="18" charset="0"/>
                <a:cs typeface="Times New Roman" panose="02020603050405020304" pitchFamily="18" charset="0"/>
              </a:rPr>
              <a:t> </a:t>
            </a:r>
          </a:p>
          <a:p>
            <a:pPr marL="285750" indent="-285750" algn="just">
              <a:buFont typeface="Wingdings" panose="05000000000000000000" pitchFamily="2" charset="2"/>
              <a:buChar char="Ø"/>
            </a:pPr>
            <a:r>
              <a:rPr lang="fr-FR">
                <a:latin typeface="Times New Roman" panose="02020603050405020304" pitchFamily="18" charset="0"/>
                <a:cs typeface="Times New Roman" panose="02020603050405020304" pitchFamily="18" charset="0"/>
              </a:rPr>
              <a:t>Les gens pour information : </a:t>
            </a:r>
            <a:r>
              <a:rPr lang="fr-FR" err="1">
                <a:latin typeface="Times New Roman" panose="02020603050405020304" pitchFamily="18" charset="0"/>
                <a:cs typeface="Times New Roman" panose="02020603050405020304" pitchFamily="18" charset="0"/>
              </a:rPr>
              <a:t>Gaetan</a:t>
            </a:r>
            <a:r>
              <a:rPr lang="fr-FR">
                <a:latin typeface="Times New Roman" panose="02020603050405020304" pitchFamily="18" charset="0"/>
                <a:cs typeface="Times New Roman" panose="02020603050405020304" pitchFamily="18" charset="0"/>
              </a:rPr>
              <a:t> </a:t>
            </a:r>
            <a:r>
              <a:rPr lang="fr-FR" err="1">
                <a:latin typeface="Times New Roman" panose="02020603050405020304" pitchFamily="18" charset="0"/>
                <a:cs typeface="Times New Roman" panose="02020603050405020304" pitchFamily="18" charset="0"/>
              </a:rPr>
              <a:t>Guihard</a:t>
            </a:r>
            <a:r>
              <a:rPr lang="fr-FR">
                <a:latin typeface="Times New Roman" panose="02020603050405020304" pitchFamily="18" charset="0"/>
                <a:cs typeface="Times New Roman" panose="02020603050405020304" pitchFamily="18" charset="0"/>
              </a:rPr>
              <a:t> + Bernard </a:t>
            </a:r>
            <a:r>
              <a:rPr lang="fr-FR" err="1">
                <a:latin typeface="Times New Roman" panose="02020603050405020304" pitchFamily="18" charset="0"/>
                <a:cs typeface="Times New Roman" panose="02020603050405020304" pitchFamily="18" charset="0"/>
              </a:rPr>
              <a:t>Berveiller</a:t>
            </a:r>
            <a:r>
              <a:rPr lang="fr-FR">
                <a:latin typeface="Times New Roman" panose="02020603050405020304" pitchFamily="18" charset="0"/>
                <a:cs typeface="Times New Roman" panose="02020603050405020304" pitchFamily="18" charset="0"/>
              </a:rPr>
              <a:t> + Lionel Jouquez + Alexander Deutsch + Francesco </a:t>
            </a:r>
            <a:r>
              <a:rPr lang="fr-FR" err="1">
                <a:latin typeface="Times New Roman" panose="02020603050405020304" pitchFamily="18" charset="0"/>
                <a:cs typeface="Times New Roman" panose="02020603050405020304" pitchFamily="18" charset="0"/>
              </a:rPr>
              <a:t>Merlini</a:t>
            </a:r>
            <a:r>
              <a:rPr lang="fr-FR">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Ø"/>
            </a:pPr>
            <a:endParaRPr lang="fr-FR">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fr-FR">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fr-FR">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fr-FR">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fr-FR">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fr-FR">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fr-FR">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fr-FR">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endParaRPr lang="fr-FR">
              <a:latin typeface="Times New Roman" panose="02020603050405020304" pitchFamily="18" charset="0"/>
              <a:cs typeface="Times New Roman" panose="02020603050405020304" pitchFamily="18" charset="0"/>
            </a:endParaRPr>
          </a:p>
          <a:p>
            <a:pPr algn="just"/>
            <a:endParaRPr lang="fr-FR">
              <a:latin typeface="Times New Roman" panose="02020603050405020304" pitchFamily="18" charset="0"/>
              <a:cs typeface="Times New Roman" panose="02020603050405020304" pitchFamily="18" charset="0"/>
            </a:endParaRPr>
          </a:p>
        </p:txBody>
      </p:sp>
      <p:pic>
        <p:nvPicPr>
          <p:cNvPr id="17" name="Image 16"/>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20000"/>
                    </a14:imgEffect>
                  </a14:imgLayer>
                </a14:imgProps>
              </a:ext>
            </a:extLst>
          </a:blip>
          <a:stretch>
            <a:fillRect/>
          </a:stretch>
        </p:blipFill>
        <p:spPr>
          <a:xfrm>
            <a:off x="3163901" y="2249571"/>
            <a:ext cx="4905278" cy="3786530"/>
          </a:xfrm>
          <a:prstGeom prst="rect">
            <a:avLst/>
          </a:prstGeom>
        </p:spPr>
      </p:pic>
      <p:pic>
        <p:nvPicPr>
          <p:cNvPr id="2" name="Image 1">
            <a:extLst>
              <a:ext uri="{FF2B5EF4-FFF2-40B4-BE49-F238E27FC236}">
                <a16:creationId xmlns:a16="http://schemas.microsoft.com/office/drawing/2014/main" id="{41761C9D-F11D-21C8-0CF5-6681092C252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13388" y="-37362"/>
            <a:ext cx="2793118" cy="687957"/>
          </a:xfrm>
          <a:prstGeom prst="rect">
            <a:avLst/>
          </a:prstGeom>
        </p:spPr>
      </p:pic>
      <p:sp>
        <p:nvSpPr>
          <p:cNvPr id="3" name="Espace réservé du numéro de diapositive 2">
            <a:extLst>
              <a:ext uri="{FF2B5EF4-FFF2-40B4-BE49-F238E27FC236}">
                <a16:creationId xmlns:a16="http://schemas.microsoft.com/office/drawing/2014/main" id="{4F00B3AE-18EC-7717-6F7D-9901F030668A}"/>
              </a:ext>
            </a:extLst>
          </p:cNvPr>
          <p:cNvSpPr>
            <a:spLocks noGrp="1"/>
          </p:cNvSpPr>
          <p:nvPr>
            <p:ph type="sldNum" sz="quarter" idx="12"/>
          </p:nvPr>
        </p:nvSpPr>
        <p:spPr/>
        <p:txBody>
          <a:bodyPr/>
          <a:lstStyle/>
          <a:p>
            <a:fld id="{8804BB38-747B-4994-9B8D-B168AF305C05}" type="slidenum">
              <a:rPr lang="fr-FR" smtClean="0"/>
              <a:t>16</a:t>
            </a:fld>
            <a:endParaRPr lang="fr-FR"/>
          </a:p>
        </p:txBody>
      </p:sp>
    </p:spTree>
    <p:extLst>
      <p:ext uri="{BB962C8B-B14F-4D97-AF65-F5344CB8AC3E}">
        <p14:creationId xmlns:p14="http://schemas.microsoft.com/office/powerpoint/2010/main" val="1038483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Connecteur droit 4"/>
          <p:cNvCxnSpPr/>
          <p:nvPr/>
        </p:nvCxnSpPr>
        <p:spPr>
          <a:xfrm>
            <a:off x="148856" y="634026"/>
            <a:ext cx="11866681"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ZoneTexte 5"/>
          <p:cNvSpPr txBox="1"/>
          <p:nvPr/>
        </p:nvSpPr>
        <p:spPr>
          <a:xfrm>
            <a:off x="168311" y="233916"/>
            <a:ext cx="11349921" cy="400110"/>
          </a:xfrm>
          <a:prstGeom prst="rect">
            <a:avLst/>
          </a:prstGeom>
          <a:noFill/>
        </p:spPr>
        <p:txBody>
          <a:bodyPr wrap="square" rtlCol="0">
            <a:spAutoFit/>
          </a:bodyPr>
          <a:lstStyle/>
          <a:p>
            <a:r>
              <a:rPr lang="fr-FR" sz="2000" b="1" i="1">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EMAIL STANDARD DES DEMANDES DE VALIDATION PAR RETOUR EMAIL</a:t>
            </a:r>
          </a:p>
        </p:txBody>
      </p:sp>
      <p:sp>
        <p:nvSpPr>
          <p:cNvPr id="9" name="ZoneTexte 8"/>
          <p:cNvSpPr txBox="1"/>
          <p:nvPr/>
        </p:nvSpPr>
        <p:spPr>
          <a:xfrm>
            <a:off x="194095" y="1217111"/>
            <a:ext cx="5292306" cy="3139321"/>
          </a:xfrm>
          <a:prstGeom prst="rect">
            <a:avLst/>
          </a:prstGeom>
          <a:noFill/>
          <a:ln>
            <a:solidFill>
              <a:schemeClr val="accent1"/>
            </a:solidFill>
          </a:ln>
        </p:spPr>
        <p:txBody>
          <a:bodyPr wrap="square" rtlCol="0">
            <a:spAutoFit/>
          </a:bodyPr>
          <a:lstStyle/>
          <a:p>
            <a:pPr algn="just"/>
            <a:r>
              <a:rPr lang="fr-FR">
                <a:latin typeface="Times New Roman" panose="02020603050405020304" pitchFamily="18" charset="0"/>
                <a:cs typeface="Times New Roman" panose="02020603050405020304" pitchFamily="18" charset="0"/>
              </a:rPr>
              <a:t>Bonjour,</a:t>
            </a:r>
          </a:p>
          <a:p>
            <a:pPr algn="just"/>
            <a:endParaRPr lang="fr-FR">
              <a:latin typeface="Times New Roman" panose="02020603050405020304" pitchFamily="18" charset="0"/>
              <a:cs typeface="Times New Roman" panose="02020603050405020304" pitchFamily="18" charset="0"/>
            </a:endParaRPr>
          </a:p>
          <a:p>
            <a:pPr algn="just"/>
            <a:r>
              <a:rPr lang="fr-FR">
                <a:latin typeface="Times New Roman" panose="02020603050405020304" pitchFamily="18" charset="0"/>
                <a:cs typeface="Times New Roman" panose="02020603050405020304" pitchFamily="18" charset="0"/>
              </a:rPr>
              <a:t>Dans le cadre de validation de la fiche APOQUA – </a:t>
            </a:r>
            <a:r>
              <a:rPr lang="fr-FR" b="1">
                <a:latin typeface="Times New Roman" panose="02020603050405020304" pitchFamily="18" charset="0"/>
                <a:cs typeface="Times New Roman" panose="02020603050405020304" pitchFamily="18" charset="0"/>
              </a:rPr>
              <a:t>[Nom de la fiche] </a:t>
            </a:r>
            <a:r>
              <a:rPr lang="fr-FR">
                <a:latin typeface="Times New Roman" panose="02020603050405020304" pitchFamily="18" charset="0"/>
                <a:cs typeface="Times New Roman" panose="02020603050405020304" pitchFamily="18" charset="0"/>
              </a:rPr>
              <a:t>en tant que référent métier, pourriez-vous valider par retour de mail la fiche en l’état avec la cible actuelle ? si tel n’est pas le cas, merci de me faire parvenir les modifications à apporter afin de converger avec FPPE et CMON.</a:t>
            </a:r>
          </a:p>
          <a:p>
            <a:pPr algn="just"/>
            <a:r>
              <a:rPr lang="fr-FR">
                <a:latin typeface="Times New Roman" panose="02020603050405020304" pitchFamily="18" charset="0"/>
                <a:cs typeface="Times New Roman" panose="02020603050405020304" pitchFamily="18" charset="0"/>
              </a:rPr>
              <a:t>Lien </a:t>
            </a:r>
            <a:r>
              <a:rPr lang="fr-FR" err="1">
                <a:latin typeface="Times New Roman" panose="02020603050405020304" pitchFamily="18" charset="0"/>
                <a:cs typeface="Times New Roman" panose="02020603050405020304" pitchFamily="18" charset="0"/>
              </a:rPr>
              <a:t>DocInfo</a:t>
            </a:r>
            <a:r>
              <a:rPr lang="fr-FR">
                <a:latin typeface="Times New Roman" panose="02020603050405020304" pitchFamily="18" charset="0"/>
                <a:cs typeface="Times New Roman" panose="02020603050405020304" pitchFamily="18" charset="0"/>
              </a:rPr>
              <a:t> : [Lien de la fiche].</a:t>
            </a:r>
          </a:p>
          <a:p>
            <a:pPr algn="just"/>
            <a:endParaRPr lang="fr-FR">
              <a:latin typeface="Times New Roman" panose="02020603050405020304" pitchFamily="18" charset="0"/>
              <a:cs typeface="Times New Roman" panose="02020603050405020304" pitchFamily="18" charset="0"/>
            </a:endParaRPr>
          </a:p>
          <a:p>
            <a:pPr algn="just"/>
            <a:r>
              <a:rPr lang="fr-FR">
                <a:latin typeface="Times New Roman" panose="02020603050405020304" pitchFamily="18" charset="0"/>
                <a:cs typeface="Times New Roman" panose="02020603050405020304" pitchFamily="18" charset="0"/>
              </a:rPr>
              <a:t>Merci d’avance.</a:t>
            </a:r>
            <a:endParaRPr lang="fr-FR"/>
          </a:p>
        </p:txBody>
      </p:sp>
      <p:sp>
        <p:nvSpPr>
          <p:cNvPr id="10" name="ZoneTexte 9"/>
          <p:cNvSpPr txBox="1"/>
          <p:nvPr/>
        </p:nvSpPr>
        <p:spPr>
          <a:xfrm>
            <a:off x="5843271" y="1217110"/>
            <a:ext cx="6103364" cy="3139321"/>
          </a:xfrm>
          <a:prstGeom prst="rect">
            <a:avLst/>
          </a:prstGeom>
          <a:noFill/>
          <a:ln>
            <a:solidFill>
              <a:schemeClr val="accent1"/>
            </a:solidFill>
          </a:ln>
        </p:spPr>
        <p:txBody>
          <a:bodyPr wrap="square" rtlCol="0">
            <a:spAutoFit/>
          </a:bodyPr>
          <a:lstStyle/>
          <a:p>
            <a:pPr algn="just"/>
            <a:r>
              <a:rPr lang="en-US">
                <a:latin typeface="Times New Roman" panose="02020603050405020304" pitchFamily="18" charset="0"/>
                <a:cs typeface="Times New Roman" panose="02020603050405020304" pitchFamily="18" charset="0"/>
              </a:rPr>
              <a:t>Hello,</a:t>
            </a:r>
            <a:endParaRPr lang="fr-FR">
              <a:latin typeface="Times New Roman" panose="02020603050405020304" pitchFamily="18" charset="0"/>
              <a:cs typeface="Times New Roman" panose="02020603050405020304" pitchFamily="18" charset="0"/>
            </a:endParaRPr>
          </a:p>
          <a:p>
            <a:pPr algn="just"/>
            <a:r>
              <a:rPr lang="en-US">
                <a:latin typeface="Times New Roman" panose="02020603050405020304" pitchFamily="18" charset="0"/>
                <a:cs typeface="Times New Roman" panose="02020603050405020304" pitchFamily="18" charset="0"/>
              </a:rPr>
              <a:t> </a:t>
            </a:r>
            <a:endParaRPr lang="fr-FR">
              <a:latin typeface="Times New Roman" panose="02020603050405020304" pitchFamily="18" charset="0"/>
              <a:cs typeface="Times New Roman" panose="02020603050405020304" pitchFamily="18" charset="0"/>
            </a:endParaRPr>
          </a:p>
          <a:p>
            <a:pPr algn="just"/>
            <a:r>
              <a:rPr lang="en-US">
                <a:latin typeface="Times New Roman" panose="02020603050405020304" pitchFamily="18" charset="0"/>
                <a:cs typeface="Times New Roman" panose="02020603050405020304" pitchFamily="18" charset="0"/>
              </a:rPr>
              <a:t>As part of the validation of the APOQUA sheet - </a:t>
            </a:r>
            <a:r>
              <a:rPr lang="en-US" b="1">
                <a:latin typeface="Times New Roman" panose="02020603050405020304" pitchFamily="18" charset="0"/>
                <a:cs typeface="Times New Roman" panose="02020603050405020304" pitchFamily="18" charset="0"/>
              </a:rPr>
              <a:t>[Name of the sheet] </a:t>
            </a:r>
            <a:r>
              <a:rPr lang="en-US">
                <a:latin typeface="Times New Roman" panose="02020603050405020304" pitchFamily="18" charset="0"/>
                <a:cs typeface="Times New Roman" panose="02020603050405020304" pitchFamily="18" charset="0"/>
              </a:rPr>
              <a:t>as a </a:t>
            </a:r>
            <a:r>
              <a:rPr lang="en-US" err="1">
                <a:latin typeface="Times New Roman" panose="02020603050405020304" pitchFamily="18" charset="0"/>
                <a:cs typeface="Times New Roman" panose="02020603050405020304" pitchFamily="18" charset="0"/>
              </a:rPr>
              <a:t>metier</a:t>
            </a:r>
            <a:r>
              <a:rPr lang="en-US">
                <a:latin typeface="Times New Roman" panose="02020603050405020304" pitchFamily="18" charset="0"/>
                <a:cs typeface="Times New Roman" panose="02020603050405020304" pitchFamily="18" charset="0"/>
              </a:rPr>
              <a:t> manager, could you validate by return email the APOQUA sheet with the current target? if this is not the case, please send me the modifications to be made in order to converge with FPPE and CMON.</a:t>
            </a:r>
            <a:endParaRPr lang="fr-FR">
              <a:latin typeface="Times New Roman" panose="02020603050405020304" pitchFamily="18" charset="0"/>
              <a:cs typeface="Times New Roman" panose="02020603050405020304" pitchFamily="18" charset="0"/>
            </a:endParaRPr>
          </a:p>
          <a:p>
            <a:pPr algn="just"/>
            <a:r>
              <a:rPr lang="en-US">
                <a:latin typeface="Times New Roman" panose="02020603050405020304" pitchFamily="18" charset="0"/>
                <a:cs typeface="Times New Roman" panose="02020603050405020304" pitchFamily="18" charset="0"/>
              </a:rPr>
              <a:t>Link </a:t>
            </a:r>
            <a:r>
              <a:rPr lang="en-US" err="1">
                <a:latin typeface="Times New Roman" panose="02020603050405020304" pitchFamily="18" charset="0"/>
                <a:cs typeface="Times New Roman" panose="02020603050405020304" pitchFamily="18" charset="0"/>
              </a:rPr>
              <a:t>DocInfo</a:t>
            </a:r>
            <a:r>
              <a:rPr lang="en-US">
                <a:latin typeface="Times New Roman" panose="02020603050405020304" pitchFamily="18" charset="0"/>
                <a:cs typeface="Times New Roman" panose="02020603050405020304" pitchFamily="18" charset="0"/>
              </a:rPr>
              <a:t> : </a:t>
            </a:r>
            <a:r>
              <a:rPr lang="fr-FR">
                <a:latin typeface="Times New Roman" panose="02020603050405020304" pitchFamily="18" charset="0"/>
                <a:cs typeface="Times New Roman" panose="02020603050405020304" pitchFamily="18" charset="0"/>
              </a:rPr>
              <a:t>[Link of the file].</a:t>
            </a:r>
          </a:p>
          <a:p>
            <a:pPr algn="just"/>
            <a:endParaRPr lang="fr-FR">
              <a:latin typeface="Times New Roman" panose="02020603050405020304" pitchFamily="18" charset="0"/>
              <a:cs typeface="Times New Roman" panose="02020603050405020304" pitchFamily="18" charset="0"/>
            </a:endParaRPr>
          </a:p>
          <a:p>
            <a:pPr algn="just"/>
            <a:endParaRPr lang="fr-FR">
              <a:latin typeface="Times New Roman" panose="02020603050405020304" pitchFamily="18" charset="0"/>
              <a:cs typeface="Times New Roman" panose="02020603050405020304" pitchFamily="18" charset="0"/>
            </a:endParaRPr>
          </a:p>
          <a:p>
            <a:pPr algn="just"/>
            <a:r>
              <a:rPr lang="fr-FR" err="1">
                <a:latin typeface="Times New Roman" panose="02020603050405020304" pitchFamily="18" charset="0"/>
                <a:cs typeface="Times New Roman" panose="02020603050405020304" pitchFamily="18" charset="0"/>
              </a:rPr>
              <a:t>Thank</a:t>
            </a:r>
            <a:r>
              <a:rPr lang="fr-FR">
                <a:latin typeface="Times New Roman" panose="02020603050405020304" pitchFamily="18" charset="0"/>
                <a:cs typeface="Times New Roman" panose="02020603050405020304" pitchFamily="18" charset="0"/>
              </a:rPr>
              <a:t> </a:t>
            </a:r>
            <a:r>
              <a:rPr lang="fr-FR" err="1">
                <a:latin typeface="Times New Roman" panose="02020603050405020304" pitchFamily="18" charset="0"/>
                <a:cs typeface="Times New Roman" panose="02020603050405020304" pitchFamily="18" charset="0"/>
              </a:rPr>
              <a:t>you</a:t>
            </a:r>
            <a:r>
              <a:rPr lang="fr-FR">
                <a:latin typeface="Times New Roman" panose="02020603050405020304" pitchFamily="18" charset="0"/>
                <a:cs typeface="Times New Roman" panose="02020603050405020304" pitchFamily="18" charset="0"/>
              </a:rPr>
              <a:t> in </a:t>
            </a:r>
            <a:r>
              <a:rPr lang="fr-FR" err="1">
                <a:latin typeface="Times New Roman" panose="02020603050405020304" pitchFamily="18" charset="0"/>
                <a:cs typeface="Times New Roman" panose="02020603050405020304" pitchFamily="18" charset="0"/>
              </a:rPr>
              <a:t>advance</a:t>
            </a:r>
            <a:r>
              <a:rPr lang="fr-FR">
                <a:latin typeface="Times New Roman" panose="02020603050405020304" pitchFamily="18" charset="0"/>
                <a:cs typeface="Times New Roman" panose="02020603050405020304" pitchFamily="18" charset="0"/>
              </a:rPr>
              <a:t>,</a:t>
            </a:r>
          </a:p>
        </p:txBody>
      </p:sp>
      <p:pic>
        <p:nvPicPr>
          <p:cNvPr id="2" name="Image 1">
            <a:extLst>
              <a:ext uri="{FF2B5EF4-FFF2-40B4-BE49-F238E27FC236}">
                <a16:creationId xmlns:a16="http://schemas.microsoft.com/office/drawing/2014/main" id="{7344AEEF-BCF5-35AD-1F9B-E63DCE8BA8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13388" y="-37362"/>
            <a:ext cx="2793118" cy="687957"/>
          </a:xfrm>
          <a:prstGeom prst="rect">
            <a:avLst/>
          </a:prstGeom>
        </p:spPr>
      </p:pic>
      <p:sp>
        <p:nvSpPr>
          <p:cNvPr id="3" name="Espace réservé du numéro de diapositive 2">
            <a:extLst>
              <a:ext uri="{FF2B5EF4-FFF2-40B4-BE49-F238E27FC236}">
                <a16:creationId xmlns:a16="http://schemas.microsoft.com/office/drawing/2014/main" id="{09B68ED9-422D-9BE7-93A7-DE072C4EFC16}"/>
              </a:ext>
            </a:extLst>
          </p:cNvPr>
          <p:cNvSpPr>
            <a:spLocks noGrp="1"/>
          </p:cNvSpPr>
          <p:nvPr>
            <p:ph type="sldNum" sz="quarter" idx="12"/>
          </p:nvPr>
        </p:nvSpPr>
        <p:spPr/>
        <p:txBody>
          <a:bodyPr/>
          <a:lstStyle/>
          <a:p>
            <a:fld id="{8804BB38-747B-4994-9B8D-B168AF305C05}" type="slidenum">
              <a:rPr lang="fr-FR" smtClean="0"/>
              <a:t>17</a:t>
            </a:fld>
            <a:endParaRPr lang="fr-FR"/>
          </a:p>
        </p:txBody>
      </p:sp>
    </p:spTree>
    <p:extLst>
      <p:ext uri="{BB962C8B-B14F-4D97-AF65-F5344CB8AC3E}">
        <p14:creationId xmlns:p14="http://schemas.microsoft.com/office/powerpoint/2010/main" val="922102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Connecteur droit 4"/>
          <p:cNvCxnSpPr/>
          <p:nvPr/>
        </p:nvCxnSpPr>
        <p:spPr>
          <a:xfrm>
            <a:off x="148856" y="634026"/>
            <a:ext cx="11866681"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ZoneTexte 6"/>
          <p:cNvSpPr txBox="1"/>
          <p:nvPr/>
        </p:nvSpPr>
        <p:spPr>
          <a:xfrm>
            <a:off x="69905" y="208717"/>
            <a:ext cx="6707557" cy="400110"/>
          </a:xfrm>
          <a:prstGeom prst="rect">
            <a:avLst/>
          </a:prstGeom>
          <a:noFill/>
        </p:spPr>
        <p:txBody>
          <a:bodyPr wrap="square" rtlCol="0">
            <a:spAutoFit/>
          </a:bodyPr>
          <a:lstStyle/>
          <a:p>
            <a:r>
              <a:rPr lang="fr-FR" sz="2000" b="1" i="1">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RITUEL APOQUA COM MEETING </a:t>
            </a:r>
          </a:p>
        </p:txBody>
      </p:sp>
      <p:sp>
        <p:nvSpPr>
          <p:cNvPr id="12" name="ZoneTexte 11"/>
          <p:cNvSpPr txBox="1"/>
          <p:nvPr/>
        </p:nvSpPr>
        <p:spPr>
          <a:xfrm>
            <a:off x="69905" y="781050"/>
            <a:ext cx="11945632" cy="2031325"/>
          </a:xfrm>
          <a:prstGeom prst="rect">
            <a:avLst/>
          </a:prstGeom>
          <a:noFill/>
        </p:spPr>
        <p:txBody>
          <a:bodyPr wrap="square" rtlCol="0">
            <a:spAutoFit/>
          </a:bodyPr>
          <a:lstStyle/>
          <a:p>
            <a:pPr algn="just"/>
            <a:r>
              <a:rPr lang="fr-FR">
                <a:latin typeface="Times New Roman" panose="02020603050405020304" pitchFamily="18" charset="0"/>
                <a:cs typeface="Times New Roman" panose="02020603050405020304" pitchFamily="18" charset="0"/>
              </a:rPr>
              <a:t>Le rituel APOQUA COM meeting est une réunion hebdomadaire, avec l’équipe FPPE, les gens de montage et les validateurs. Son but est de présenter + animer les fiches ayant eu des mises à jour ou création aux interlocuteurs afin de créer un débat et un partage d’information à propos des cibles. </a:t>
            </a:r>
          </a:p>
          <a:p>
            <a:pPr marL="285750" indent="-285750" algn="just">
              <a:buFontTx/>
              <a:buChar char="-"/>
            </a:pPr>
            <a:r>
              <a:rPr lang="fr-FR">
                <a:latin typeface="Times New Roman" panose="02020603050405020304" pitchFamily="18" charset="0"/>
                <a:cs typeface="Times New Roman" panose="02020603050405020304" pitchFamily="18" charset="0"/>
              </a:rPr>
              <a:t>Nombre des fiches présentées : 3 vers 4 fiches.</a:t>
            </a:r>
          </a:p>
          <a:p>
            <a:pPr marL="285750" indent="-285750" algn="just">
              <a:buFontTx/>
              <a:buChar char="-"/>
            </a:pPr>
            <a:r>
              <a:rPr lang="fr-FR">
                <a:latin typeface="Times New Roman" panose="02020603050405020304" pitchFamily="18" charset="0"/>
                <a:cs typeface="Times New Roman" panose="02020603050405020304" pitchFamily="18" charset="0"/>
              </a:rPr>
              <a:t>Durée de la réunion : 1H, chaque Jeudi.</a:t>
            </a:r>
          </a:p>
          <a:p>
            <a:pPr marL="285750" indent="-285750" algn="just">
              <a:buFontTx/>
              <a:buChar char="-"/>
            </a:pPr>
            <a:r>
              <a:rPr lang="fr-FR">
                <a:latin typeface="Times New Roman" panose="02020603050405020304" pitchFamily="18" charset="0"/>
                <a:cs typeface="Times New Roman" panose="02020603050405020304" pitchFamily="18" charset="0"/>
              </a:rPr>
              <a:t>L’ordre du jour a envoyé avant le meeting en Anglais : </a:t>
            </a:r>
          </a:p>
          <a:p>
            <a:endParaRPr lang="fr-FR"/>
          </a:p>
        </p:txBody>
      </p:sp>
      <p:sp>
        <p:nvSpPr>
          <p:cNvPr id="13" name="Rectangle 12"/>
          <p:cNvSpPr/>
          <p:nvPr/>
        </p:nvSpPr>
        <p:spPr>
          <a:xfrm>
            <a:off x="5642344" y="1796712"/>
            <a:ext cx="6549656" cy="49249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Times New Roman" panose="02020603050405020304" pitchFamily="18" charset="0"/>
                <a:cs typeface="Times New Roman" panose="02020603050405020304" pitchFamily="18" charset="0"/>
              </a:rPr>
              <a:t>Hello everyone,</a:t>
            </a:r>
          </a:p>
          <a:p>
            <a:endParaRPr lang="fr-FR">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Please find below the ODJ for W[</a:t>
            </a:r>
            <a:r>
              <a:rPr lang="en-US" err="1">
                <a:solidFill>
                  <a:schemeClr val="tx1"/>
                </a:solidFill>
                <a:latin typeface="Times New Roman" panose="02020603050405020304" pitchFamily="18" charset="0"/>
                <a:cs typeface="Times New Roman" panose="02020603050405020304" pitchFamily="18" charset="0"/>
              </a:rPr>
              <a:t>Numéro</a:t>
            </a:r>
            <a:r>
              <a:rPr lang="en-US">
                <a:solidFill>
                  <a:schemeClr val="tx1"/>
                </a:solidFill>
                <a:latin typeface="Times New Roman" panose="02020603050405020304" pitchFamily="18" charset="0"/>
                <a:cs typeface="Times New Roman" panose="02020603050405020304" pitchFamily="18" charset="0"/>
              </a:rPr>
              <a:t> de la </a:t>
            </a:r>
            <a:r>
              <a:rPr lang="en-US" err="1">
                <a:solidFill>
                  <a:schemeClr val="tx1"/>
                </a:solidFill>
                <a:latin typeface="Times New Roman" panose="02020603050405020304" pitchFamily="18" charset="0"/>
                <a:cs typeface="Times New Roman" panose="02020603050405020304" pitchFamily="18" charset="0"/>
              </a:rPr>
              <a:t>semaine</a:t>
            </a:r>
            <a:r>
              <a:rPr lang="en-US">
                <a:solidFill>
                  <a:schemeClr val="tx1"/>
                </a:solidFill>
                <a:latin typeface="Times New Roman" panose="02020603050405020304" pitchFamily="18" charset="0"/>
                <a:cs typeface="Times New Roman" panose="02020603050405020304" pitchFamily="18" charset="0"/>
              </a:rPr>
              <a:t>].</a:t>
            </a:r>
            <a:endParaRPr lang="fr-FR">
              <a:solidFill>
                <a:schemeClr val="tx1"/>
              </a:solidFill>
              <a:latin typeface="Times New Roman" panose="02020603050405020304" pitchFamily="18" charset="0"/>
              <a:cs typeface="Times New Roman" panose="02020603050405020304" pitchFamily="18" charset="0"/>
            </a:endParaRPr>
          </a:p>
          <a:p>
            <a:pPr lvl="0"/>
            <a:r>
              <a:rPr lang="en-US" b="1" u="sng">
                <a:solidFill>
                  <a:schemeClr val="tx1"/>
                </a:solidFill>
                <a:latin typeface="Times New Roman" panose="02020603050405020304" pitchFamily="18" charset="0"/>
                <a:cs typeface="Times New Roman" panose="02020603050405020304" pitchFamily="18" charset="0"/>
              </a:rPr>
              <a:t>Nom de la fiche </a:t>
            </a:r>
            <a:r>
              <a:rPr lang="en-US" b="1" u="sng" err="1">
                <a:solidFill>
                  <a:schemeClr val="tx1"/>
                </a:solidFill>
                <a:latin typeface="Times New Roman" panose="02020603050405020304" pitchFamily="18" charset="0"/>
                <a:cs typeface="Times New Roman" panose="02020603050405020304" pitchFamily="18" charset="0"/>
              </a:rPr>
              <a:t>en</a:t>
            </a:r>
            <a:r>
              <a:rPr lang="en-US" b="1" u="sng">
                <a:solidFill>
                  <a:schemeClr val="tx1"/>
                </a:solidFill>
                <a:latin typeface="Times New Roman" panose="02020603050405020304" pitchFamily="18" charset="0"/>
                <a:cs typeface="Times New Roman" panose="02020603050405020304" pitchFamily="18" charset="0"/>
              </a:rPr>
              <a:t> </a:t>
            </a:r>
            <a:r>
              <a:rPr lang="en-US" b="1" u="sng" err="1">
                <a:solidFill>
                  <a:schemeClr val="tx1"/>
                </a:solidFill>
                <a:latin typeface="Times New Roman" panose="02020603050405020304" pitchFamily="18" charset="0"/>
                <a:cs typeface="Times New Roman" panose="02020603050405020304" pitchFamily="18" charset="0"/>
              </a:rPr>
              <a:t>Français</a:t>
            </a:r>
            <a:r>
              <a:rPr lang="en-US" b="1" u="sng">
                <a:solidFill>
                  <a:schemeClr val="tx1"/>
                </a:solidFill>
                <a:latin typeface="Times New Roman" panose="02020603050405020304" pitchFamily="18" charset="0"/>
                <a:cs typeface="Times New Roman" panose="02020603050405020304" pitchFamily="18" charset="0"/>
              </a:rPr>
              <a:t> / Nom de la fiche </a:t>
            </a:r>
            <a:r>
              <a:rPr lang="en-US" b="1" u="sng" err="1">
                <a:solidFill>
                  <a:schemeClr val="tx1"/>
                </a:solidFill>
                <a:latin typeface="Times New Roman" panose="02020603050405020304" pitchFamily="18" charset="0"/>
                <a:cs typeface="Times New Roman" panose="02020603050405020304" pitchFamily="18" charset="0"/>
              </a:rPr>
              <a:t>en</a:t>
            </a:r>
            <a:r>
              <a:rPr lang="en-US" b="1" u="sng">
                <a:solidFill>
                  <a:schemeClr val="tx1"/>
                </a:solidFill>
                <a:latin typeface="Times New Roman" panose="02020603050405020304" pitchFamily="18" charset="0"/>
                <a:cs typeface="Times New Roman" panose="02020603050405020304" pitchFamily="18" charset="0"/>
              </a:rPr>
              <a:t> </a:t>
            </a:r>
            <a:r>
              <a:rPr lang="en-US" b="1" u="sng" err="1">
                <a:solidFill>
                  <a:schemeClr val="tx1"/>
                </a:solidFill>
                <a:latin typeface="Times New Roman" panose="02020603050405020304" pitchFamily="18" charset="0"/>
                <a:cs typeface="Times New Roman" panose="02020603050405020304" pitchFamily="18" charset="0"/>
              </a:rPr>
              <a:t>Anglais</a:t>
            </a:r>
            <a:endParaRPr lang="fr-FR">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a:t>
            </a:r>
            <a:r>
              <a:rPr lang="fr-FR" u="sng">
                <a:solidFill>
                  <a:schemeClr val="tx1"/>
                </a:solidFill>
                <a:latin typeface="Times New Roman" panose="02020603050405020304" pitchFamily="18" charset="0"/>
                <a:cs typeface="Times New Roman" panose="02020603050405020304" pitchFamily="18" charset="0"/>
              </a:rPr>
              <a:t>Référence </a:t>
            </a:r>
            <a:r>
              <a:rPr lang="fr-FR" u="sng" err="1">
                <a:solidFill>
                  <a:schemeClr val="tx1"/>
                </a:solidFill>
                <a:latin typeface="Times New Roman" panose="02020603050405020304" pitchFamily="18" charset="0"/>
                <a:cs typeface="Times New Roman" panose="02020603050405020304" pitchFamily="18" charset="0"/>
              </a:rPr>
              <a:t>DocInfo</a:t>
            </a:r>
            <a:r>
              <a:rPr lang="fr-FR" u="sng">
                <a:solidFill>
                  <a:schemeClr val="tx1"/>
                </a:solidFill>
                <a:latin typeface="Times New Roman" panose="02020603050405020304" pitchFamily="18" charset="0"/>
                <a:cs typeface="Times New Roman" panose="02020603050405020304" pitchFamily="18" charset="0"/>
              </a:rPr>
              <a:t> de la fiche.</a:t>
            </a:r>
            <a:endParaRPr lang="fr-FR">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Type de modification </a:t>
            </a:r>
            <a:r>
              <a:rPr lang="en-US" err="1">
                <a:solidFill>
                  <a:schemeClr val="tx1"/>
                </a:solidFill>
                <a:latin typeface="Times New Roman" panose="02020603050405020304" pitchFamily="18" charset="0"/>
                <a:cs typeface="Times New Roman" panose="02020603050405020304" pitchFamily="18" charset="0"/>
              </a:rPr>
              <a:t>faite</a:t>
            </a:r>
            <a:r>
              <a:rPr lang="en-US">
                <a:solidFill>
                  <a:schemeClr val="tx1"/>
                </a:solidFill>
                <a:latin typeface="Times New Roman" panose="02020603050405020304" pitchFamily="18" charset="0"/>
                <a:cs typeface="Times New Roman" panose="02020603050405020304" pitchFamily="18" charset="0"/>
              </a:rPr>
              <a:t> sur la fiche.</a:t>
            </a:r>
            <a:endParaRPr lang="fr-FR">
              <a:solidFill>
                <a:schemeClr val="tx1"/>
              </a:solidFill>
              <a:latin typeface="Times New Roman" panose="02020603050405020304" pitchFamily="18" charset="0"/>
              <a:cs typeface="Times New Roman" panose="02020603050405020304" pitchFamily="18" charset="0"/>
            </a:endParaRPr>
          </a:p>
          <a:p>
            <a:r>
              <a:rPr lang="fr-FR">
                <a:solidFill>
                  <a:schemeClr val="tx1"/>
                </a:solidFill>
                <a:latin typeface="Times New Roman" panose="02020603050405020304" pitchFamily="18" charset="0"/>
                <a:cs typeface="Times New Roman" panose="02020603050405020304" pitchFamily="18" charset="0"/>
              </a:rPr>
              <a:t>·</a:t>
            </a:r>
            <a:r>
              <a:rPr lang="en-US">
                <a:solidFill>
                  <a:schemeClr val="tx1"/>
                </a:solidFill>
                <a:latin typeface="Times New Roman" panose="02020603050405020304" pitchFamily="18" charset="0"/>
                <a:cs typeface="Times New Roman" panose="02020603050405020304" pitchFamily="18" charset="0"/>
              </a:rPr>
              <a:t>         </a:t>
            </a:r>
            <a:r>
              <a:rPr lang="en-US" u="sng">
                <a:solidFill>
                  <a:schemeClr val="tx1"/>
                </a:solidFill>
                <a:latin typeface="Times New Roman" panose="02020603050405020304" pitchFamily="18" charset="0"/>
                <a:cs typeface="Times New Roman" panose="02020603050405020304" pitchFamily="18" charset="0"/>
              </a:rPr>
              <a:t>FPPE Interlocutors</a:t>
            </a:r>
            <a:r>
              <a:rPr lang="en-US">
                <a:solidFill>
                  <a:schemeClr val="tx1"/>
                </a:solidFill>
                <a:latin typeface="Times New Roman" panose="02020603050405020304" pitchFamily="18" charset="0"/>
                <a:cs typeface="Times New Roman" panose="02020603050405020304" pitchFamily="18" charset="0"/>
              </a:rPr>
              <a:t>: [].</a:t>
            </a:r>
            <a:endParaRPr lang="fr-FR">
              <a:solidFill>
                <a:schemeClr val="tx1"/>
              </a:solidFill>
              <a:latin typeface="Times New Roman" panose="02020603050405020304" pitchFamily="18" charset="0"/>
              <a:cs typeface="Times New Roman" panose="02020603050405020304" pitchFamily="18" charset="0"/>
            </a:endParaRPr>
          </a:p>
          <a:p>
            <a:r>
              <a:rPr lang="fr-FR">
                <a:solidFill>
                  <a:schemeClr val="tx1"/>
                </a:solidFill>
                <a:latin typeface="Times New Roman" panose="02020603050405020304" pitchFamily="18" charset="0"/>
                <a:cs typeface="Times New Roman" panose="02020603050405020304" pitchFamily="18" charset="0"/>
              </a:rPr>
              <a:t>·</a:t>
            </a:r>
            <a:r>
              <a:rPr lang="en-US">
                <a:solidFill>
                  <a:schemeClr val="tx1"/>
                </a:solidFill>
                <a:latin typeface="Times New Roman" panose="02020603050405020304" pitchFamily="18" charset="0"/>
                <a:cs typeface="Times New Roman" panose="02020603050405020304" pitchFamily="18" charset="0"/>
              </a:rPr>
              <a:t>         </a:t>
            </a:r>
            <a:r>
              <a:rPr lang="en-US" u="sng">
                <a:solidFill>
                  <a:schemeClr val="tx1"/>
                </a:solidFill>
                <a:latin typeface="Times New Roman" panose="02020603050405020304" pitchFamily="18" charset="0"/>
                <a:cs typeface="Times New Roman" panose="02020603050405020304" pitchFamily="18" charset="0"/>
              </a:rPr>
              <a:t>IMV</a:t>
            </a:r>
            <a:r>
              <a:rPr lang="en-US">
                <a:solidFill>
                  <a:schemeClr val="tx1"/>
                </a:solidFill>
                <a:latin typeface="Times New Roman" panose="02020603050405020304" pitchFamily="18" charset="0"/>
                <a:cs typeface="Times New Roman" panose="02020603050405020304" pitchFamily="18" charset="0"/>
              </a:rPr>
              <a:t> </a:t>
            </a:r>
            <a:r>
              <a:rPr lang="en-US" u="sng">
                <a:solidFill>
                  <a:schemeClr val="tx1"/>
                </a:solidFill>
                <a:latin typeface="Times New Roman" panose="02020603050405020304" pitchFamily="18" charset="0"/>
                <a:cs typeface="Times New Roman" panose="02020603050405020304" pitchFamily="18" charset="0"/>
              </a:rPr>
              <a:t>Interlocutors</a:t>
            </a:r>
            <a:r>
              <a:rPr lang="en-US">
                <a:solidFill>
                  <a:schemeClr val="tx1"/>
                </a:solidFill>
                <a:latin typeface="Times New Roman" panose="02020603050405020304" pitchFamily="18" charset="0"/>
                <a:cs typeface="Times New Roman" panose="02020603050405020304" pitchFamily="18" charset="0"/>
              </a:rPr>
              <a:t>: : [] // [] .</a:t>
            </a:r>
          </a:p>
          <a:p>
            <a:r>
              <a:rPr lang="en-US">
                <a:solidFill>
                  <a:schemeClr val="tx1"/>
                </a:solidFill>
                <a:latin typeface="Times New Roman" panose="02020603050405020304" pitchFamily="18" charset="0"/>
                <a:cs typeface="Times New Roman" panose="02020603050405020304" pitchFamily="18" charset="0"/>
              </a:rPr>
              <a:t>·         </a:t>
            </a:r>
            <a:r>
              <a:rPr lang="en-US" u="sng">
                <a:solidFill>
                  <a:schemeClr val="tx1"/>
                </a:solidFill>
                <a:latin typeface="Times New Roman" panose="02020603050405020304" pitchFamily="18" charset="0"/>
                <a:cs typeface="Times New Roman" panose="02020603050405020304" pitchFamily="18" charset="0"/>
              </a:rPr>
              <a:t>Designers Interlocutors</a:t>
            </a:r>
            <a:r>
              <a:rPr lang="en-US">
                <a:solidFill>
                  <a:schemeClr val="tx1"/>
                </a:solidFill>
                <a:latin typeface="Times New Roman" panose="02020603050405020304" pitchFamily="18" charset="0"/>
                <a:cs typeface="Times New Roman" panose="02020603050405020304" pitchFamily="18" charset="0"/>
              </a:rPr>
              <a:t>: [] // [] .</a:t>
            </a:r>
          </a:p>
          <a:p>
            <a:r>
              <a:rPr lang="en-US" err="1">
                <a:solidFill>
                  <a:schemeClr val="tx1"/>
                </a:solidFill>
                <a:latin typeface="Times New Roman" panose="02020603050405020304" pitchFamily="18" charset="0"/>
                <a:cs typeface="Times New Roman" panose="02020603050405020304" pitchFamily="18" charset="0"/>
              </a:rPr>
              <a:t>Exemple</a:t>
            </a:r>
            <a:r>
              <a:rPr lang="en-US">
                <a:solidFill>
                  <a:schemeClr val="tx1"/>
                </a:solidFill>
                <a:latin typeface="Times New Roman" panose="02020603050405020304" pitchFamily="18" charset="0"/>
                <a:cs typeface="Times New Roman" panose="02020603050405020304" pitchFamily="18" charset="0"/>
              </a:rPr>
              <a:t> </a:t>
            </a:r>
          </a:p>
          <a:p>
            <a:pPr lvl="0"/>
            <a:r>
              <a:rPr lang="en-US" b="1" u="sng">
                <a:solidFill>
                  <a:schemeClr val="tx1"/>
                </a:solidFill>
                <a:latin typeface="Times New Roman" panose="02020603050405020304" pitchFamily="18" charset="0"/>
                <a:cs typeface="Times New Roman" panose="02020603050405020304" pitchFamily="18" charset="0"/>
              </a:rPr>
              <a:t>Opener window </a:t>
            </a:r>
            <a:r>
              <a:rPr lang="en-US" b="1" u="sng" err="1">
                <a:solidFill>
                  <a:schemeClr val="tx1"/>
                </a:solidFill>
                <a:latin typeface="Times New Roman" panose="02020603050405020304" pitchFamily="18" charset="0"/>
                <a:cs typeface="Times New Roman" panose="02020603050405020304" pitchFamily="18" charset="0"/>
              </a:rPr>
              <a:t>hinger</a:t>
            </a:r>
            <a:r>
              <a:rPr lang="en-US" b="1" u="sng">
                <a:solidFill>
                  <a:schemeClr val="tx1"/>
                </a:solidFill>
                <a:latin typeface="Times New Roman" panose="02020603050405020304" pitchFamily="18" charset="0"/>
                <a:cs typeface="Times New Roman" panose="02020603050405020304" pitchFamily="18" charset="0"/>
              </a:rPr>
              <a:t> / </a:t>
            </a:r>
            <a:r>
              <a:rPr lang="en-US" b="1" u="sng" err="1">
                <a:solidFill>
                  <a:schemeClr val="tx1"/>
                </a:solidFill>
                <a:latin typeface="Times New Roman" panose="02020603050405020304" pitchFamily="18" charset="0"/>
                <a:cs typeface="Times New Roman" panose="02020603050405020304" pitchFamily="18" charset="0"/>
              </a:rPr>
              <a:t>Charniere</a:t>
            </a:r>
            <a:r>
              <a:rPr lang="en-US" b="1" u="sng">
                <a:solidFill>
                  <a:schemeClr val="tx1"/>
                </a:solidFill>
                <a:latin typeface="Times New Roman" panose="02020603050405020304" pitchFamily="18" charset="0"/>
                <a:cs typeface="Times New Roman" panose="02020603050405020304" pitchFamily="18" charset="0"/>
              </a:rPr>
              <a:t> </a:t>
            </a:r>
            <a:r>
              <a:rPr lang="en-US" b="1" u="sng" err="1">
                <a:solidFill>
                  <a:schemeClr val="tx1"/>
                </a:solidFill>
                <a:latin typeface="Times New Roman" panose="02020603050405020304" pitchFamily="18" charset="0"/>
                <a:cs typeface="Times New Roman" panose="02020603050405020304" pitchFamily="18" charset="0"/>
              </a:rPr>
              <a:t>vitre</a:t>
            </a:r>
            <a:r>
              <a:rPr lang="en-US" b="1" u="sng">
                <a:solidFill>
                  <a:schemeClr val="tx1"/>
                </a:solidFill>
                <a:latin typeface="Times New Roman" panose="02020603050405020304" pitchFamily="18" charset="0"/>
                <a:cs typeface="Times New Roman" panose="02020603050405020304" pitchFamily="18" charset="0"/>
              </a:rPr>
              <a:t> </a:t>
            </a:r>
            <a:r>
              <a:rPr lang="en-US" b="1" u="sng" err="1">
                <a:solidFill>
                  <a:schemeClr val="tx1"/>
                </a:solidFill>
                <a:latin typeface="Times New Roman" panose="02020603050405020304" pitchFamily="18" charset="0"/>
                <a:cs typeface="Times New Roman" panose="02020603050405020304" pitchFamily="18" charset="0"/>
              </a:rPr>
              <a:t>custode</a:t>
            </a:r>
            <a:endParaRPr lang="fr-FR">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a:t>
            </a:r>
            <a:r>
              <a:rPr lang="en-US" u="sng">
                <a:solidFill>
                  <a:schemeClr val="tx1"/>
                </a:solidFill>
                <a:latin typeface="Times New Roman" panose="02020603050405020304" pitchFamily="18" charset="0"/>
                <a:cs typeface="Times New Roman" panose="02020603050405020304" pitchFamily="18" charset="0"/>
              </a:rPr>
              <a:t>01266_20_00222</a:t>
            </a:r>
            <a:endParaRPr lang="fr-FR">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New sheet.</a:t>
            </a:r>
            <a:endParaRPr lang="fr-FR">
              <a:solidFill>
                <a:schemeClr val="tx1"/>
              </a:solidFill>
              <a:latin typeface="Times New Roman" panose="02020603050405020304" pitchFamily="18" charset="0"/>
              <a:cs typeface="Times New Roman" panose="02020603050405020304" pitchFamily="18" charset="0"/>
            </a:endParaRPr>
          </a:p>
          <a:p>
            <a:r>
              <a:rPr lang="fr-FR">
                <a:solidFill>
                  <a:schemeClr val="tx1"/>
                </a:solidFill>
                <a:latin typeface="Times New Roman" panose="02020603050405020304" pitchFamily="18" charset="0"/>
                <a:cs typeface="Times New Roman" panose="02020603050405020304" pitchFamily="18" charset="0"/>
              </a:rPr>
              <a:t>·</a:t>
            </a:r>
            <a:r>
              <a:rPr lang="en-US">
                <a:solidFill>
                  <a:schemeClr val="tx1"/>
                </a:solidFill>
                <a:latin typeface="Times New Roman" panose="02020603050405020304" pitchFamily="18" charset="0"/>
                <a:cs typeface="Times New Roman" panose="02020603050405020304" pitchFamily="18" charset="0"/>
              </a:rPr>
              <a:t>         </a:t>
            </a:r>
            <a:r>
              <a:rPr lang="en-US" u="sng">
                <a:solidFill>
                  <a:schemeClr val="tx1"/>
                </a:solidFill>
                <a:latin typeface="Times New Roman" panose="02020603050405020304" pitchFamily="18" charset="0"/>
                <a:cs typeface="Times New Roman" panose="02020603050405020304" pitchFamily="18" charset="0"/>
              </a:rPr>
              <a:t>POFI Interlocutors</a:t>
            </a:r>
            <a:r>
              <a:rPr lang="en-US">
                <a:solidFill>
                  <a:schemeClr val="tx1"/>
                </a:solidFill>
                <a:latin typeface="Times New Roman" panose="02020603050405020304" pitchFamily="18" charset="0"/>
                <a:cs typeface="Times New Roman" panose="02020603050405020304" pitchFamily="18" charset="0"/>
              </a:rPr>
              <a:t>: MICHEL THORAVAL.</a:t>
            </a:r>
            <a:endParaRPr lang="fr-FR">
              <a:solidFill>
                <a:schemeClr val="tx1"/>
              </a:solidFill>
              <a:latin typeface="Times New Roman" panose="02020603050405020304" pitchFamily="18" charset="0"/>
              <a:cs typeface="Times New Roman" panose="02020603050405020304" pitchFamily="18" charset="0"/>
            </a:endParaRPr>
          </a:p>
          <a:p>
            <a:r>
              <a:rPr lang="fr-FR">
                <a:solidFill>
                  <a:schemeClr val="tx1"/>
                </a:solidFill>
                <a:latin typeface="Times New Roman" panose="02020603050405020304" pitchFamily="18" charset="0"/>
                <a:cs typeface="Times New Roman" panose="02020603050405020304" pitchFamily="18" charset="0"/>
              </a:rPr>
              <a:t>·</a:t>
            </a:r>
            <a:r>
              <a:rPr lang="en-US">
                <a:solidFill>
                  <a:schemeClr val="tx1"/>
                </a:solidFill>
                <a:latin typeface="Times New Roman" panose="02020603050405020304" pitchFamily="18" charset="0"/>
                <a:cs typeface="Times New Roman" panose="02020603050405020304" pitchFamily="18" charset="0"/>
              </a:rPr>
              <a:t>         </a:t>
            </a:r>
            <a:r>
              <a:rPr lang="en-US" u="sng">
                <a:solidFill>
                  <a:schemeClr val="tx1"/>
                </a:solidFill>
                <a:latin typeface="Times New Roman" panose="02020603050405020304" pitchFamily="18" charset="0"/>
                <a:cs typeface="Times New Roman" panose="02020603050405020304" pitchFamily="18" charset="0"/>
              </a:rPr>
              <a:t>IMV</a:t>
            </a:r>
            <a:r>
              <a:rPr lang="en-US">
                <a:solidFill>
                  <a:schemeClr val="tx1"/>
                </a:solidFill>
                <a:latin typeface="Times New Roman" panose="02020603050405020304" pitchFamily="18" charset="0"/>
                <a:cs typeface="Times New Roman" panose="02020603050405020304" pitchFamily="18" charset="0"/>
              </a:rPr>
              <a:t> </a:t>
            </a:r>
            <a:r>
              <a:rPr lang="en-US" u="sng">
                <a:solidFill>
                  <a:schemeClr val="tx1"/>
                </a:solidFill>
                <a:latin typeface="Times New Roman" panose="02020603050405020304" pitchFamily="18" charset="0"/>
                <a:cs typeface="Times New Roman" panose="02020603050405020304" pitchFamily="18" charset="0"/>
              </a:rPr>
              <a:t>Interlocutors</a:t>
            </a:r>
            <a:r>
              <a:rPr lang="en-US">
                <a:solidFill>
                  <a:schemeClr val="tx1"/>
                </a:solidFill>
                <a:latin typeface="Times New Roman" panose="02020603050405020304" pitchFamily="18" charset="0"/>
                <a:cs typeface="Times New Roman" panose="02020603050405020304" pitchFamily="18" charset="0"/>
              </a:rPr>
              <a:t>: MARC MIRA // RICHARD PAYMAL.</a:t>
            </a:r>
            <a:endParaRPr lang="fr-FR">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         </a:t>
            </a:r>
            <a:r>
              <a:rPr lang="en-US" u="sng">
                <a:solidFill>
                  <a:schemeClr val="tx1"/>
                </a:solidFill>
                <a:latin typeface="Times New Roman" panose="02020603050405020304" pitchFamily="18" charset="0"/>
                <a:cs typeface="Times New Roman" panose="02020603050405020304" pitchFamily="18" charset="0"/>
              </a:rPr>
              <a:t>Designers Interlocutors</a:t>
            </a:r>
            <a:r>
              <a:rPr lang="en-US">
                <a:solidFill>
                  <a:schemeClr val="tx1"/>
                </a:solidFill>
                <a:latin typeface="Times New Roman" panose="02020603050405020304" pitchFamily="18" charset="0"/>
                <a:cs typeface="Times New Roman" panose="02020603050405020304" pitchFamily="18" charset="0"/>
              </a:rPr>
              <a:t>: To be defined // MATTHIEU BARBIER</a:t>
            </a:r>
            <a:endParaRPr lang="fr-FR">
              <a:solidFill>
                <a:schemeClr val="tx1"/>
              </a:solidFill>
              <a:latin typeface="Times New Roman" panose="02020603050405020304" pitchFamily="18" charset="0"/>
              <a:cs typeface="Times New Roman" panose="02020603050405020304" pitchFamily="18" charset="0"/>
            </a:endParaRPr>
          </a:p>
          <a:p>
            <a:pPr algn="ctr"/>
            <a:endParaRPr lang="fr-FR"/>
          </a:p>
        </p:txBody>
      </p:sp>
      <p:sp>
        <p:nvSpPr>
          <p:cNvPr id="14" name="ZoneTexte 13"/>
          <p:cNvSpPr txBox="1"/>
          <p:nvPr/>
        </p:nvSpPr>
        <p:spPr>
          <a:xfrm>
            <a:off x="148856" y="2599814"/>
            <a:ext cx="6153150" cy="1785104"/>
          </a:xfrm>
          <a:prstGeom prst="rect">
            <a:avLst/>
          </a:prstGeom>
          <a:noFill/>
        </p:spPr>
        <p:txBody>
          <a:bodyPr wrap="square" rtlCol="0">
            <a:spAutoFit/>
          </a:bodyPr>
          <a:lstStyle/>
          <a:p>
            <a:pPr algn="just"/>
            <a:r>
              <a:rPr lang="fr-FR" sz="2000">
                <a:latin typeface="Times New Roman" panose="02020603050405020304" pitchFamily="18" charset="0"/>
                <a:cs typeface="Times New Roman" panose="02020603050405020304" pitchFamily="18" charset="0"/>
              </a:rPr>
              <a:t>Remarques : </a:t>
            </a:r>
          </a:p>
          <a:p>
            <a:pPr marL="285750" indent="-285750" algn="just">
              <a:buFont typeface="Wingdings" panose="05000000000000000000" pitchFamily="2" charset="2"/>
              <a:buChar char="§"/>
            </a:pPr>
            <a:r>
              <a:rPr lang="fr-FR">
                <a:latin typeface="Times New Roman" panose="02020603050405020304" pitchFamily="18" charset="0"/>
                <a:cs typeface="Times New Roman" panose="02020603050405020304" pitchFamily="18" charset="0"/>
              </a:rPr>
              <a:t>Dans le cas où on ne connait pas le bon </a:t>
            </a:r>
          </a:p>
          <a:p>
            <a:pPr algn="just"/>
            <a:r>
              <a:rPr lang="fr-FR">
                <a:latin typeface="Times New Roman" panose="02020603050405020304" pitchFamily="18" charset="0"/>
                <a:cs typeface="Times New Roman" panose="02020603050405020304" pitchFamily="18" charset="0"/>
              </a:rPr>
              <a:t>interlocuteur coté designer Team, on met to </a:t>
            </a:r>
            <a:r>
              <a:rPr lang="fr-FR" err="1">
                <a:latin typeface="Times New Roman" panose="02020603050405020304" pitchFamily="18" charset="0"/>
                <a:cs typeface="Times New Roman" panose="02020603050405020304" pitchFamily="18" charset="0"/>
              </a:rPr>
              <a:t>be</a:t>
            </a:r>
            <a:r>
              <a:rPr lang="fr-FR">
                <a:latin typeface="Times New Roman" panose="02020603050405020304" pitchFamily="18" charset="0"/>
                <a:cs typeface="Times New Roman" panose="02020603050405020304" pitchFamily="18" charset="0"/>
              </a:rPr>
              <a:t> </a:t>
            </a:r>
            <a:r>
              <a:rPr lang="fr-FR" err="1">
                <a:latin typeface="Times New Roman" panose="02020603050405020304" pitchFamily="18" charset="0"/>
                <a:cs typeface="Times New Roman" panose="02020603050405020304" pitchFamily="18" charset="0"/>
              </a:rPr>
              <a:t>defined</a:t>
            </a:r>
            <a:r>
              <a:rPr lang="fr-FR">
                <a:latin typeface="Times New Roman" panose="02020603050405020304" pitchFamily="18" charset="0"/>
                <a:cs typeface="Times New Roman" panose="02020603050405020304" pitchFamily="18" charset="0"/>
              </a:rPr>
              <a:t>. </a:t>
            </a:r>
          </a:p>
          <a:p>
            <a:pPr marL="285750" indent="-285750" algn="just">
              <a:buFont typeface="Wingdings" panose="05000000000000000000" pitchFamily="2" charset="2"/>
              <a:buChar char="§"/>
            </a:pPr>
            <a:r>
              <a:rPr lang="fr-FR">
                <a:latin typeface="Times New Roman" panose="02020603050405020304" pitchFamily="18" charset="0"/>
                <a:cs typeface="Times New Roman" panose="02020603050405020304" pitchFamily="18" charset="0"/>
              </a:rPr>
              <a:t>Les interlocuteurs cote IMV à chercher dans le fichier </a:t>
            </a:r>
          </a:p>
          <a:p>
            <a:pPr algn="just"/>
            <a:r>
              <a:rPr lang="fr-FR">
                <a:latin typeface="Times New Roman" panose="02020603050405020304" pitchFamily="18" charset="0"/>
                <a:cs typeface="Times New Roman" panose="02020603050405020304" pitchFamily="18" charset="0"/>
              </a:rPr>
              <a:t>APEN.</a:t>
            </a:r>
          </a:p>
          <a:p>
            <a:pPr algn="just"/>
            <a:endParaRPr lang="fr-FR">
              <a:latin typeface="Times New Roman" panose="02020603050405020304" pitchFamily="18" charset="0"/>
              <a:cs typeface="Times New Roman" panose="02020603050405020304" pitchFamily="18" charset="0"/>
            </a:endParaRPr>
          </a:p>
        </p:txBody>
      </p:sp>
      <p:pic>
        <p:nvPicPr>
          <p:cNvPr id="2" name="Image 1">
            <a:extLst>
              <a:ext uri="{FF2B5EF4-FFF2-40B4-BE49-F238E27FC236}">
                <a16:creationId xmlns:a16="http://schemas.microsoft.com/office/drawing/2014/main" id="{4495A2F7-B715-8E69-C1EF-D601075EF87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13388" y="-37362"/>
            <a:ext cx="2793118" cy="687957"/>
          </a:xfrm>
          <a:prstGeom prst="rect">
            <a:avLst/>
          </a:prstGeom>
        </p:spPr>
      </p:pic>
      <p:sp>
        <p:nvSpPr>
          <p:cNvPr id="3" name="Espace réservé du numéro de diapositive 2">
            <a:extLst>
              <a:ext uri="{FF2B5EF4-FFF2-40B4-BE49-F238E27FC236}">
                <a16:creationId xmlns:a16="http://schemas.microsoft.com/office/drawing/2014/main" id="{93B897C0-7BAB-E059-B93D-3C45FC0DC120}"/>
              </a:ext>
            </a:extLst>
          </p:cNvPr>
          <p:cNvSpPr>
            <a:spLocks noGrp="1"/>
          </p:cNvSpPr>
          <p:nvPr>
            <p:ph type="sldNum" sz="quarter" idx="12"/>
          </p:nvPr>
        </p:nvSpPr>
        <p:spPr/>
        <p:txBody>
          <a:bodyPr/>
          <a:lstStyle/>
          <a:p>
            <a:fld id="{8804BB38-747B-4994-9B8D-B168AF305C05}" type="slidenum">
              <a:rPr lang="fr-FR" smtClean="0"/>
              <a:t>18</a:t>
            </a:fld>
            <a:endParaRPr lang="fr-FR"/>
          </a:p>
        </p:txBody>
      </p:sp>
    </p:spTree>
    <p:extLst>
      <p:ext uri="{BB962C8B-B14F-4D97-AF65-F5344CB8AC3E}">
        <p14:creationId xmlns:p14="http://schemas.microsoft.com/office/powerpoint/2010/main" val="2719587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Connecteur droit 4"/>
          <p:cNvCxnSpPr/>
          <p:nvPr/>
        </p:nvCxnSpPr>
        <p:spPr>
          <a:xfrm>
            <a:off x="148856" y="634026"/>
            <a:ext cx="11866681"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ZoneTexte 6"/>
          <p:cNvSpPr txBox="1"/>
          <p:nvPr/>
        </p:nvSpPr>
        <p:spPr>
          <a:xfrm>
            <a:off x="69905" y="208717"/>
            <a:ext cx="6707557" cy="400110"/>
          </a:xfrm>
          <a:prstGeom prst="rect">
            <a:avLst/>
          </a:prstGeom>
          <a:noFill/>
        </p:spPr>
        <p:txBody>
          <a:bodyPr wrap="square" rtlCol="0">
            <a:spAutoFit/>
          </a:bodyPr>
          <a:lstStyle/>
          <a:p>
            <a:r>
              <a:rPr lang="fr-FR" sz="2000" b="1" i="1">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SIPOC ACTIVITE PILOTAGE APOQUA</a:t>
            </a:r>
          </a:p>
        </p:txBody>
      </p:sp>
      <p:pic>
        <p:nvPicPr>
          <p:cNvPr id="3" name="Image 2"/>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0" y="1673643"/>
            <a:ext cx="12192000" cy="3175118"/>
          </a:xfrm>
          <a:prstGeom prst="rect">
            <a:avLst/>
          </a:prstGeom>
        </p:spPr>
      </p:pic>
      <p:pic>
        <p:nvPicPr>
          <p:cNvPr id="2" name="Image 1">
            <a:extLst>
              <a:ext uri="{FF2B5EF4-FFF2-40B4-BE49-F238E27FC236}">
                <a16:creationId xmlns:a16="http://schemas.microsoft.com/office/drawing/2014/main" id="{FF723790-6390-5301-A745-A52139801D2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13388" y="-37362"/>
            <a:ext cx="2793118" cy="687957"/>
          </a:xfrm>
          <a:prstGeom prst="rect">
            <a:avLst/>
          </a:prstGeom>
        </p:spPr>
      </p:pic>
      <p:sp>
        <p:nvSpPr>
          <p:cNvPr id="4" name="Espace réservé du numéro de diapositive 3">
            <a:extLst>
              <a:ext uri="{FF2B5EF4-FFF2-40B4-BE49-F238E27FC236}">
                <a16:creationId xmlns:a16="http://schemas.microsoft.com/office/drawing/2014/main" id="{EFD10492-F8D3-FDB4-1CA9-493175E00C4E}"/>
              </a:ext>
            </a:extLst>
          </p:cNvPr>
          <p:cNvSpPr>
            <a:spLocks noGrp="1"/>
          </p:cNvSpPr>
          <p:nvPr>
            <p:ph type="sldNum" sz="quarter" idx="12"/>
          </p:nvPr>
        </p:nvSpPr>
        <p:spPr/>
        <p:txBody>
          <a:bodyPr/>
          <a:lstStyle/>
          <a:p>
            <a:fld id="{8804BB38-747B-4994-9B8D-B168AF305C05}" type="slidenum">
              <a:rPr lang="fr-FR" smtClean="0"/>
              <a:t>19</a:t>
            </a:fld>
            <a:endParaRPr lang="fr-FR"/>
          </a:p>
        </p:txBody>
      </p:sp>
    </p:spTree>
    <p:extLst>
      <p:ext uri="{BB962C8B-B14F-4D97-AF65-F5344CB8AC3E}">
        <p14:creationId xmlns:p14="http://schemas.microsoft.com/office/powerpoint/2010/main" val="34646023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Connecteur droit 4"/>
          <p:cNvCxnSpPr/>
          <p:nvPr/>
        </p:nvCxnSpPr>
        <p:spPr>
          <a:xfrm>
            <a:off x="148856" y="634026"/>
            <a:ext cx="11866681"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ZoneTexte 6"/>
          <p:cNvSpPr txBox="1"/>
          <p:nvPr/>
        </p:nvSpPr>
        <p:spPr>
          <a:xfrm>
            <a:off x="69905" y="208717"/>
            <a:ext cx="6707557" cy="400110"/>
          </a:xfrm>
          <a:prstGeom prst="rect">
            <a:avLst/>
          </a:prstGeom>
          <a:noFill/>
        </p:spPr>
        <p:txBody>
          <a:bodyPr wrap="square" rtlCol="0">
            <a:spAutoFit/>
          </a:bodyPr>
          <a:lstStyle/>
          <a:p>
            <a:r>
              <a:rPr lang="fr-FR" sz="2000" b="1" i="1">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RITUEL APOQUA COM MEETING </a:t>
            </a:r>
          </a:p>
        </p:txBody>
      </p:sp>
      <p:sp>
        <p:nvSpPr>
          <p:cNvPr id="14" name="ZoneTexte 13"/>
          <p:cNvSpPr txBox="1"/>
          <p:nvPr/>
        </p:nvSpPr>
        <p:spPr>
          <a:xfrm>
            <a:off x="148856" y="929262"/>
            <a:ext cx="11658133" cy="646331"/>
          </a:xfrm>
          <a:prstGeom prst="rect">
            <a:avLst/>
          </a:prstGeom>
          <a:noFill/>
        </p:spPr>
        <p:txBody>
          <a:bodyPr wrap="square" rtlCol="0">
            <a:spAutoFit/>
          </a:bodyPr>
          <a:lstStyle/>
          <a:p>
            <a:pPr algn="just"/>
            <a:r>
              <a:rPr lang="fr-FR">
                <a:latin typeface="Times New Roman" panose="02020603050405020304" pitchFamily="18" charset="0"/>
                <a:cs typeface="Times New Roman" panose="02020603050405020304" pitchFamily="18" charset="0"/>
              </a:rPr>
              <a:t>Après l’APOQUA COM meeting, on envoie, si nécessaire, un </a:t>
            </a:r>
            <a:r>
              <a:rPr lang="fr-FR" err="1">
                <a:latin typeface="Times New Roman" panose="02020603050405020304" pitchFamily="18" charset="0"/>
                <a:cs typeface="Times New Roman" panose="02020603050405020304" pitchFamily="18" charset="0"/>
              </a:rPr>
              <a:t>reporting</a:t>
            </a:r>
            <a:r>
              <a:rPr lang="fr-FR">
                <a:latin typeface="Times New Roman" panose="02020603050405020304" pitchFamily="18" charset="0"/>
                <a:cs typeface="Times New Roman" panose="02020603050405020304" pitchFamily="18" charset="0"/>
              </a:rPr>
              <a:t> aux gens afin de partager les plans d’action à suivre pour chaque fiche. </a:t>
            </a:r>
          </a:p>
        </p:txBody>
      </p:sp>
      <p:sp>
        <p:nvSpPr>
          <p:cNvPr id="15" name="Rectangle 14"/>
          <p:cNvSpPr/>
          <p:nvPr/>
        </p:nvSpPr>
        <p:spPr>
          <a:xfrm>
            <a:off x="2295024" y="1575593"/>
            <a:ext cx="6381750" cy="3383234"/>
          </a:xfrm>
          <a:prstGeom prst="rect">
            <a:avLst/>
          </a:prstGeom>
          <a:ln>
            <a:solidFill>
              <a:srgbClr val="0070C0"/>
            </a:solidFill>
          </a:ln>
        </p:spPr>
        <p:txBody>
          <a:bodyPr wrap="square">
            <a:spAutoFit/>
          </a:bodyPr>
          <a:lstStyle/>
          <a:p>
            <a:pPr>
              <a:lnSpc>
                <a:spcPct val="107000"/>
              </a:lnSpc>
              <a:spcAft>
                <a:spcPts val="800"/>
              </a:spcAft>
            </a:pPr>
            <a:r>
              <a:rPr lang="en-US">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Hello everyone,</a:t>
            </a:r>
            <a:endParaRPr lang="fr-FR">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US">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Please find below the report for W13.</a:t>
            </a:r>
          </a:p>
          <a:p>
            <a:pPr lvl="0"/>
            <a:r>
              <a:rPr lang="en-US" b="1" u="sng">
                <a:latin typeface="Times New Roman" panose="02020603050405020304" pitchFamily="18" charset="0"/>
                <a:cs typeface="Times New Roman" panose="02020603050405020304" pitchFamily="18" charset="0"/>
              </a:rPr>
              <a:t>Nom de la fiche </a:t>
            </a:r>
            <a:r>
              <a:rPr lang="en-US" b="1" u="sng" err="1">
                <a:latin typeface="Times New Roman" panose="02020603050405020304" pitchFamily="18" charset="0"/>
                <a:cs typeface="Times New Roman" panose="02020603050405020304" pitchFamily="18" charset="0"/>
              </a:rPr>
              <a:t>en</a:t>
            </a:r>
            <a:r>
              <a:rPr lang="en-US" b="1" u="sng">
                <a:latin typeface="Times New Roman" panose="02020603050405020304" pitchFamily="18" charset="0"/>
                <a:cs typeface="Times New Roman" panose="02020603050405020304" pitchFamily="18" charset="0"/>
              </a:rPr>
              <a:t> </a:t>
            </a:r>
            <a:r>
              <a:rPr lang="en-US" b="1" u="sng" err="1">
                <a:latin typeface="Times New Roman" panose="02020603050405020304" pitchFamily="18" charset="0"/>
                <a:cs typeface="Times New Roman" panose="02020603050405020304" pitchFamily="18" charset="0"/>
              </a:rPr>
              <a:t>Français</a:t>
            </a:r>
            <a:r>
              <a:rPr lang="en-US" b="1" u="sng">
                <a:latin typeface="Times New Roman" panose="02020603050405020304" pitchFamily="18" charset="0"/>
                <a:cs typeface="Times New Roman" panose="02020603050405020304" pitchFamily="18" charset="0"/>
              </a:rPr>
              <a:t> / Nom de la fiche </a:t>
            </a:r>
            <a:r>
              <a:rPr lang="en-US" b="1" u="sng" err="1">
                <a:latin typeface="Times New Roman" panose="02020603050405020304" pitchFamily="18" charset="0"/>
                <a:cs typeface="Times New Roman" panose="02020603050405020304" pitchFamily="18" charset="0"/>
              </a:rPr>
              <a:t>en</a:t>
            </a:r>
            <a:r>
              <a:rPr lang="en-US" b="1" u="sng">
                <a:latin typeface="Times New Roman" panose="02020603050405020304" pitchFamily="18" charset="0"/>
                <a:cs typeface="Times New Roman" panose="02020603050405020304" pitchFamily="18" charset="0"/>
              </a:rPr>
              <a:t> </a:t>
            </a:r>
            <a:r>
              <a:rPr lang="en-US" b="1" u="sng" err="1">
                <a:latin typeface="Times New Roman" panose="02020603050405020304" pitchFamily="18" charset="0"/>
                <a:cs typeface="Times New Roman" panose="02020603050405020304" pitchFamily="18" charset="0"/>
              </a:rPr>
              <a:t>Anglais</a:t>
            </a:r>
            <a:endParaRPr lang="fr-FR">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a:t>
            </a:r>
            <a:r>
              <a:rPr lang="fr-FR" u="sng">
                <a:latin typeface="Times New Roman" panose="02020603050405020304" pitchFamily="18" charset="0"/>
                <a:cs typeface="Times New Roman" panose="02020603050405020304" pitchFamily="18" charset="0"/>
              </a:rPr>
              <a:t>Référence </a:t>
            </a:r>
            <a:r>
              <a:rPr lang="fr-FR" u="sng" err="1">
                <a:latin typeface="Times New Roman" panose="02020603050405020304" pitchFamily="18" charset="0"/>
                <a:cs typeface="Times New Roman" panose="02020603050405020304" pitchFamily="18" charset="0"/>
              </a:rPr>
              <a:t>DocInfo</a:t>
            </a:r>
            <a:r>
              <a:rPr lang="fr-FR" u="sng">
                <a:latin typeface="Times New Roman" panose="02020603050405020304" pitchFamily="18" charset="0"/>
                <a:cs typeface="Times New Roman" panose="02020603050405020304" pitchFamily="18" charset="0"/>
              </a:rPr>
              <a:t> de la fiche.</a:t>
            </a:r>
            <a:endParaRPr lang="fr-FR">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Type de modification </a:t>
            </a:r>
            <a:r>
              <a:rPr lang="en-US" err="1">
                <a:latin typeface="Times New Roman" panose="02020603050405020304" pitchFamily="18" charset="0"/>
                <a:cs typeface="Times New Roman" panose="02020603050405020304" pitchFamily="18" charset="0"/>
              </a:rPr>
              <a:t>faite</a:t>
            </a:r>
            <a:r>
              <a:rPr lang="en-US">
                <a:latin typeface="Times New Roman" panose="02020603050405020304" pitchFamily="18" charset="0"/>
                <a:cs typeface="Times New Roman" panose="02020603050405020304" pitchFamily="18" charset="0"/>
              </a:rPr>
              <a:t> sur la fiche.</a:t>
            </a:r>
            <a:endParaRPr lang="fr-FR">
              <a:latin typeface="Times New Roman" panose="02020603050405020304" pitchFamily="18" charset="0"/>
              <a:cs typeface="Times New Roman" panose="02020603050405020304" pitchFamily="18" charset="0"/>
            </a:endParaRPr>
          </a:p>
          <a:p>
            <a:r>
              <a:rPr lang="fr-FR">
                <a:latin typeface="Times New Roman" panose="02020603050405020304" pitchFamily="18" charset="0"/>
                <a:cs typeface="Times New Roman" panose="02020603050405020304" pitchFamily="18" charset="0"/>
              </a:rPr>
              <a:t>·</a:t>
            </a:r>
            <a:r>
              <a:rPr lang="en-US">
                <a:latin typeface="Times New Roman" panose="02020603050405020304" pitchFamily="18" charset="0"/>
                <a:cs typeface="Times New Roman" panose="02020603050405020304" pitchFamily="18" charset="0"/>
              </a:rPr>
              <a:t>         </a:t>
            </a:r>
            <a:r>
              <a:rPr lang="en-US" u="sng">
                <a:latin typeface="Times New Roman" panose="02020603050405020304" pitchFamily="18" charset="0"/>
                <a:cs typeface="Times New Roman" panose="02020603050405020304" pitchFamily="18" charset="0"/>
              </a:rPr>
              <a:t>FPPE Interlocutors</a:t>
            </a:r>
            <a:r>
              <a:rPr lang="en-US">
                <a:latin typeface="Times New Roman" panose="02020603050405020304" pitchFamily="18" charset="0"/>
                <a:cs typeface="Times New Roman" panose="02020603050405020304" pitchFamily="18" charset="0"/>
              </a:rPr>
              <a:t>: [].</a:t>
            </a:r>
            <a:endParaRPr lang="fr-FR">
              <a:latin typeface="Times New Roman" panose="02020603050405020304" pitchFamily="18" charset="0"/>
              <a:cs typeface="Times New Roman" panose="02020603050405020304" pitchFamily="18" charset="0"/>
            </a:endParaRPr>
          </a:p>
          <a:p>
            <a:r>
              <a:rPr lang="fr-FR">
                <a:latin typeface="Times New Roman" panose="02020603050405020304" pitchFamily="18" charset="0"/>
                <a:cs typeface="Times New Roman" panose="02020603050405020304" pitchFamily="18" charset="0"/>
              </a:rPr>
              <a:t>·</a:t>
            </a:r>
            <a:r>
              <a:rPr lang="en-US">
                <a:latin typeface="Times New Roman" panose="02020603050405020304" pitchFamily="18" charset="0"/>
                <a:cs typeface="Times New Roman" panose="02020603050405020304" pitchFamily="18" charset="0"/>
              </a:rPr>
              <a:t>         </a:t>
            </a:r>
            <a:r>
              <a:rPr lang="en-US" u="sng">
                <a:latin typeface="Times New Roman" panose="02020603050405020304" pitchFamily="18" charset="0"/>
                <a:cs typeface="Times New Roman" panose="02020603050405020304" pitchFamily="18" charset="0"/>
              </a:rPr>
              <a:t>IMV</a:t>
            </a:r>
            <a:r>
              <a:rPr lang="en-US">
                <a:latin typeface="Times New Roman" panose="02020603050405020304" pitchFamily="18" charset="0"/>
                <a:cs typeface="Times New Roman" panose="02020603050405020304" pitchFamily="18" charset="0"/>
              </a:rPr>
              <a:t> </a:t>
            </a:r>
            <a:r>
              <a:rPr lang="en-US" u="sng">
                <a:latin typeface="Times New Roman" panose="02020603050405020304" pitchFamily="18" charset="0"/>
                <a:cs typeface="Times New Roman" panose="02020603050405020304" pitchFamily="18" charset="0"/>
              </a:rPr>
              <a:t>Interlocutors</a:t>
            </a:r>
            <a:r>
              <a:rPr lang="en-US">
                <a:latin typeface="Times New Roman" panose="02020603050405020304" pitchFamily="18" charset="0"/>
                <a:cs typeface="Times New Roman" panose="02020603050405020304" pitchFamily="18" charset="0"/>
              </a:rPr>
              <a:t>: : [] // [] .</a:t>
            </a:r>
          </a:p>
          <a:p>
            <a:r>
              <a:rPr lang="en-US">
                <a:latin typeface="Times New Roman" panose="02020603050405020304" pitchFamily="18" charset="0"/>
                <a:cs typeface="Times New Roman" panose="02020603050405020304" pitchFamily="18" charset="0"/>
              </a:rPr>
              <a:t>·         </a:t>
            </a:r>
            <a:r>
              <a:rPr lang="en-US" u="sng">
                <a:latin typeface="Times New Roman" panose="02020603050405020304" pitchFamily="18" charset="0"/>
                <a:cs typeface="Times New Roman" panose="02020603050405020304" pitchFamily="18" charset="0"/>
              </a:rPr>
              <a:t>Designers Interlocutors</a:t>
            </a:r>
            <a:r>
              <a:rPr lang="en-US">
                <a:latin typeface="Times New Roman" panose="02020603050405020304" pitchFamily="18" charset="0"/>
                <a:cs typeface="Times New Roman" panose="02020603050405020304" pitchFamily="18" charset="0"/>
              </a:rPr>
              <a:t>: [] // [] .</a:t>
            </a:r>
          </a:p>
          <a:p>
            <a:r>
              <a:rPr lang="en-US">
                <a:solidFill>
                  <a:srgbClr val="201F1E"/>
                </a:solidFill>
                <a:latin typeface="Times New Roman" panose="02020603050405020304" pitchFamily="18" charset="0"/>
                <a:ea typeface="Times New Roman" panose="02020603050405020304" pitchFamily="18" charset="0"/>
                <a:cs typeface="Times New Roman" panose="02020603050405020304" pitchFamily="18" charset="0"/>
              </a:rPr>
              <a:t>.         Verify with designer if is possible to standardize the fixations between CMP and EMP2.</a:t>
            </a:r>
          </a:p>
          <a:p>
            <a:r>
              <a:rPr lang="en-US">
                <a:solidFill>
                  <a:srgbClr val="201F1E"/>
                </a:solidFill>
                <a:latin typeface="Times New Roman" panose="02020603050405020304" pitchFamily="18" charset="0"/>
                <a:ea typeface="Times New Roman" panose="02020603050405020304" pitchFamily="18" charset="0"/>
                <a:cs typeface="Times New Roman" panose="02020603050405020304" pitchFamily="18" charset="0"/>
              </a:rPr>
              <a:t>.         Verify with designer the torque (Use VCB </a:t>
            </a:r>
            <a:r>
              <a:rPr lang="en-US" err="1">
                <a:solidFill>
                  <a:srgbClr val="201F1E"/>
                </a:solidFill>
                <a:latin typeface="Times New Roman" panose="02020603050405020304" pitchFamily="18" charset="0"/>
                <a:ea typeface="Times New Roman" panose="02020603050405020304" pitchFamily="18" charset="0"/>
                <a:cs typeface="Times New Roman" panose="02020603050405020304" pitchFamily="18" charset="0"/>
              </a:rPr>
              <a:t>intead</a:t>
            </a:r>
            <a:r>
              <a:rPr lang="en-US">
                <a:solidFill>
                  <a:srgbClr val="201F1E"/>
                </a:solidFill>
                <a:latin typeface="Times New Roman" panose="02020603050405020304" pitchFamily="18" charset="0"/>
                <a:ea typeface="Times New Roman" panose="02020603050405020304" pitchFamily="18" charset="0"/>
                <a:cs typeface="Times New Roman" panose="02020603050405020304" pitchFamily="18" charset="0"/>
              </a:rPr>
              <a:t> of VSB).</a:t>
            </a:r>
            <a:endParaRPr lang="fr-FR">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2" name="Image 1">
            <a:extLst>
              <a:ext uri="{FF2B5EF4-FFF2-40B4-BE49-F238E27FC236}">
                <a16:creationId xmlns:a16="http://schemas.microsoft.com/office/drawing/2014/main" id="{29821B51-FF98-E54B-CD8C-6FEA437B9DD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13388" y="-37362"/>
            <a:ext cx="2793118" cy="687957"/>
          </a:xfrm>
          <a:prstGeom prst="rect">
            <a:avLst/>
          </a:prstGeom>
        </p:spPr>
      </p:pic>
      <p:sp>
        <p:nvSpPr>
          <p:cNvPr id="3" name="Espace réservé du numéro de diapositive 2">
            <a:extLst>
              <a:ext uri="{FF2B5EF4-FFF2-40B4-BE49-F238E27FC236}">
                <a16:creationId xmlns:a16="http://schemas.microsoft.com/office/drawing/2014/main" id="{F97FFAC4-BBF0-1010-87D8-BAD699AEA113}"/>
              </a:ext>
            </a:extLst>
          </p:cNvPr>
          <p:cNvSpPr>
            <a:spLocks noGrp="1"/>
          </p:cNvSpPr>
          <p:nvPr>
            <p:ph type="sldNum" sz="quarter" idx="12"/>
          </p:nvPr>
        </p:nvSpPr>
        <p:spPr/>
        <p:txBody>
          <a:bodyPr/>
          <a:lstStyle/>
          <a:p>
            <a:fld id="{8804BB38-747B-4994-9B8D-B168AF305C05}" type="slidenum">
              <a:rPr lang="fr-FR" smtClean="0"/>
              <a:t>20</a:t>
            </a:fld>
            <a:endParaRPr lang="fr-FR"/>
          </a:p>
        </p:txBody>
      </p:sp>
    </p:spTree>
    <p:extLst>
      <p:ext uri="{BB962C8B-B14F-4D97-AF65-F5344CB8AC3E}">
        <p14:creationId xmlns:p14="http://schemas.microsoft.com/office/powerpoint/2010/main" val="3700004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Connecteur droit 4"/>
          <p:cNvCxnSpPr/>
          <p:nvPr/>
        </p:nvCxnSpPr>
        <p:spPr>
          <a:xfrm>
            <a:off x="148856" y="634026"/>
            <a:ext cx="11866681"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ZoneTexte 6"/>
          <p:cNvSpPr txBox="1"/>
          <p:nvPr/>
        </p:nvSpPr>
        <p:spPr>
          <a:xfrm>
            <a:off x="69905" y="208717"/>
            <a:ext cx="6707557" cy="400110"/>
          </a:xfrm>
          <a:prstGeom prst="rect">
            <a:avLst/>
          </a:prstGeom>
          <a:noFill/>
        </p:spPr>
        <p:txBody>
          <a:bodyPr wrap="square" rtlCol="0">
            <a:spAutoFit/>
          </a:bodyPr>
          <a:lstStyle/>
          <a:p>
            <a:r>
              <a:rPr lang="fr-FR" sz="2000" b="1" i="1">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LIEN UTILES  </a:t>
            </a:r>
          </a:p>
        </p:txBody>
      </p:sp>
      <p:sp>
        <p:nvSpPr>
          <p:cNvPr id="2" name="ZoneTexte 1"/>
          <p:cNvSpPr txBox="1"/>
          <p:nvPr/>
        </p:nvSpPr>
        <p:spPr>
          <a:xfrm>
            <a:off x="148856" y="1026695"/>
            <a:ext cx="11866681" cy="3970318"/>
          </a:xfrm>
          <a:prstGeom prst="rect">
            <a:avLst/>
          </a:prstGeom>
          <a:noFill/>
        </p:spPr>
        <p:txBody>
          <a:bodyPr wrap="square" lIns="91440" tIns="45720" rIns="91440" bIns="45720" rtlCol="0" anchor="t">
            <a:spAutoFit/>
          </a:bodyPr>
          <a:lstStyle/>
          <a:p>
            <a:pPr marL="285750" indent="-285750">
              <a:buFont typeface="Courier New" panose="02070309020205020404" pitchFamily="49" charset="0"/>
              <a:buChar char="o"/>
            </a:pPr>
            <a:r>
              <a:rPr lang="fr-FR" dirty="0">
                <a:latin typeface="Times New Roman"/>
                <a:cs typeface="Times New Roman"/>
              </a:rPr>
              <a:t>Process </a:t>
            </a:r>
            <a:r>
              <a:rPr lang="fr-FR" err="1">
                <a:latin typeface="Times New Roman"/>
                <a:cs typeface="Times New Roman"/>
              </a:rPr>
              <a:t>Fab</a:t>
            </a:r>
            <a:r>
              <a:rPr lang="fr-FR" dirty="0">
                <a:latin typeface="Times New Roman"/>
                <a:cs typeface="Times New Roman"/>
              </a:rPr>
              <a:t> : </a:t>
            </a:r>
            <a:r>
              <a:rPr lang="fr-FR">
                <a:solidFill>
                  <a:srgbClr val="0070C0"/>
                </a:solidFill>
                <a:latin typeface="Times New Roman"/>
                <a:cs typeface="Times New Roman"/>
              </a:rPr>
              <a:t>Process Fa</a:t>
            </a:r>
            <a:r>
              <a:rPr lang="fr-FR" dirty="0">
                <a:solidFill>
                  <a:srgbClr val="0070C0"/>
                </a:solidFill>
                <a:latin typeface="Times New Roman"/>
                <a:cs typeface="Times New Roman"/>
                <a:hlinkClick r:id="rId2"/>
              </a:rPr>
              <a:t>brication (inetpsa.com)</a:t>
            </a:r>
          </a:p>
          <a:p>
            <a:pPr marL="285750" indent="-285750">
              <a:buFont typeface="Courier New" panose="02070309020205020404" pitchFamily="49" charset="0"/>
              <a:buChar char="o"/>
            </a:pPr>
            <a:r>
              <a:rPr lang="fr-FR" dirty="0">
                <a:latin typeface="Times New Roman"/>
                <a:cs typeface="Times New Roman"/>
              </a:rPr>
              <a:t>Fichier des connexions génériques : </a:t>
            </a:r>
            <a:r>
              <a:rPr lang="fr-FR" dirty="0">
                <a:solidFill>
                  <a:srgbClr val="0070C0"/>
                </a:solidFill>
                <a:latin typeface="Times New Roman"/>
                <a:cs typeface="Times New Roman"/>
                <a:hlinkClick r:id="rId3"/>
              </a:rPr>
              <a:t>http://docinfogroupe.inetpsa.com/ead/doc/ref.01266_16_00718/v.vc/fiche</a:t>
            </a:r>
            <a:endParaRPr lang="fr-FR" dirty="0">
              <a:solidFill>
                <a:srgbClr val="0070C0"/>
              </a:solidFill>
              <a:latin typeface="Times New Roman"/>
              <a:cs typeface="Times New Roman"/>
            </a:endParaRPr>
          </a:p>
          <a:p>
            <a:pPr marL="285750" indent="-285750">
              <a:buFont typeface="Courier New" panose="02070309020205020404" pitchFamily="49" charset="0"/>
              <a:buChar char="o"/>
            </a:pPr>
            <a:r>
              <a:rPr lang="fr-FR" dirty="0">
                <a:latin typeface="Times New Roman"/>
                <a:cs typeface="Times New Roman"/>
              </a:rPr>
              <a:t>Fichier du Pilotage APOQUA : </a:t>
            </a:r>
            <a:r>
              <a:rPr lang="fr-FR" dirty="0">
                <a:solidFill>
                  <a:srgbClr val="0070C0"/>
                </a:solidFill>
                <a:latin typeface="Times New Roman"/>
                <a:cs typeface="Times New Roman"/>
                <a:hlinkClick r:id="rId4"/>
              </a:rPr>
              <a:t>http://docinfogroupe.inetpsa.com/ead/doc/ref.01266_20_00612/v.vc/fiche</a:t>
            </a:r>
          </a:p>
          <a:p>
            <a:pPr marL="285750" indent="-285750">
              <a:buFont typeface="Courier New" panose="02070309020205020404" pitchFamily="49" charset="0"/>
              <a:buChar char="o"/>
            </a:pPr>
            <a:r>
              <a:rPr lang="fr-FR" dirty="0">
                <a:latin typeface="Times New Roman"/>
                <a:cs typeface="Times New Roman"/>
              </a:rPr>
              <a:t>Fichier d’indicateur et KPI : </a:t>
            </a:r>
            <a:r>
              <a:rPr lang="fr-FR" dirty="0">
                <a:solidFill>
                  <a:srgbClr val="0070C0"/>
                </a:solidFill>
                <a:latin typeface="Times New Roman"/>
                <a:cs typeface="Times New Roman"/>
                <a:hlinkClick r:id="rId5"/>
              </a:rPr>
              <a:t>http://docinfogroupe.inetpsa.com/ead/doc/ref.01266_19_00118/v.vc/fiche</a:t>
            </a:r>
            <a:endParaRPr lang="fr-FR" dirty="0">
              <a:solidFill>
                <a:srgbClr val="0070C0"/>
              </a:solidFill>
              <a:latin typeface="Times New Roman"/>
              <a:cs typeface="Times New Roman"/>
            </a:endParaRPr>
          </a:p>
          <a:p>
            <a:pPr marL="285750" indent="-285750">
              <a:buFont typeface="Courier New" panose="02070309020205020404" pitchFamily="49" charset="0"/>
              <a:buChar char="o"/>
            </a:pPr>
            <a:r>
              <a:rPr lang="fr-FR" dirty="0">
                <a:latin typeface="Times New Roman"/>
                <a:cs typeface="Times New Roman"/>
              </a:rPr>
              <a:t>Liste complète des fiches APOQUA : </a:t>
            </a:r>
            <a:r>
              <a:rPr lang="fr-FR" dirty="0">
                <a:solidFill>
                  <a:srgbClr val="0070C0"/>
                </a:solidFill>
                <a:latin typeface="Times New Roman"/>
                <a:cs typeface="Times New Roman"/>
                <a:hlinkClick r:id="rId6"/>
              </a:rPr>
              <a:t>http://docinfogroupe.inetpsa.com/ead/doc/ref.01266_15_00825/v.vc/fiche</a:t>
            </a:r>
            <a:endParaRPr lang="fr-FR" dirty="0">
              <a:solidFill>
                <a:srgbClr val="0070C0"/>
              </a:solidFill>
              <a:latin typeface="Times New Roman"/>
              <a:cs typeface="Times New Roman"/>
            </a:endParaRPr>
          </a:p>
          <a:p>
            <a:pPr marL="285750" indent="-285750">
              <a:buFont typeface="Courier New" panose="02070309020205020404" pitchFamily="49" charset="0"/>
              <a:buChar char="o"/>
            </a:pPr>
            <a:r>
              <a:rPr lang="fr-FR" dirty="0">
                <a:latin typeface="Times New Roman"/>
                <a:cs typeface="Times New Roman"/>
              </a:rPr>
              <a:t>Modèle vierge d’une fiche APOQUA : </a:t>
            </a:r>
            <a:r>
              <a:rPr lang="fr-FR" dirty="0">
                <a:latin typeface="Times New Roman"/>
                <a:cs typeface="Times New Roman"/>
                <a:hlinkClick r:id="rId7"/>
              </a:rPr>
              <a:t>http://docinfogroupe.inetpsa.com/ead/doc/ref.01266_15_00644/v.vc/fiche</a:t>
            </a:r>
            <a:endParaRPr lang="fr-FR" dirty="0">
              <a:latin typeface="Times New Roman"/>
              <a:cs typeface="Times New Roman"/>
            </a:endParaRPr>
          </a:p>
          <a:p>
            <a:pPr marL="285750" indent="-285750">
              <a:buFont typeface="Courier New" panose="02070309020205020404" pitchFamily="49" charset="0"/>
              <a:buChar char="o"/>
            </a:pPr>
            <a:r>
              <a:rPr lang="fr-FR" dirty="0">
                <a:latin typeface="Times New Roman"/>
                <a:cs typeface="Times New Roman"/>
              </a:rPr>
              <a:t>Découpage PSA : </a:t>
            </a:r>
            <a:r>
              <a:rPr lang="fr-FR" dirty="0">
                <a:latin typeface="Times New Roman"/>
                <a:cs typeface="Times New Roman"/>
                <a:hlinkClick r:id="rId8"/>
              </a:rPr>
              <a:t>http://docinfogroupe.inetpsa.com/ead/doc/ref.GTN_RNPP04_0043/v.vc/fiche</a:t>
            </a:r>
            <a:endParaRPr lang="fr-FR" dirty="0">
              <a:latin typeface="Times New Roman"/>
              <a:cs typeface="Times New Roman"/>
            </a:endParaRPr>
          </a:p>
          <a:p>
            <a:pPr marL="285750" indent="-285750">
              <a:buFont typeface="Courier New" panose="02070309020205020404" pitchFamily="49" charset="0"/>
              <a:buChar char="o"/>
            </a:pPr>
            <a:r>
              <a:rPr lang="fr-FR" dirty="0">
                <a:latin typeface="Times New Roman"/>
                <a:cs typeface="Times New Roman"/>
              </a:rPr>
              <a:t>Gestion de la liste avec Triplets et </a:t>
            </a:r>
            <a:r>
              <a:rPr lang="fr-FR" dirty="0" err="1">
                <a:latin typeface="Times New Roman"/>
                <a:cs typeface="Times New Roman"/>
              </a:rPr>
              <a:t>PoRo</a:t>
            </a:r>
            <a:r>
              <a:rPr lang="fr-FR" dirty="0">
                <a:latin typeface="Times New Roman"/>
                <a:cs typeface="Times New Roman"/>
              </a:rPr>
              <a:t> : </a:t>
            </a:r>
            <a:r>
              <a:rPr lang="fr-FR" dirty="0">
                <a:latin typeface="Times New Roman"/>
                <a:cs typeface="Times New Roman"/>
                <a:hlinkClick r:id="rId9"/>
              </a:rPr>
              <a:t>http://docinfogroupe.inetpsa.com/ead/doc/ref.01266_19_00373/v.vc/fiche</a:t>
            </a:r>
            <a:endParaRPr lang="fr-FR" dirty="0">
              <a:latin typeface="Times New Roman"/>
              <a:cs typeface="Times New Roman"/>
            </a:endParaRPr>
          </a:p>
          <a:p>
            <a:pPr marL="285750" indent="-285750">
              <a:buFont typeface="Courier New" panose="02070309020205020404" pitchFamily="49" charset="0"/>
              <a:buChar char="o"/>
            </a:pPr>
            <a:r>
              <a:rPr lang="fr-FR" dirty="0">
                <a:latin typeface="Times New Roman"/>
                <a:cs typeface="Times New Roman"/>
              </a:rPr>
              <a:t>Fichier des demandes de création ou mise à jour des fiches APOQUA : </a:t>
            </a:r>
            <a:r>
              <a:rPr lang="fr-FR" dirty="0">
                <a:latin typeface="Times New Roman"/>
                <a:cs typeface="Times New Roman"/>
                <a:hlinkClick r:id="rId10"/>
              </a:rPr>
              <a:t>http://docinfogroupe.inetpsa.com/ead/doc/ref.01266_22_00006/v.vc/fiche</a:t>
            </a:r>
            <a:endParaRPr lang="fr-FR" dirty="0">
              <a:latin typeface="Times New Roman"/>
              <a:cs typeface="Times New Roman"/>
            </a:endParaRPr>
          </a:p>
          <a:p>
            <a:pPr marL="285750" indent="-285750">
              <a:buFont typeface="Courier New" panose="02070309020205020404" pitchFamily="49" charset="0"/>
              <a:buChar char="o"/>
            </a:pPr>
            <a:r>
              <a:rPr lang="fr-FR" dirty="0">
                <a:latin typeface="Times New Roman"/>
                <a:cs typeface="Times New Roman"/>
              </a:rPr>
              <a:t>Référents APEN : </a:t>
            </a:r>
            <a:r>
              <a:rPr lang="fr-FR" dirty="0">
                <a:latin typeface="Times New Roman"/>
                <a:cs typeface="Times New Roman"/>
                <a:hlinkClick r:id="rId11"/>
              </a:rPr>
              <a:t>http://docinfogroupe.inetpsa.com/ead/doc/ref.01266_16_00230/v.vc/fiche</a:t>
            </a:r>
            <a:endParaRPr lang="fr-FR" dirty="0">
              <a:latin typeface="Times New Roman"/>
              <a:cs typeface="Times New Roman"/>
            </a:endParaRPr>
          </a:p>
          <a:p>
            <a:pPr marL="285750" indent="-285750">
              <a:buFont typeface="Courier New" panose="02070309020205020404" pitchFamily="49" charset="0"/>
              <a:buChar char="o"/>
            </a:pPr>
            <a:r>
              <a:rPr lang="fr-FR" dirty="0">
                <a:latin typeface="Times New Roman"/>
                <a:cs typeface="Times New Roman"/>
              </a:rPr>
              <a:t>Base PFR : </a:t>
            </a:r>
            <a:r>
              <a:rPr lang="fr-FR" dirty="0">
                <a:latin typeface="Times New Roman"/>
                <a:cs typeface="Times New Roman"/>
                <a:hlinkClick r:id="rId12"/>
              </a:rPr>
              <a:t>http://docinfogroupe.inetpsa.com/ead/doc/ref.CMON_MEM07_0918/v.vc/fiche</a:t>
            </a:r>
            <a:endParaRPr lang="fr-FR" dirty="0">
              <a:latin typeface="Times New Roman"/>
              <a:cs typeface="Times New Roman"/>
            </a:endParaRPr>
          </a:p>
          <a:p>
            <a:pPr marL="285750" indent="-285750">
              <a:buFont typeface="Courier New" panose="02070309020205020404" pitchFamily="49" charset="0"/>
              <a:buChar char="o"/>
            </a:pPr>
            <a:endParaRPr lang="fr-FR">
              <a:latin typeface="Times New Roman" panose="02020603050405020304" pitchFamily="18" charset="0"/>
              <a:cs typeface="Times New Roman" panose="02020603050405020304" pitchFamily="18" charset="0"/>
            </a:endParaRPr>
          </a:p>
          <a:p>
            <a:endParaRPr lang="fr-FR">
              <a:latin typeface="Times New Roman" panose="02020603050405020304" pitchFamily="18" charset="0"/>
              <a:cs typeface="Times New Roman" panose="02020603050405020304" pitchFamily="18" charset="0"/>
            </a:endParaRPr>
          </a:p>
        </p:txBody>
      </p:sp>
      <p:pic>
        <p:nvPicPr>
          <p:cNvPr id="3" name="Image 2">
            <a:extLst>
              <a:ext uri="{FF2B5EF4-FFF2-40B4-BE49-F238E27FC236}">
                <a16:creationId xmlns:a16="http://schemas.microsoft.com/office/drawing/2014/main" id="{1A9708D4-90BE-40A9-0B2A-46104DC97691}"/>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989388" y="5468356"/>
            <a:ext cx="2793118" cy="687957"/>
          </a:xfrm>
          <a:prstGeom prst="rect">
            <a:avLst/>
          </a:prstGeom>
        </p:spPr>
      </p:pic>
      <p:sp>
        <p:nvSpPr>
          <p:cNvPr id="4" name="Espace réservé du numéro de diapositive 3">
            <a:extLst>
              <a:ext uri="{FF2B5EF4-FFF2-40B4-BE49-F238E27FC236}">
                <a16:creationId xmlns:a16="http://schemas.microsoft.com/office/drawing/2014/main" id="{543533A5-E044-F7AA-703E-331D6D0EF26A}"/>
              </a:ext>
            </a:extLst>
          </p:cNvPr>
          <p:cNvSpPr>
            <a:spLocks noGrp="1"/>
          </p:cNvSpPr>
          <p:nvPr>
            <p:ph type="sldNum" sz="quarter" idx="12"/>
          </p:nvPr>
        </p:nvSpPr>
        <p:spPr/>
        <p:txBody>
          <a:bodyPr/>
          <a:lstStyle/>
          <a:p>
            <a:fld id="{8804BB38-747B-4994-9B8D-B168AF305C05}" type="slidenum">
              <a:rPr lang="fr-FR" smtClean="0"/>
              <a:t>21</a:t>
            </a:fld>
            <a:endParaRPr lang="fr-FR"/>
          </a:p>
        </p:txBody>
      </p:sp>
    </p:spTree>
    <p:extLst>
      <p:ext uri="{BB962C8B-B14F-4D97-AF65-F5344CB8AC3E}">
        <p14:creationId xmlns:p14="http://schemas.microsoft.com/office/powerpoint/2010/main" val="182215807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9" id="{8B87859F-8882-4D58-BBE6-26B003739F00}" vid="{23D1FD3C-F867-41B0-98CF-F6DF99F4D09F}"/>
    </a:ext>
  </a:extLst>
</a:theme>
</file>

<file path=ppt/theme/theme3.xml><?xml version="1.0" encoding="utf-8"?>
<a:theme xmlns:a="http://schemas.openxmlformats.org/drawingml/2006/main" name="1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9" id="{8B87859F-8882-4D58-BBE6-26B003739F00}" vid="{23D1FD3C-F867-41B0-98CF-F6DF99F4D09F}"/>
    </a:ext>
  </a:extLst>
</a:theme>
</file>

<file path=ppt/theme/theme4.xml><?xml version="1.0" encoding="utf-8"?>
<a:theme xmlns:a="http://schemas.openxmlformats.org/drawingml/2006/main" name="2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9" id="{8B87859F-8882-4D58-BBE6-26B003739F00}" vid="{23D1FD3C-F867-41B0-98CF-F6DF99F4D09F}"/>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3ddd8f09-8c64-4c46-8898-cc5243e30e88" xsi:nil="true"/>
    <lcf76f155ced4ddcb4097134ff3c332f xmlns="33ef4ad7-959a-4ec4-80a4-e3856e678cf6">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461494EBE24BD4FBC77397D48F8EB79" ma:contentTypeVersion="13" ma:contentTypeDescription="Create a new document." ma:contentTypeScope="" ma:versionID="6a9efe4e7907be043a3a4d2271de8dc4">
  <xsd:schema xmlns:xsd="http://www.w3.org/2001/XMLSchema" xmlns:xs="http://www.w3.org/2001/XMLSchema" xmlns:p="http://schemas.microsoft.com/office/2006/metadata/properties" xmlns:ns2="33ef4ad7-959a-4ec4-80a4-e3856e678cf6" xmlns:ns3="3ddd8f09-8c64-4c46-8898-cc5243e30e88" targetNamespace="http://schemas.microsoft.com/office/2006/metadata/properties" ma:root="true" ma:fieldsID="2ed47d0402e10b60140dd319f234f5f2" ns2:_="" ns3:_="">
    <xsd:import namespace="33ef4ad7-959a-4ec4-80a4-e3856e678cf6"/>
    <xsd:import namespace="3ddd8f09-8c64-4c46-8898-cc5243e30e8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ef4ad7-959a-4ec4-80a4-e3856e678cf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ddd8f09-8c64-4c46-8898-cc5243e30e88"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3fb62add-57b7-466a-8a0d-53b4eb0addfe}" ma:internalName="TaxCatchAll" ma:showField="CatchAllData" ma:web="3ddd8f09-8c64-4c46-8898-cc5243e30e8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8D79592-5E78-4AC0-9204-B7DD5FBDD6A0}">
  <ds:schemaRefs>
    <ds:schemaRef ds:uri="33ef4ad7-959a-4ec4-80a4-e3856e678cf6"/>
    <ds:schemaRef ds:uri="3ddd8f09-8c64-4c46-8898-cc5243e30e8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549E48C-8B23-4F1B-8A73-34DA250882F3}">
  <ds:schemaRefs>
    <ds:schemaRef ds:uri="http://schemas.microsoft.com/sharepoint/v3/contenttype/forms"/>
  </ds:schemaRefs>
</ds:datastoreItem>
</file>

<file path=customXml/itemProps3.xml><?xml version="1.0" encoding="utf-8"?>
<ds:datastoreItem xmlns:ds="http://schemas.openxmlformats.org/officeDocument/2006/customXml" ds:itemID="{D9142AF1-6608-4DB0-BCFE-1106C58A2C35}">
  <ds:schemaRefs>
    <ds:schemaRef ds:uri="33ef4ad7-959a-4ec4-80a4-e3856e678cf6"/>
    <ds:schemaRef ds:uri="3ddd8f09-8c64-4c46-8898-cc5243e30e8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760c494-6550-44b4-8258-77c175d778b7}"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21</Slides>
  <Notes>0</Notes>
  <HiddenSlides>0</HiddenSlides>
  <ScaleCrop>false</ScaleCrop>
  <HeadingPairs>
    <vt:vector size="4" baseType="variant">
      <vt:variant>
        <vt:lpstr>Theme</vt:lpstr>
      </vt:variant>
      <vt:variant>
        <vt:i4>4</vt:i4>
      </vt:variant>
      <vt:variant>
        <vt:lpstr>Slide Titles</vt:lpstr>
      </vt:variant>
      <vt:variant>
        <vt:i4>21</vt:i4>
      </vt:variant>
    </vt:vector>
  </HeadingPairs>
  <TitlesOfParts>
    <vt:vector size="25" baseType="lpstr">
      <vt:lpstr>Thème Office</vt:lpstr>
      <vt:lpstr>Capgemini Master 2021</vt:lpstr>
      <vt:lpstr>1_Capgemini Master 2021</vt:lpstr>
      <vt:lpstr>2_Capgemini Master 2021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PSA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ZAINEB EL BOUROUMI (EXTERNAL)</dc:creator>
  <cp:revision>8</cp:revision>
  <dcterms:created xsi:type="dcterms:W3CDTF">2023-03-21T14:33:43Z</dcterms:created>
  <dcterms:modified xsi:type="dcterms:W3CDTF">2026-04-28T14:32:23Z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fd53d93-3f4c-4b90-b511-bd6bdbb4fba9_Enabled">
    <vt:lpwstr>true</vt:lpwstr>
  </property>
  <property fmtid="{D5CDD505-2E9C-101B-9397-08002B2CF9AE}" pid="3" name="MSIP_Label_2fd53d93-3f4c-4b90-b511-bd6bdbb4fba9_SetDate">
    <vt:lpwstr>2023-03-21T14:33:43Z</vt:lpwstr>
  </property>
  <property fmtid="{D5CDD505-2E9C-101B-9397-08002B2CF9AE}" pid="4" name="MSIP_Label_2fd53d93-3f4c-4b90-b511-bd6bdbb4fba9_Method">
    <vt:lpwstr>Standard</vt:lpwstr>
  </property>
  <property fmtid="{D5CDD505-2E9C-101B-9397-08002B2CF9AE}" pid="5" name="MSIP_Label_2fd53d93-3f4c-4b90-b511-bd6bdbb4fba9_Name">
    <vt:lpwstr>2fd53d93-3f4c-4b90-b511-bd6bdbb4fba9</vt:lpwstr>
  </property>
  <property fmtid="{D5CDD505-2E9C-101B-9397-08002B2CF9AE}" pid="6" name="MSIP_Label_2fd53d93-3f4c-4b90-b511-bd6bdbb4fba9_SiteId">
    <vt:lpwstr>d852d5cd-724c-4128-8812-ffa5db3f8507</vt:lpwstr>
  </property>
  <property fmtid="{D5CDD505-2E9C-101B-9397-08002B2CF9AE}" pid="7" name="MSIP_Label_2fd53d93-3f4c-4b90-b511-bd6bdbb4fba9_ActionId">
    <vt:lpwstr>e296cdcc-f96a-4e71-9273-67f9c84c7b60</vt:lpwstr>
  </property>
  <property fmtid="{D5CDD505-2E9C-101B-9397-08002B2CF9AE}" pid="8" name="MSIP_Label_2fd53d93-3f4c-4b90-b511-bd6bdbb4fba9_ContentBits">
    <vt:lpwstr>0</vt:lpwstr>
  </property>
  <property fmtid="{D5CDD505-2E9C-101B-9397-08002B2CF9AE}" pid="9" name="ContentTypeId">
    <vt:lpwstr>0x0101001461494EBE24BD4FBC77397D48F8EB79</vt:lpwstr>
  </property>
  <property fmtid="{D5CDD505-2E9C-101B-9397-08002B2CF9AE}" pid="10" name="MediaServiceImageTags">
    <vt:lpwstr/>
  </property>
</Properties>
</file>